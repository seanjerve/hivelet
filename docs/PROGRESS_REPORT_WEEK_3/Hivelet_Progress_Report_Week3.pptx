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1.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ba433b7b-4470-80f6-8046-58f55ffcec79}">
          <p14:sldIdLst>
            <p14:sldId id="256"/>
            <p14:sldId id="257"/>
            <p14:sldId id="258"/>
            <p14:sldId id="259"/>
          </p14:sldIdLst>
        </p14:section>
        <p14:section name="System" id="{754593db-73ac-ad84-1d50-e2af864f992e}">
          <p14:sldIdLst>
            <p14:sldId id="260"/>
            <p14:sldId id="261"/>
          </p14:sldIdLst>
        </p14:section>
        <p14:section name="Features" id="{c14d3af2-0d40-8be4-83fa-933a7ea46740}">
          <p14:sldIdLst>
            <p14:sldId id="262"/>
            <p14:sldId id="263"/>
          </p14:sldIdLst>
        </p14:section>
        <p14:section name="Interface and Testing" id="{49fab403-ba0c-f0a1-8704-382850040882}">
          <p14:sldIdLst>
            <p14:sldId id="264"/>
            <p14:sldId id="265"/>
            <p14:sldId id="266"/>
          </p14:sldIdLst>
        </p14:section>
        <p14:section name="Next Steps" id="{466e01b9-e111-b960-78b8-94239bc973bc}">
          <p14:sldIdLst>
            <p14:sldId id="267"/>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18261E"/>
                </a:solidFill>
                <a:latin typeface="+mn-lt"/>
              </a:defRPr>
            </a:pPr>
            <a:r>
              <a:rPr sz="1100" b="0" i="0" u="none" strike="noStrike">
                <a:solidFill>
                  <a:srgbClr val="18261E"/>
                </a:solidFill>
                <a:latin typeface="+mn-lt"/>
              </a:rPr>
              <a:t>Completed without help, by task (%)</a:t>
            </a:r>
          </a:p>
        </c:rich>
      </c:tx>
      <c:layout/>
      <c:overlay val="0"/>
    </c:title>
    <c:autoTitleDeleted val="0"/>
    <c:plotArea>
      <c:layout/>
      <c:barChart>
        <c:barDir val="bar"/>
        <c:grouping val="clustered"/>
        <c:varyColors val="0"/>
        <c:ser>
          <c:idx val="0"/>
          <c:order val="0"/>
          <c:tx>
            <c:strRef>
              <c:f>Sheet1!$B$1</c:f>
              <c:strCache>
                <c:ptCount val="1"/>
                <c:pt idx="0">
                  <c:v>Completed without help</c:v>
                </c:pt>
              </c:strCache>
            </c:strRef>
          </c:tx>
          <c:spPr>
            <a:solidFill>
              <a:srgbClr val="17603F"/>
            </a:solidFill>
            <a:effectLst/>
          </c:spPr>
          <c:invertIfNegative val="0"/>
          <c:dLbls>
            <c:numFmt formatCode="0&quot;%&quot;" sourceLinked="0"/>
            <c:txPr>
              <a:bodyPr/>
              <a:lstStyle/>
              <a:p>
                <a:pPr>
                  <a:defRPr b="0" i="0" strike="noStrike" sz="900" u="none">
                    <a:solidFill>
                      <a:srgbClr val="18261E"/>
                    </a:solidFill>
                    <a:latin typeface="+mn-lt"/>
                  </a:defRPr>
                </a:pPr>
              </a:p>
            </c:txPr>
            <c:showLegendKey val="0"/>
            <c:showVal val="1"/>
            <c:showCatName val="0"/>
            <c:showSerName val="0"/>
            <c:showPercent val="0"/>
            <c:showBubbleSize val="0"/>
            <c:showLeaderLines val="0"/>
          </c:dLbls>
          <c:cat>
            <c:multiLvlStrRef>
              <c:f>Sheet1!$A$2:$A$9</c:f>
              <c:multiLvlStrCache>
                <c:ptCount val="8"/>
                <c:lvl>
                  <c:pt idx="0">
                    <c:v>First sign-in</c:v>
                  </c:pt>
                  <c:pt idx="1">
                    <c:v>Unit, rent, balance</c:v>
                  </c:pt>
                  <c:pt idx="2">
                    <c:v>Finding payments</c:v>
                  </c:pt>
                  <c:pt idx="3">
                    <c:v>Repair with photo</c:v>
                  </c:pt>
                  <c:pt idx="4">
                    <c:v>Following up</c:v>
                  </c:pt>
                  <c:pt idx="5">
                    <c:v>Details, notifications</c:v>
                  </c:pt>
                  <c:pt idx="6">
                    <c:v>Opening GCash</c:v>
                  </c:pt>
                  <c:pt idx="7">
                    <c:v>Access, sign-out</c:v>
                  </c:pt>
                </c:lvl>
              </c:multiLvlStrCache>
            </c:multiLvlStrRef>
          </c:cat>
          <c:val>
            <c:numRef>
              <c:f>Sheet1!$B$2:$B$9</c:f>
              <c:numCache>
                <c:formatCode>General</c:formatCode>
                <c:ptCount val="8"/>
                <c:pt idx="0">
                  <c:v>67</c:v>
                </c:pt>
                <c:pt idx="1">
                  <c:v>75</c:v>
                </c:pt>
                <c:pt idx="2">
                  <c:v>100</c:v>
                </c:pt>
                <c:pt idx="3">
                  <c:v>100</c:v>
                </c:pt>
                <c:pt idx="4">
                  <c:v>100</c:v>
                </c:pt>
                <c:pt idx="5">
                  <c:v>100</c:v>
                </c:pt>
                <c:pt idx="6">
                  <c:v>100</c:v>
                </c:pt>
                <c:pt idx="7">
                  <c:v>100</c:v>
                </c:pt>
              </c:numCache>
            </c:numRef>
          </c:val>
        </c:ser>
        <c:dLbls>
          <c:numFmt formatCode="0&quot;%&quot;" sourceLinked="0"/>
          <c:txPr>
            <a:bodyPr/>
            <a:lstStyle/>
            <a:p>
              <a:pPr>
                <a:defRPr b="0" i="0" strike="noStrike" sz="900" u="none">
                  <a:solidFill>
                    <a:srgbClr val="18261E"/>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000" b="0" i="0" u="none" strike="noStrike">
                <a:solidFill>
                  <a:srgbClr val="18261E"/>
                </a:solidFill>
                <a:latin typeface="+mn-lt"/>
              </a:defRPr>
            </a:pPr>
            <a:endParaRPr lang="en-US"/>
          </a:p>
        </c:txPr>
        <c:crossAx val="2094734552"/>
        <c:crosses val="autoZero"/>
        <c:auto val="1"/>
        <c:lblAlgn val="ctr"/>
        <c:noMultiLvlLbl val="1"/>
      </c:catAx>
      <c:valAx>
        <c:axId val="2094734552"/>
        <c:scaling>
          <c:orientation val="minMax"/>
          <c:max val="115"/>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LLOYD (0:25)
[Stand centre. Wait for the room to settle.]
Good morning, Ma'am, Sir, and classmates. We are the Hivelet team, and this is our progress report as of the second of October. Hivelet is our web-based apartment management system for the Fe Galang Da Silva Boarding House. I am John Lloyd Cuario, the team's database administrator and data analyst, and each of us will present one part of today's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LLOYD (0:30)
[Gesture to each member as you name them.]
Here is the team, in the order we will speak. After me, Sean, our system architect, will walk through the architecture and the modules. Vince, our backend and integration engineer, will present the features. Kiel, our UI/UX designer, will show the interface work and how the tenants did in testing. And Eljohn, our quality assurance and systems analyst, will close with the test results and our next steps.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LLOYD (0:40)
[Point to the four numbers as you say them.]
A quick recap of the problem. Mrs. Da Silva runs thirty-three units, in five clusters across three floors, from a paper receipt book and Excel workbooks. Payments, water bills, expenses and repair requests were spread across paper, spreadsheets, text messages and Messenger. Hivelet puts all of it in one place. And it is no longer a prototype. Her records are already inside the live system: nine hundred thirty-seven income rows and one thousand three hundred twenty-seven expense allocations, transferred from her own workbook, with thirty-two of the thirty-three units occupied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LLOYD (0:50)
[Walk the rows top to bottom. Hand over to Sean at the end.]
Now the manuscript. For Chapters 1 to 3, we checked every page against the system we actually built and wrote paste-ready corrections: thirty-three units instead of thirty-two, PostgreSQL on Supabase instead of MySQL, Vue and Express in TypeScript, and Vercel as the host. Those corrections are being applied now. Chapter 4 is drafted, and its development and pilot-testing sections are already filled with real results from our testing day on September thirtieth. What remains are the ISO 25010 evaluation tables, which wait on the survey, and the screenshots for Figures 4 to 8. Chapter 5 is drafted and will be finalized from the survey results. I will now pass it to Sean.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SEAN (1:05)
[Trace the diagram left to right.]
Thank you, Lloyd. Hivelet is built in three layers. The front end is a Vue 3 application in TypeScript, delivered as a Progressive Web App, so the owner and tenants can install it on a phone without an app store. It talks to an Express API, also in TypeScript, where every business rule and every calculation runs on the server, not in the browser. Underneath is PostgreSQL 17.6, hosted on Supabase. Security is enforced twice: each of the fifty-five admin and tenant routes declares the permission it needs, and the database itself has row-level security on all twenty-two operational tables. Online payments go through Adyen with GCash, and the whole system runs on Vercel, where every approved change goes live automatically. Every change to the database is a numbered migration, and we take a backup before touching any data, because these are the owner's real financial records.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SEAN (0:55)
[Point to the six green tiles, then to the 'Still open' box.]
These are the six modules and where each one stands. Authentication and role-based access control is complete. Since September twenty-ninth, every tenant has their own starting password and must choose a new one at first sign-in, and since October first, tenants sign in with a personal login ID. Tenant and room management, booking and enquiries, financial tracking and payment recording, and maintenance with notifications are all complete and running on live data. The Progressive Web App layer is complete too, and this week it gained a read-only offline copy of each person's essential figures. What is still open is not code: the ISO 25010 evaluation, which needs the survey, and the final training and hand-over to the owner. Now Vince will show you the features inside these modules.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VINCE (1:00)
[Use the four cards as your outline.]
Thank you, Sean. Let me start with the owner's side. Her two most important screens are named after her own workbook sheets, Monthly Income and Monthly Expenses, and they keep the same layout, so she does not have to learn a new way of keeping her books. Each bill carries rent and water separately. Water is computed from the number of occupants at two hundred pesos per head, so it is never typed by hand. Cash payments are recorded with her acknowledgement receipt, and the system refuses the same receipt twice. Online GCash payments wait in Pending Verification until she approves them, so nothing reaches the ledger without her. Both ledgers export to Excel in her format, and as of this week she can download a single month, a whole year, or everything.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VINCE (0:55)
[Left column first, then right. Hand over to Kiel.]
On the tenant side, each tenant sees their rent month by month: one sentence that says how far their payments reach, and a bar for each of the last twelve months marked Paid, Due, Not entered, or Not due yet. They can send a repair request with a photo, follow it in a conversation thread, receive notifications, and pay through GCash. For the public, the site lists all thirty-three units with live rates, and it never shows a tenant's name. A visitor can send an enquiry about a specific unit without creating an account, and receives a private link and a reference code to read the owner's reply. Next, Kiel will show how all of this looks, and how the tenants found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KIEL (0:50)
[If a phone is available, hold it up showing the installed app.]
Thank you, Vince. When we first reviewed the system on a real phone, the screens were messy, so we rebuilt the mobile experience screen by screen. Tables on a computer now become cards on a phone, toolbars no longer overlap, and every dialog has a clear way out. This week we added a full dark mode, pull-to-refresh in the installed app, filters and sorting on eight list screens, and a green hexagon loader on the first visit. The installed app can now show each person's last-loaded figures with no connection, under a notice that says when they were saved. Paying and recording still need the internet, so offline use can never create conflicting records.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KIEL (0:50)
[Point to the 91% callout, then the chart. Hand over to Eljohn.]
On September thirtieth we held our testing day with the owner and the tenants at the boarding house. Tenants were given real tasks: signing in for the first time, finding their rent and balance, sending a repair request with a photo, and opening the GCash payment. Across thirty-four task attempts, ninety-one percent were completed without any help, three needed help, and none failed. The only tasks that needed help were the first sign-in and finding the balance, which tells us exactly where the guidance should improve. All nine public-site checks passed. One tenant also told us they want even more features, which goes straight into our recommendations. Eljohn will now present the rest of the test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ELJOHN (0:40)
[Read the big numbers; do not read every label.]
Thank you, Kiel. Beyond the users, we measured the system itself. Every page we timed loaded within about three seconds on both a laptop and a phone. Google PageSpeed scored the live site eighty-five to eighty-eight for performance, and one hundred for accessibility, best practices and SEO. Three independent security scanners, Mozilla Observatory, SecurityHeaders and SSL Labs, all gave an A-plus. Twelve simultaneous users sent over a thousand requests with zero errors. And in our automated checks, all seventy-eight endpoint and access tests and all four hundred ninety report reconciliations passed.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ELJOHN (0:50)
[Left column, then the timeline on the right.]
Testing also found real defects, and we fixed them. With the internet cut, the Overview showed zero pesos instead of a dash. That is fixed. On one Android phone, the warning for a save that stops answering came late. That is fixed in code, and we will re-test it on the same phone. A security and accessibility audit on October second led to four more fixes. Here is what is next. Tomorrow, October third, our IT evaluators answer the ISO 25010 survey, which fills Tables 12 to 22. Then we capture the screenshots for Figures 4 to 8, confirm the last question with the owner, finish training and hand-over, and finalize Chapter 5 from the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ELJOHN (0:15)
[All five step forward for questions.]
That concludes our progress report. Hivelet is built, tested with its real users, and now in its evaluation stage. Thank you for listening. We are happy to answer your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0E3B27"/>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4937760" cy="914400"/>
          </a:xfrm>
          <a:prstGeom prst="rect">
            <a:avLst/>
          </a:prstGeom>
          <a:noFill/>
          <a:ln/>
        </p:spPr>
        <p:txBody>
          <a:bodyPr wrap="square" rtlCol="0"/>
          <a:lstStyle>
            <a:lvl1pPr algn="l" indent="0" marL="0">
              <a:buNone/>
              <a:defRPr lang="en-US" sz="48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800" dirty="0"/>
          </a:p>
        </p:txBody>
      </p:sp>
      <p:sp>
        <p:nvSpPr>
          <p:cNvPr id="3" name="Text 0"/>
          <p:cNvSpPr/>
          <p:nvPr>
            <p:ph idx="101" type="body" hasCustomPrompt="1"/>
          </p:nvPr>
        </p:nvSpPr>
        <p:spPr>
          <a:xfrm>
            <a:off x="548640" y="2377440"/>
            <a:ext cx="4754880" cy="1188720"/>
          </a:xfrm>
          <a:prstGeom prst="rect">
            <a:avLst/>
          </a:prstGeom>
          <a:noFill/>
          <a:ln/>
        </p:spPr>
        <p:txBody>
          <a:bodyPr wrap="square" rtlCol="0"/>
          <a:lstStyle>
            <a:lvl1pPr algn="l" indent="0" marL="0">
              <a:buNone/>
              <a:defRPr lang="en-US" sz="1600" dirty="0">
                <a:solidFill>
                  <a:schemeClr val="bg2"/>
                </a:solidFill>
              </a:defRPr>
            </a:lvl1pPr>
          </a:lstStyle>
          <a:p>
            <a:pPr algn="l" indent="0" marL="0">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6583680" cy="685800"/>
          </a:xfrm>
          <a:prstGeom prst="rect">
            <a:avLst/>
          </a:prstGeom>
          <a:noFill/>
          <a:ln/>
        </p:spPr>
        <p:txBody>
          <a:bodyPr wrap="square" rtlCol="0"/>
          <a:lstStyle>
            <a:lvl1pPr algn="l" indent="0" marL="0">
              <a:buNone/>
              <a:defRPr lang="en-US" sz="28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2800" dirty="0"/>
          </a:p>
        </p:txBody>
      </p:sp>
      <p:sp>
        <p:nvSpPr>
          <p:cNvPr id="3" name="Text 0"/>
          <p:cNvSpPr/>
          <p:nvPr/>
        </p:nvSpPr>
        <p:spPr>
          <a:xfrm>
            <a:off x="457200" y="4754880"/>
            <a:ext cx="4572000" cy="228600"/>
          </a:xfrm>
          <a:prstGeom prst="rect">
            <a:avLst/>
          </a:prstGeom>
          <a:noFill/>
          <a:ln/>
        </p:spPr>
        <p:txBody>
          <a:bodyPr wrap="square" lIns="0" tIns="0" rIns="0" bIns="0" rtlCol="0" anchor="ctr"/>
          <a:lstStyle/>
          <a:p>
            <a:pPr indent="0" marL="0">
              <a:buNone/>
            </a:pPr>
            <a:r>
              <a:rPr lang="en-US" sz="900" dirty="0">
                <a:solidFill>
                  <a:schemeClr val="accent5"/>
                </a:solidFill>
              </a:rPr>
              <a:t>Hivelet  ·  Progress Report  ·  2 October 2026</a:t>
            </a:r>
            <a:endParaRPr lang="en-US" sz="9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B7280"/>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B7280"/>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3.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3.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3.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3.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3.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3.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slideLayout" Target="../slideLayouts/slideLayout3.xml"/><Relationship Id="rId8"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3.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Building photo" descr="building.jpg">    </p:cNvPr>
          <p:cNvPicPr>
            <a:picLocks noChangeAspect="1"/>
          </p:cNvPicPr>
          <p:nvPr/>
        </p:nvPicPr>
        <p:blipFill>
          <a:blip r:embed="rId1"/>
          <a:srcRect l="0" r="0" t="0" b="0"/>
          <a:stretch/>
        </p:blipFill>
        <p:spPr>
          <a:xfrm>
            <a:off x="5852160" y="0"/>
            <a:ext cx="3291840" cy="5143500"/>
          </a:xfrm>
          <a:prstGeom prst="rect">
            <a:avLst/>
          </a:prstGeom>
        </p:spPr>
      </p:pic>
      <p:pic>
        <p:nvPicPr>
          <p:cNvPr id="3" name="Hivelet logo" descr="logo.png">    </p:cNvPr>
          <p:cNvPicPr>
            <a:picLocks noChangeAspect="1"/>
          </p:cNvPicPr>
          <p:nvPr/>
        </p:nvPicPr>
        <p:blipFill>
          <a:blip r:embed="rId2"/>
          <a:stretch>
            <a:fillRect/>
          </a:stretch>
        </p:blipFill>
        <p:spPr>
          <a:xfrm>
            <a:off x="548640" y="502920"/>
            <a:ext cx="731520" cy="731520"/>
          </a:xfrm>
          <a:prstGeom prst="rect">
            <a:avLst/>
          </a:prstGeom>
        </p:spPr>
      </p:pic>
      <p:sp>
        <p:nvSpPr>
          <p:cNvPr id="4" name="Text 0"/>
          <p:cNvSpPr txBox="1"/>
          <p:nvPr/>
        </p:nvSpPr>
        <p:spPr>
          <a:xfrm>
            <a:off x="1417320" y="658368"/>
            <a:ext cx="3657600" cy="411480"/>
          </a:xfrm>
          <a:prstGeom prst="rect">
            <a:avLst/>
          </a:prstGeom>
          <a:noFill/>
          <a:ln/>
        </p:spPr>
        <p:txBody>
          <a:bodyPr wrap="square" lIns="0" tIns="0" rIns="0" bIns="0" rtlCol="0" anchor="ctr"/>
          <a:lstStyle/>
          <a:p>
            <a:pPr indent="0" marL="0">
              <a:buNone/>
            </a:pPr>
            <a:r>
              <a:rPr lang="en-US" sz="1300" b="1" spc="400" kern="0" dirty="0">
                <a:solidFill>
                  <a:schemeClr val="accent2"/>
                </a:solidFill>
              </a:rPr>
              <a:t>PROGRESS REPORT</a:t>
            </a:r>
            <a:endParaRPr lang="en-US" sz="1300" dirty="0"/>
          </a:p>
        </p:txBody>
      </p:sp>
      <p:sp>
        <p:nvSpPr>
          <p:cNvPr id="5" name="Text 0"/>
          <p:cNvSpPr/>
          <p:nvPr>
            <p:ph idx="100" type="title" hasCustomPrompt="1"/>
          </p:nvPr>
        </p:nvSpPr>
        <p:spPr>
          <a:xfrm>
            <a:off x="548640" y="1417320"/>
            <a:ext cx="4937760" cy="914400"/>
          </a:xfrm>
          <a:prstGeom prst="rect">
            <a:avLst/>
          </a:prstGeom>
          <a:noFill/>
          <a:ln/>
        </p:spPr>
        <p:txBody>
          <a:bodyPr wrap="square" lIns="0" tIns="0" rIns="0" bIns="0" rtlCol="0" anchor="b"/>
          <a:lstStyle/>
          <a:p>
            <a:pPr algn="l" indent="0" marL="0">
              <a:buNone/>
            </a:pPr>
            <a:r>
              <a:rPr lang="en-US" sz="4800" b="1" dirty="0">
                <a:solidFill>
                  <a:schemeClr val="bg1"/>
                </a:solidFill>
                <a:latin typeface="Cambria" pitchFamily="34" charset="0"/>
                <a:ea typeface="Cambria" pitchFamily="34" charset="-122"/>
                <a:cs typeface="Cambria" pitchFamily="34" charset="-120"/>
              </a:rPr>
              <a:t>Hivelet</a:t>
            </a:r>
            <a:endParaRPr lang="en-US" sz="4800" dirty="0"/>
          </a:p>
        </p:txBody>
      </p:sp>
      <p:sp>
        <p:nvSpPr>
          <p:cNvPr id="6" name="Text 0"/>
          <p:cNvSpPr/>
          <p:nvPr>
            <p:ph idx="101" type="body" hasCustomPrompt="1"/>
          </p:nvPr>
        </p:nvSpPr>
        <p:spPr>
          <a:xfrm>
            <a:off x="548640" y="2377440"/>
            <a:ext cx="4754880" cy="1188720"/>
          </a:xfrm>
          <a:prstGeom prst="rect">
            <a:avLst/>
          </a:prstGeom>
          <a:noFill/>
          <a:ln/>
        </p:spPr>
        <p:txBody>
          <a:bodyPr wrap="square" lIns="0" tIns="0" rIns="0" bIns="0" rtlCol="0" anchor="t"/>
          <a:lstStyle/>
          <a:p>
            <a:pPr algn="l" indent="0" marL="0">
              <a:buNone/>
            </a:pPr>
            <a:r>
              <a:rPr lang="en-US" sz="1600" dirty="0">
                <a:solidFill>
                  <a:schemeClr val="bg2"/>
                </a:solidFill>
              </a:rPr>
              <a:t>A Web-Based Apartment Management System for Fe Galang Da Silva Boarding House</a:t>
            </a:r>
            <a:endParaRPr lang="en-US" sz="1600" dirty="0"/>
          </a:p>
        </p:txBody>
      </p:sp>
      <p:sp>
        <p:nvSpPr>
          <p:cNvPr id="7" name="Text 3"/>
          <p:cNvSpPr txBox="1"/>
          <p:nvPr/>
        </p:nvSpPr>
        <p:spPr>
          <a:xfrm>
            <a:off x="548640" y="3840480"/>
            <a:ext cx="5120640" cy="640080"/>
          </a:xfrm>
          <a:prstGeom prst="rect">
            <a:avLst/>
          </a:prstGeom>
          <a:noFill/>
          <a:ln/>
        </p:spPr>
        <p:txBody>
          <a:bodyPr wrap="square" lIns="0" tIns="0" rIns="0" bIns="0" rtlCol="0" anchor="ctr"/>
          <a:lstStyle/>
          <a:p>
            <a:pPr indent="0" marL="0">
              <a:buNone/>
            </a:pPr>
            <a:r>
              <a:rPr lang="en-US" sz="1200" b="1" dirty="0">
                <a:solidFill>
                  <a:srgbClr val="FFFFFF"/>
                </a:solidFill>
              </a:rPr>
              <a:t>Status as of 2 October 2026</a:t>
            </a:r>
            <a:endParaRPr lang="en-US" sz="1200" dirty="0"/>
          </a:p>
          <a:p>
            <a:pPr indent="0" marL="0">
              <a:buNone/>
            </a:pPr>
            <a:r>
              <a:rPr lang="en-US" sz="1200" dirty="0">
                <a:solidFill>
                  <a:srgbClr val="D5EADC"/>
                </a:solidFill>
              </a:rPr>
              <a:t>IT 124 Capstone Project 2  ·  Bicol University College of Science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6583680" cy="685800"/>
          </a:xfrm>
          <a:prstGeom prst="rect">
            <a:avLst/>
          </a:prstGeom>
          <a:noFill/>
          <a:ln/>
        </p:spPr>
        <p:txBody>
          <a:bodyPr wrap="square" lIns="0" tIns="0" rIns="0" bIns="0" rtlCol="0" anchor="ctr"/>
          <a:lstStyle/>
          <a:p>
            <a:pPr algn="l" indent="0" marL="0">
              <a:buNone/>
            </a:pPr>
            <a:r>
              <a:rPr lang="en-US" sz="2800" b="1" dirty="0">
                <a:solidFill>
                  <a:schemeClr val="tx1"/>
                </a:solidFill>
                <a:latin typeface="Cambria" pitchFamily="34" charset="0"/>
                <a:ea typeface="Cambria" pitchFamily="34" charset="-122"/>
                <a:cs typeface="Cambria" pitchFamily="34" charset="-120"/>
              </a:rPr>
              <a:t>The team and today's order</a:t>
            </a:r>
            <a:endParaRPr lang="en-US" sz="2800" dirty="0"/>
          </a:p>
        </p:txBody>
      </p:sp>
      <p:sp>
        <p:nvSpPr>
          <p:cNvPr id="3" name="Presenter tag"/>
          <p:cNvSpPr/>
          <p:nvPr/>
        </p:nvSpPr>
        <p:spPr>
          <a:xfrm>
            <a:off x="7178040" y="429768"/>
            <a:ext cx="1508760" cy="365760"/>
          </a:xfrm>
          <a:prstGeom prst="roundRect">
            <a:avLst>
              <a:gd name="adj" fmla="val 50000"/>
            </a:avLst>
          </a:prstGeom>
          <a:solidFill>
            <a:schemeClr val="accent2"/>
          </a:solidFill>
          <a:ln/>
        </p:spPr>
      </p:sp>
      <p:sp>
        <p:nvSpPr>
          <p:cNvPr id="4" name="Presenter name"/>
          <p:cNvSpPr txBox="1"/>
          <p:nvPr/>
        </p:nvSpPr>
        <p:spPr>
          <a:xfrm>
            <a:off x="7178040" y="429768"/>
            <a:ext cx="1508760" cy="365760"/>
          </a:xfrm>
          <a:prstGeom prst="rect">
            <a:avLst/>
          </a:prstGeom>
          <a:noFill/>
          <a:ln/>
        </p:spPr>
        <p:txBody>
          <a:bodyPr wrap="square" lIns="0" tIns="0" rIns="0" bIns="0" rtlCol="0" anchor="ctr"/>
          <a:lstStyle/>
          <a:p>
            <a:pPr algn="ctr" indent="0" marL="0">
              <a:buNone/>
            </a:pPr>
            <a:r>
              <a:rPr lang="en-US" sz="800" dirty="0">
                <a:solidFill>
                  <a:srgbClr val="7C4A03"/>
                </a:solidFill>
              </a:rPr>
              <a:t>PRESENTER  </a:t>
            </a:r>
            <a:pPr algn="ctr" indent="0" marL="0">
              <a:buNone/>
            </a:pPr>
            <a:r>
              <a:rPr lang="en-US" sz="1200" b="1" dirty="0">
                <a:solidFill>
                  <a:schemeClr val="tx1"/>
                </a:solidFill>
              </a:rPr>
              <a:t>Lloyd</a:t>
            </a:r>
            <a:endParaRPr lang="en-US" sz="800" dirty="0"/>
          </a:p>
        </p:txBody>
      </p:sp>
      <p:sp>
        <p:nvSpPr>
          <p:cNvPr id="5" name="Card"/>
          <p:cNvSpPr/>
          <p:nvPr/>
        </p:nvSpPr>
        <p:spPr>
          <a:xfrm>
            <a:off x="457200" y="1188720"/>
            <a:ext cx="1517904" cy="3246120"/>
          </a:xfrm>
          <a:prstGeom prst="roundRect">
            <a:avLst>
              <a:gd name="adj" fmla="val 4819"/>
            </a:avLst>
          </a:prstGeom>
          <a:solidFill>
            <a:srgbClr val="EAF4EE"/>
          </a:solidFill>
          <a:ln/>
        </p:spPr>
      </p:sp>
      <p:sp>
        <p:nvSpPr>
          <p:cNvPr id="6" name="Shape 4"/>
          <p:cNvSpPr/>
          <p:nvPr/>
        </p:nvSpPr>
        <p:spPr>
          <a:xfrm>
            <a:off x="804672" y="1371600"/>
            <a:ext cx="822960" cy="722376"/>
          </a:xfrm>
          <a:prstGeom prst="hexagon">
            <a:avLst/>
          </a:prstGeom>
          <a:solidFill>
            <a:srgbClr val="F59E0B"/>
          </a:solidFill>
          <a:ln/>
        </p:spPr>
      </p:sp>
      <p:sp>
        <p:nvSpPr>
          <p:cNvPr id="7" name="Text 5"/>
          <p:cNvSpPr txBox="1"/>
          <p:nvPr/>
        </p:nvSpPr>
        <p:spPr>
          <a:xfrm>
            <a:off x="804672" y="1371600"/>
            <a:ext cx="822960" cy="722376"/>
          </a:xfrm>
          <a:prstGeom prst="rect">
            <a:avLst/>
          </a:prstGeom>
          <a:noFill/>
          <a:ln/>
        </p:spPr>
        <p:txBody>
          <a:bodyPr wrap="square" lIns="0" tIns="0" rIns="0" bIns="0" rtlCol="0" anchor="ctr"/>
          <a:lstStyle/>
          <a:p>
            <a:pPr algn="ctr" indent="0" marL="0">
              <a:buNone/>
            </a:pPr>
            <a:r>
              <a:rPr lang="en-US" sz="2400" b="1" dirty="0">
                <a:solidFill>
                  <a:srgbClr val="18261E"/>
                </a:solidFill>
                <a:latin typeface="Cambria" pitchFamily="34" charset="0"/>
                <a:ea typeface="Cambria" pitchFamily="34" charset="-122"/>
                <a:cs typeface="Cambria" pitchFamily="34" charset="-120"/>
              </a:rPr>
              <a:t>1</a:t>
            </a:r>
            <a:endParaRPr lang="en-US" sz="2400" dirty="0"/>
          </a:p>
        </p:txBody>
      </p:sp>
      <p:sp>
        <p:nvSpPr>
          <p:cNvPr id="8" name="Text 6"/>
          <p:cNvSpPr txBox="1"/>
          <p:nvPr/>
        </p:nvSpPr>
        <p:spPr>
          <a:xfrm>
            <a:off x="548640" y="2212848"/>
            <a:ext cx="1335024" cy="502920"/>
          </a:xfrm>
          <a:prstGeom prst="rect">
            <a:avLst/>
          </a:prstGeom>
          <a:noFill/>
          <a:ln/>
        </p:spPr>
        <p:txBody>
          <a:bodyPr wrap="square" lIns="0" tIns="0" rIns="0" bIns="0" rtlCol="0" anchor="t"/>
          <a:lstStyle/>
          <a:p>
            <a:pPr algn="ctr" indent="0" marL="0">
              <a:buNone/>
            </a:pPr>
            <a:r>
              <a:rPr lang="en-US" sz="1200" b="1" dirty="0">
                <a:solidFill>
                  <a:schemeClr val="tx1"/>
                </a:solidFill>
              </a:rPr>
              <a:t>John Lloyd M. Cuario</a:t>
            </a:r>
            <a:endParaRPr lang="en-US" sz="1200" dirty="0"/>
          </a:p>
        </p:txBody>
      </p:sp>
      <p:sp>
        <p:nvSpPr>
          <p:cNvPr id="9" name="Text 7"/>
          <p:cNvSpPr txBox="1"/>
          <p:nvPr/>
        </p:nvSpPr>
        <p:spPr>
          <a:xfrm>
            <a:off x="548640" y="2724912"/>
            <a:ext cx="1335024" cy="502920"/>
          </a:xfrm>
          <a:prstGeom prst="rect">
            <a:avLst/>
          </a:prstGeom>
          <a:noFill/>
          <a:ln/>
        </p:spPr>
        <p:txBody>
          <a:bodyPr wrap="square" lIns="0" tIns="0" rIns="0" bIns="0" rtlCol="0" anchor="t"/>
          <a:lstStyle/>
          <a:p>
            <a:pPr algn="ctr" indent="0" marL="0">
              <a:buNone/>
            </a:pPr>
            <a:r>
              <a:rPr lang="en-US" sz="950" i="1" dirty="0">
                <a:solidFill>
                  <a:schemeClr val="accent1"/>
                </a:solidFill>
              </a:rPr>
              <a:t>Database Administrator / Data Analyst</a:t>
            </a:r>
            <a:endParaRPr lang="en-US" sz="950" dirty="0"/>
          </a:p>
        </p:txBody>
      </p:sp>
      <p:sp>
        <p:nvSpPr>
          <p:cNvPr id="10" name="Text 8"/>
          <p:cNvSpPr txBox="1"/>
          <p:nvPr/>
        </p:nvSpPr>
        <p:spPr>
          <a:xfrm>
            <a:off x="548640" y="3291840"/>
            <a:ext cx="1335024" cy="685800"/>
          </a:xfrm>
          <a:prstGeom prst="rect">
            <a:avLst/>
          </a:prstGeom>
          <a:noFill/>
          <a:ln/>
        </p:spPr>
        <p:txBody>
          <a:bodyPr wrap="square" lIns="0" tIns="0" rIns="0" bIns="0" rtlCol="0" anchor="t"/>
          <a:lstStyle/>
          <a:p>
            <a:pPr algn="ctr" indent="0" marL="0">
              <a:buNone/>
            </a:pPr>
            <a:r>
              <a:rPr lang="en-US" sz="1000" dirty="0">
                <a:solidFill>
                  <a:schemeClr val="tx1"/>
                </a:solidFill>
              </a:rPr>
              <a:t>Introduction, project recap, manuscript progress</a:t>
            </a:r>
            <a:endParaRPr lang="en-US" sz="1000" dirty="0"/>
          </a:p>
        </p:txBody>
      </p:sp>
      <p:sp>
        <p:nvSpPr>
          <p:cNvPr id="11" name="Text 9"/>
          <p:cNvSpPr txBox="1"/>
          <p:nvPr/>
        </p:nvSpPr>
        <p:spPr>
          <a:xfrm>
            <a:off x="548640" y="4041648"/>
            <a:ext cx="1335024" cy="274320"/>
          </a:xfrm>
          <a:prstGeom prst="rect">
            <a:avLst/>
          </a:prstGeom>
          <a:noFill/>
          <a:ln/>
        </p:spPr>
        <p:txBody>
          <a:bodyPr wrap="square" lIns="0" tIns="0" rIns="0" bIns="0" rtlCol="0" anchor="ctr"/>
          <a:lstStyle/>
          <a:p>
            <a:pPr algn="ctr" indent="0" marL="0">
              <a:buNone/>
            </a:pPr>
            <a:r>
              <a:rPr lang="en-US" sz="900" b="1" dirty="0">
                <a:solidFill>
                  <a:srgbClr val="6B7280"/>
                </a:solidFill>
              </a:rPr>
              <a:t>Slides 1–4</a:t>
            </a:r>
            <a:endParaRPr lang="en-US" sz="900" dirty="0"/>
          </a:p>
        </p:txBody>
      </p:sp>
      <p:sp>
        <p:nvSpPr>
          <p:cNvPr id="12" name="Card"/>
          <p:cNvSpPr/>
          <p:nvPr/>
        </p:nvSpPr>
        <p:spPr>
          <a:xfrm>
            <a:off x="2130552" y="1188720"/>
            <a:ext cx="1517904" cy="3246120"/>
          </a:xfrm>
          <a:prstGeom prst="roundRect">
            <a:avLst>
              <a:gd name="adj" fmla="val 4819"/>
            </a:avLst>
          </a:prstGeom>
          <a:solidFill>
            <a:srgbClr val="EAF4EE"/>
          </a:solidFill>
          <a:ln/>
        </p:spPr>
      </p:sp>
      <p:sp>
        <p:nvSpPr>
          <p:cNvPr id="13" name="Shape 11"/>
          <p:cNvSpPr/>
          <p:nvPr/>
        </p:nvSpPr>
        <p:spPr>
          <a:xfrm>
            <a:off x="2478024" y="1371600"/>
            <a:ext cx="822960" cy="722376"/>
          </a:xfrm>
          <a:prstGeom prst="hexagon">
            <a:avLst/>
          </a:prstGeom>
          <a:solidFill>
            <a:srgbClr val="17603F"/>
          </a:solidFill>
          <a:ln/>
        </p:spPr>
      </p:sp>
      <p:sp>
        <p:nvSpPr>
          <p:cNvPr id="14" name="Text 12"/>
          <p:cNvSpPr txBox="1"/>
          <p:nvPr/>
        </p:nvSpPr>
        <p:spPr>
          <a:xfrm>
            <a:off x="2478024" y="1371600"/>
            <a:ext cx="822960" cy="72237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Text 13"/>
          <p:cNvSpPr txBox="1"/>
          <p:nvPr/>
        </p:nvSpPr>
        <p:spPr>
          <a:xfrm>
            <a:off x="2221992" y="2212848"/>
            <a:ext cx="1335024" cy="502920"/>
          </a:xfrm>
          <a:prstGeom prst="rect">
            <a:avLst/>
          </a:prstGeom>
          <a:noFill/>
          <a:ln/>
        </p:spPr>
        <p:txBody>
          <a:bodyPr wrap="square" lIns="0" tIns="0" rIns="0" bIns="0" rtlCol="0" anchor="t"/>
          <a:lstStyle/>
          <a:p>
            <a:pPr algn="ctr" indent="0" marL="0">
              <a:buNone/>
            </a:pPr>
            <a:r>
              <a:rPr lang="en-US" sz="1200" b="1" dirty="0">
                <a:solidFill>
                  <a:schemeClr val="tx1"/>
                </a:solidFill>
              </a:rPr>
              <a:t>Sean Jerve Ll. Rebancos</a:t>
            </a:r>
            <a:endParaRPr lang="en-US" sz="1200" dirty="0"/>
          </a:p>
        </p:txBody>
      </p:sp>
      <p:sp>
        <p:nvSpPr>
          <p:cNvPr id="16" name="Text 14"/>
          <p:cNvSpPr txBox="1"/>
          <p:nvPr/>
        </p:nvSpPr>
        <p:spPr>
          <a:xfrm>
            <a:off x="2221992" y="2724912"/>
            <a:ext cx="1335024" cy="502920"/>
          </a:xfrm>
          <a:prstGeom prst="rect">
            <a:avLst/>
          </a:prstGeom>
          <a:noFill/>
          <a:ln/>
        </p:spPr>
        <p:txBody>
          <a:bodyPr wrap="square" lIns="0" tIns="0" rIns="0" bIns="0" rtlCol="0" anchor="t"/>
          <a:lstStyle/>
          <a:p>
            <a:pPr algn="ctr" indent="0" marL="0">
              <a:buNone/>
            </a:pPr>
            <a:r>
              <a:rPr lang="en-US" sz="950" i="1" dirty="0">
                <a:solidFill>
                  <a:schemeClr val="accent1"/>
                </a:solidFill>
              </a:rPr>
              <a:t>System Architect / Full-Stack Developer</a:t>
            </a:r>
            <a:endParaRPr lang="en-US" sz="950" dirty="0"/>
          </a:p>
        </p:txBody>
      </p:sp>
      <p:sp>
        <p:nvSpPr>
          <p:cNvPr id="17" name="Text 15"/>
          <p:cNvSpPr txBox="1"/>
          <p:nvPr/>
        </p:nvSpPr>
        <p:spPr>
          <a:xfrm>
            <a:off x="2221992" y="3291840"/>
            <a:ext cx="1335024" cy="685800"/>
          </a:xfrm>
          <a:prstGeom prst="rect">
            <a:avLst/>
          </a:prstGeom>
          <a:noFill/>
          <a:ln/>
        </p:spPr>
        <p:txBody>
          <a:bodyPr wrap="square" lIns="0" tIns="0" rIns="0" bIns="0" rtlCol="0" anchor="t"/>
          <a:lstStyle/>
          <a:p>
            <a:pPr algn="ctr" indent="0" marL="0">
              <a:buNone/>
            </a:pPr>
            <a:r>
              <a:rPr lang="en-US" sz="1000" dirty="0">
                <a:solidFill>
                  <a:schemeClr val="tx1"/>
                </a:solidFill>
              </a:rPr>
              <a:t>System architecture and module status</a:t>
            </a:r>
            <a:endParaRPr lang="en-US" sz="1000" dirty="0"/>
          </a:p>
        </p:txBody>
      </p:sp>
      <p:sp>
        <p:nvSpPr>
          <p:cNvPr id="18" name="Text 16"/>
          <p:cNvSpPr txBox="1"/>
          <p:nvPr/>
        </p:nvSpPr>
        <p:spPr>
          <a:xfrm>
            <a:off x="2221992" y="4041648"/>
            <a:ext cx="1335024" cy="274320"/>
          </a:xfrm>
          <a:prstGeom prst="rect">
            <a:avLst/>
          </a:prstGeom>
          <a:noFill/>
          <a:ln/>
        </p:spPr>
        <p:txBody>
          <a:bodyPr wrap="square" lIns="0" tIns="0" rIns="0" bIns="0" rtlCol="0" anchor="ctr"/>
          <a:lstStyle/>
          <a:p>
            <a:pPr algn="ctr" indent="0" marL="0">
              <a:buNone/>
            </a:pPr>
            <a:r>
              <a:rPr lang="en-US" sz="900" b="1" dirty="0">
                <a:solidFill>
                  <a:srgbClr val="6B7280"/>
                </a:solidFill>
              </a:rPr>
              <a:t>Slides 5–6</a:t>
            </a:r>
            <a:endParaRPr lang="en-US" sz="900" dirty="0"/>
          </a:p>
        </p:txBody>
      </p:sp>
      <p:sp>
        <p:nvSpPr>
          <p:cNvPr id="19" name="Card"/>
          <p:cNvSpPr/>
          <p:nvPr/>
        </p:nvSpPr>
        <p:spPr>
          <a:xfrm>
            <a:off x="3803904" y="1188720"/>
            <a:ext cx="1517904" cy="3246120"/>
          </a:xfrm>
          <a:prstGeom prst="roundRect">
            <a:avLst>
              <a:gd name="adj" fmla="val 4819"/>
            </a:avLst>
          </a:prstGeom>
          <a:solidFill>
            <a:srgbClr val="EAF4EE"/>
          </a:solidFill>
          <a:ln/>
        </p:spPr>
      </p:sp>
      <p:sp>
        <p:nvSpPr>
          <p:cNvPr id="20" name="Shape 18"/>
          <p:cNvSpPr/>
          <p:nvPr/>
        </p:nvSpPr>
        <p:spPr>
          <a:xfrm>
            <a:off x="4151376" y="1371600"/>
            <a:ext cx="822960" cy="722376"/>
          </a:xfrm>
          <a:prstGeom prst="hexagon">
            <a:avLst/>
          </a:prstGeom>
          <a:solidFill>
            <a:srgbClr val="17603F"/>
          </a:solidFill>
          <a:ln/>
        </p:spPr>
      </p:sp>
      <p:sp>
        <p:nvSpPr>
          <p:cNvPr id="21" name="Text 19"/>
          <p:cNvSpPr txBox="1"/>
          <p:nvPr/>
        </p:nvSpPr>
        <p:spPr>
          <a:xfrm>
            <a:off x="4151376" y="1371600"/>
            <a:ext cx="822960" cy="72237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Text 20"/>
          <p:cNvSpPr txBox="1"/>
          <p:nvPr/>
        </p:nvSpPr>
        <p:spPr>
          <a:xfrm>
            <a:off x="3895344" y="2212848"/>
            <a:ext cx="1335024" cy="502920"/>
          </a:xfrm>
          <a:prstGeom prst="rect">
            <a:avLst/>
          </a:prstGeom>
          <a:noFill/>
          <a:ln/>
        </p:spPr>
        <p:txBody>
          <a:bodyPr wrap="square" lIns="0" tIns="0" rIns="0" bIns="0" rtlCol="0" anchor="t"/>
          <a:lstStyle/>
          <a:p>
            <a:pPr algn="ctr" indent="0" marL="0">
              <a:buNone/>
            </a:pPr>
            <a:r>
              <a:rPr lang="en-US" sz="1200" b="1" dirty="0">
                <a:solidFill>
                  <a:schemeClr val="tx1"/>
                </a:solidFill>
              </a:rPr>
              <a:t>Victor Noel A. Napay</a:t>
            </a:r>
            <a:endParaRPr lang="en-US" sz="1200" dirty="0"/>
          </a:p>
        </p:txBody>
      </p:sp>
      <p:sp>
        <p:nvSpPr>
          <p:cNvPr id="23" name="Text 21"/>
          <p:cNvSpPr txBox="1"/>
          <p:nvPr/>
        </p:nvSpPr>
        <p:spPr>
          <a:xfrm>
            <a:off x="3895344" y="2724912"/>
            <a:ext cx="1335024" cy="502920"/>
          </a:xfrm>
          <a:prstGeom prst="rect">
            <a:avLst/>
          </a:prstGeom>
          <a:noFill/>
          <a:ln/>
        </p:spPr>
        <p:txBody>
          <a:bodyPr wrap="square" lIns="0" tIns="0" rIns="0" bIns="0" rtlCol="0" anchor="t"/>
          <a:lstStyle/>
          <a:p>
            <a:pPr algn="ctr" indent="0" marL="0">
              <a:buNone/>
            </a:pPr>
            <a:r>
              <a:rPr lang="en-US" sz="950" i="1" dirty="0">
                <a:solidFill>
                  <a:schemeClr val="accent1"/>
                </a:solidFill>
              </a:rPr>
              <a:t>Backend Developer / Integration Engineer</a:t>
            </a:r>
            <a:endParaRPr lang="en-US" sz="950" dirty="0"/>
          </a:p>
        </p:txBody>
      </p:sp>
      <p:sp>
        <p:nvSpPr>
          <p:cNvPr id="24" name="Text 22"/>
          <p:cNvSpPr txBox="1"/>
          <p:nvPr/>
        </p:nvSpPr>
        <p:spPr>
          <a:xfrm>
            <a:off x="3895344" y="3291840"/>
            <a:ext cx="1335024" cy="685800"/>
          </a:xfrm>
          <a:prstGeom prst="rect">
            <a:avLst/>
          </a:prstGeom>
          <a:noFill/>
          <a:ln/>
        </p:spPr>
        <p:txBody>
          <a:bodyPr wrap="square" lIns="0" tIns="0" rIns="0" bIns="0" rtlCol="0" anchor="t"/>
          <a:lstStyle/>
          <a:p>
            <a:pPr algn="ctr" indent="0" marL="0">
              <a:buNone/>
            </a:pPr>
            <a:r>
              <a:rPr lang="en-US" sz="1000" dirty="0">
                <a:solidFill>
                  <a:schemeClr val="tx1"/>
                </a:solidFill>
              </a:rPr>
              <a:t>System features (owner, tenant, public)</a:t>
            </a:r>
            <a:endParaRPr lang="en-US" sz="1000" dirty="0"/>
          </a:p>
        </p:txBody>
      </p:sp>
      <p:sp>
        <p:nvSpPr>
          <p:cNvPr id="25" name="Text 23"/>
          <p:cNvSpPr txBox="1"/>
          <p:nvPr/>
        </p:nvSpPr>
        <p:spPr>
          <a:xfrm>
            <a:off x="3895344" y="4041648"/>
            <a:ext cx="1335024" cy="274320"/>
          </a:xfrm>
          <a:prstGeom prst="rect">
            <a:avLst/>
          </a:prstGeom>
          <a:noFill/>
          <a:ln/>
        </p:spPr>
        <p:txBody>
          <a:bodyPr wrap="square" lIns="0" tIns="0" rIns="0" bIns="0" rtlCol="0" anchor="ctr"/>
          <a:lstStyle/>
          <a:p>
            <a:pPr algn="ctr" indent="0" marL="0">
              <a:buNone/>
            </a:pPr>
            <a:r>
              <a:rPr lang="en-US" sz="900" b="1" dirty="0">
                <a:solidFill>
                  <a:srgbClr val="6B7280"/>
                </a:solidFill>
              </a:rPr>
              <a:t>Slides 7–8</a:t>
            </a:r>
            <a:endParaRPr lang="en-US" sz="900" dirty="0"/>
          </a:p>
        </p:txBody>
      </p:sp>
      <p:sp>
        <p:nvSpPr>
          <p:cNvPr id="26" name="Card"/>
          <p:cNvSpPr/>
          <p:nvPr/>
        </p:nvSpPr>
        <p:spPr>
          <a:xfrm>
            <a:off x="5477256" y="1188720"/>
            <a:ext cx="1517904" cy="3246120"/>
          </a:xfrm>
          <a:prstGeom prst="roundRect">
            <a:avLst>
              <a:gd name="adj" fmla="val 4819"/>
            </a:avLst>
          </a:prstGeom>
          <a:solidFill>
            <a:srgbClr val="EAF4EE"/>
          </a:solidFill>
          <a:ln/>
        </p:spPr>
      </p:sp>
      <p:sp>
        <p:nvSpPr>
          <p:cNvPr id="27" name="Shape 25"/>
          <p:cNvSpPr/>
          <p:nvPr/>
        </p:nvSpPr>
        <p:spPr>
          <a:xfrm>
            <a:off x="5824728" y="1371600"/>
            <a:ext cx="822960" cy="722376"/>
          </a:xfrm>
          <a:prstGeom prst="hexagon">
            <a:avLst/>
          </a:prstGeom>
          <a:solidFill>
            <a:srgbClr val="17603F"/>
          </a:solidFill>
          <a:ln/>
        </p:spPr>
      </p:sp>
      <p:sp>
        <p:nvSpPr>
          <p:cNvPr id="28" name="Text 26"/>
          <p:cNvSpPr txBox="1"/>
          <p:nvPr/>
        </p:nvSpPr>
        <p:spPr>
          <a:xfrm>
            <a:off x="5824728" y="1371600"/>
            <a:ext cx="822960" cy="72237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4</a:t>
            </a:r>
            <a:endParaRPr lang="en-US" sz="2400" dirty="0"/>
          </a:p>
        </p:txBody>
      </p:sp>
      <p:sp>
        <p:nvSpPr>
          <p:cNvPr id="29" name="Text 27"/>
          <p:cNvSpPr txBox="1"/>
          <p:nvPr/>
        </p:nvSpPr>
        <p:spPr>
          <a:xfrm>
            <a:off x="5568696" y="2212848"/>
            <a:ext cx="1335024" cy="502920"/>
          </a:xfrm>
          <a:prstGeom prst="rect">
            <a:avLst/>
          </a:prstGeom>
          <a:noFill/>
          <a:ln/>
        </p:spPr>
        <p:txBody>
          <a:bodyPr wrap="square" lIns="0" tIns="0" rIns="0" bIns="0" rtlCol="0" anchor="t"/>
          <a:lstStyle/>
          <a:p>
            <a:pPr algn="ctr" indent="0" marL="0">
              <a:buNone/>
            </a:pPr>
            <a:r>
              <a:rPr lang="en-US" sz="1200" b="1" dirty="0">
                <a:solidFill>
                  <a:schemeClr val="tx1"/>
                </a:solidFill>
              </a:rPr>
              <a:t>Kiel Hedrix V. Relos</a:t>
            </a:r>
            <a:endParaRPr lang="en-US" sz="1200" dirty="0"/>
          </a:p>
        </p:txBody>
      </p:sp>
      <p:sp>
        <p:nvSpPr>
          <p:cNvPr id="30" name="Text 28"/>
          <p:cNvSpPr txBox="1"/>
          <p:nvPr/>
        </p:nvSpPr>
        <p:spPr>
          <a:xfrm>
            <a:off x="5568696" y="2724912"/>
            <a:ext cx="1335024" cy="502920"/>
          </a:xfrm>
          <a:prstGeom prst="rect">
            <a:avLst/>
          </a:prstGeom>
          <a:noFill/>
          <a:ln/>
        </p:spPr>
        <p:txBody>
          <a:bodyPr wrap="square" lIns="0" tIns="0" rIns="0" bIns="0" rtlCol="0" anchor="t"/>
          <a:lstStyle/>
          <a:p>
            <a:pPr algn="ctr" indent="0" marL="0">
              <a:buNone/>
            </a:pPr>
            <a:r>
              <a:rPr lang="en-US" sz="950" i="1" dirty="0">
                <a:solidFill>
                  <a:schemeClr val="accent1"/>
                </a:solidFill>
              </a:rPr>
              <a:t>Frontend Developer / UI/UX Designer</a:t>
            </a:r>
            <a:endParaRPr lang="en-US" sz="950" dirty="0"/>
          </a:p>
        </p:txBody>
      </p:sp>
      <p:sp>
        <p:nvSpPr>
          <p:cNvPr id="31" name="Text 29"/>
          <p:cNvSpPr txBox="1"/>
          <p:nvPr/>
        </p:nvSpPr>
        <p:spPr>
          <a:xfrm>
            <a:off x="5568696" y="3291840"/>
            <a:ext cx="1335024" cy="685800"/>
          </a:xfrm>
          <a:prstGeom prst="rect">
            <a:avLst/>
          </a:prstGeom>
          <a:noFill/>
          <a:ln/>
        </p:spPr>
        <p:txBody>
          <a:bodyPr wrap="square" lIns="0" tIns="0" rIns="0" bIns="0" rtlCol="0" anchor="t"/>
          <a:lstStyle/>
          <a:p>
            <a:pPr algn="ctr" indent="0" marL="0">
              <a:buNone/>
            </a:pPr>
            <a:r>
              <a:rPr lang="en-US" sz="1000" dirty="0">
                <a:solidFill>
                  <a:schemeClr val="tx1"/>
                </a:solidFill>
              </a:rPr>
              <a:t>Interface progress and tenant acceptance testing</a:t>
            </a:r>
            <a:endParaRPr lang="en-US" sz="1000" dirty="0"/>
          </a:p>
        </p:txBody>
      </p:sp>
      <p:sp>
        <p:nvSpPr>
          <p:cNvPr id="32" name="Text 30"/>
          <p:cNvSpPr txBox="1"/>
          <p:nvPr/>
        </p:nvSpPr>
        <p:spPr>
          <a:xfrm>
            <a:off x="5568696" y="4041648"/>
            <a:ext cx="1335024" cy="274320"/>
          </a:xfrm>
          <a:prstGeom prst="rect">
            <a:avLst/>
          </a:prstGeom>
          <a:noFill/>
          <a:ln/>
        </p:spPr>
        <p:txBody>
          <a:bodyPr wrap="square" lIns="0" tIns="0" rIns="0" bIns="0" rtlCol="0" anchor="ctr"/>
          <a:lstStyle/>
          <a:p>
            <a:pPr algn="ctr" indent="0" marL="0">
              <a:buNone/>
            </a:pPr>
            <a:r>
              <a:rPr lang="en-US" sz="900" b="1" dirty="0">
                <a:solidFill>
                  <a:srgbClr val="6B7280"/>
                </a:solidFill>
              </a:rPr>
              <a:t>Slides 9–10</a:t>
            </a:r>
            <a:endParaRPr lang="en-US" sz="900" dirty="0"/>
          </a:p>
        </p:txBody>
      </p:sp>
      <p:sp>
        <p:nvSpPr>
          <p:cNvPr id="33" name="Card"/>
          <p:cNvSpPr/>
          <p:nvPr/>
        </p:nvSpPr>
        <p:spPr>
          <a:xfrm>
            <a:off x="7150608" y="1188720"/>
            <a:ext cx="1517904" cy="3246120"/>
          </a:xfrm>
          <a:prstGeom prst="roundRect">
            <a:avLst>
              <a:gd name="adj" fmla="val 4819"/>
            </a:avLst>
          </a:prstGeom>
          <a:solidFill>
            <a:srgbClr val="EAF4EE"/>
          </a:solidFill>
          <a:ln/>
        </p:spPr>
      </p:sp>
      <p:sp>
        <p:nvSpPr>
          <p:cNvPr id="34" name="Shape 32"/>
          <p:cNvSpPr/>
          <p:nvPr/>
        </p:nvSpPr>
        <p:spPr>
          <a:xfrm>
            <a:off x="7498080" y="1371600"/>
            <a:ext cx="822960" cy="722376"/>
          </a:xfrm>
          <a:prstGeom prst="hexagon">
            <a:avLst/>
          </a:prstGeom>
          <a:solidFill>
            <a:srgbClr val="17603F"/>
          </a:solidFill>
          <a:ln/>
        </p:spPr>
      </p:sp>
      <p:sp>
        <p:nvSpPr>
          <p:cNvPr id="35" name="Text 33"/>
          <p:cNvSpPr txBox="1"/>
          <p:nvPr/>
        </p:nvSpPr>
        <p:spPr>
          <a:xfrm>
            <a:off x="7498080" y="1371600"/>
            <a:ext cx="822960" cy="72237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5</a:t>
            </a:r>
            <a:endParaRPr lang="en-US" sz="2400" dirty="0"/>
          </a:p>
        </p:txBody>
      </p:sp>
      <p:sp>
        <p:nvSpPr>
          <p:cNvPr id="36" name="Text 34"/>
          <p:cNvSpPr txBox="1"/>
          <p:nvPr/>
        </p:nvSpPr>
        <p:spPr>
          <a:xfrm>
            <a:off x="7242048" y="2212848"/>
            <a:ext cx="1335024" cy="502920"/>
          </a:xfrm>
          <a:prstGeom prst="rect">
            <a:avLst/>
          </a:prstGeom>
          <a:noFill/>
          <a:ln/>
        </p:spPr>
        <p:txBody>
          <a:bodyPr wrap="square" lIns="0" tIns="0" rIns="0" bIns="0" rtlCol="0" anchor="t"/>
          <a:lstStyle/>
          <a:p>
            <a:pPr algn="ctr" indent="0" marL="0">
              <a:buNone/>
            </a:pPr>
            <a:r>
              <a:rPr lang="en-US" sz="1200" b="1" dirty="0">
                <a:solidFill>
                  <a:schemeClr val="tx1"/>
                </a:solidFill>
              </a:rPr>
              <a:t>Eljohn Paulo C. Loterte</a:t>
            </a:r>
            <a:endParaRPr lang="en-US" sz="1200" dirty="0"/>
          </a:p>
        </p:txBody>
      </p:sp>
      <p:sp>
        <p:nvSpPr>
          <p:cNvPr id="37" name="Text 35"/>
          <p:cNvSpPr txBox="1"/>
          <p:nvPr/>
        </p:nvSpPr>
        <p:spPr>
          <a:xfrm>
            <a:off x="7242048" y="2724912"/>
            <a:ext cx="1335024" cy="502920"/>
          </a:xfrm>
          <a:prstGeom prst="rect">
            <a:avLst/>
          </a:prstGeom>
          <a:noFill/>
          <a:ln/>
        </p:spPr>
        <p:txBody>
          <a:bodyPr wrap="square" lIns="0" tIns="0" rIns="0" bIns="0" rtlCol="0" anchor="t"/>
          <a:lstStyle/>
          <a:p>
            <a:pPr algn="ctr" indent="0" marL="0">
              <a:buNone/>
            </a:pPr>
            <a:r>
              <a:rPr lang="en-US" sz="950" i="1" dirty="0">
                <a:solidFill>
                  <a:schemeClr val="accent1"/>
                </a:solidFill>
              </a:rPr>
              <a:t>Quality Assurance / Systems Analyst</a:t>
            </a:r>
            <a:endParaRPr lang="en-US" sz="950" dirty="0"/>
          </a:p>
        </p:txBody>
      </p:sp>
      <p:sp>
        <p:nvSpPr>
          <p:cNvPr id="38" name="Text 36"/>
          <p:cNvSpPr txBox="1"/>
          <p:nvPr/>
        </p:nvSpPr>
        <p:spPr>
          <a:xfrm>
            <a:off x="7242048" y="3291840"/>
            <a:ext cx="1335024" cy="685800"/>
          </a:xfrm>
          <a:prstGeom prst="rect">
            <a:avLst/>
          </a:prstGeom>
          <a:noFill/>
          <a:ln/>
        </p:spPr>
        <p:txBody>
          <a:bodyPr wrap="square" lIns="0" tIns="0" rIns="0" bIns="0" rtlCol="0" anchor="t"/>
          <a:lstStyle/>
          <a:p>
            <a:pPr algn="ctr" indent="0" marL="0">
              <a:buNone/>
            </a:pPr>
            <a:r>
              <a:rPr lang="en-US" sz="1000" dirty="0">
                <a:solidFill>
                  <a:schemeClr val="tx1"/>
                </a:solidFill>
              </a:rPr>
              <a:t>Test results, defects fixed, next steps, closing</a:t>
            </a:r>
            <a:endParaRPr lang="en-US" sz="1000" dirty="0"/>
          </a:p>
        </p:txBody>
      </p:sp>
      <p:sp>
        <p:nvSpPr>
          <p:cNvPr id="39" name="Text 37"/>
          <p:cNvSpPr txBox="1"/>
          <p:nvPr/>
        </p:nvSpPr>
        <p:spPr>
          <a:xfrm>
            <a:off x="7242048" y="4041648"/>
            <a:ext cx="1335024" cy="274320"/>
          </a:xfrm>
          <a:prstGeom prst="rect">
            <a:avLst/>
          </a:prstGeom>
          <a:noFill/>
          <a:ln/>
        </p:spPr>
        <p:txBody>
          <a:bodyPr wrap="square" lIns="0" tIns="0" rIns="0" bIns="0" rtlCol="0" anchor="ctr"/>
          <a:lstStyle/>
          <a:p>
            <a:pPr algn="ctr" indent="0" marL="0">
              <a:buNone/>
            </a:pPr>
            <a:r>
              <a:rPr lang="en-US" sz="900" b="1" dirty="0">
                <a:solidFill>
                  <a:srgbClr val="6B7280"/>
                </a:solidFill>
              </a:rPr>
              <a:t>Slides 11–13</a:t>
            </a:r>
            <a:endParaRPr lang="en-US" sz="9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B7280"/>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6583680" cy="685800"/>
          </a:xfrm>
          <a:prstGeom prst="rect">
            <a:avLst/>
          </a:prstGeom>
          <a:noFill/>
          <a:ln/>
        </p:spPr>
        <p:txBody>
          <a:bodyPr wrap="square" lIns="0" tIns="0" rIns="0" bIns="0" rtlCol="0" anchor="ctr"/>
          <a:lstStyle/>
          <a:p>
            <a:pPr algn="l" indent="0" marL="0">
              <a:buNone/>
            </a:pPr>
            <a:r>
              <a:rPr lang="en-US" sz="2800" b="1" dirty="0">
                <a:solidFill>
                  <a:schemeClr val="tx1"/>
                </a:solidFill>
                <a:latin typeface="Cambria" pitchFamily="34" charset="0"/>
                <a:ea typeface="Cambria" pitchFamily="34" charset="-122"/>
                <a:cs typeface="Cambria" pitchFamily="34" charset="-120"/>
              </a:rPr>
              <a:t>Where the project stands</a:t>
            </a:r>
            <a:endParaRPr lang="en-US" sz="2800" dirty="0"/>
          </a:p>
        </p:txBody>
      </p:sp>
      <p:sp>
        <p:nvSpPr>
          <p:cNvPr id="3" name="Presenter tag"/>
          <p:cNvSpPr/>
          <p:nvPr/>
        </p:nvSpPr>
        <p:spPr>
          <a:xfrm>
            <a:off x="7178040" y="429768"/>
            <a:ext cx="1508760" cy="365760"/>
          </a:xfrm>
          <a:prstGeom prst="roundRect">
            <a:avLst>
              <a:gd name="adj" fmla="val 50000"/>
            </a:avLst>
          </a:prstGeom>
          <a:solidFill>
            <a:schemeClr val="accent2"/>
          </a:solidFill>
          <a:ln/>
        </p:spPr>
      </p:sp>
      <p:sp>
        <p:nvSpPr>
          <p:cNvPr id="4" name="Presenter name"/>
          <p:cNvSpPr txBox="1"/>
          <p:nvPr/>
        </p:nvSpPr>
        <p:spPr>
          <a:xfrm>
            <a:off x="7178040" y="429768"/>
            <a:ext cx="1508760" cy="365760"/>
          </a:xfrm>
          <a:prstGeom prst="rect">
            <a:avLst/>
          </a:prstGeom>
          <a:noFill/>
          <a:ln/>
        </p:spPr>
        <p:txBody>
          <a:bodyPr wrap="square" lIns="0" tIns="0" rIns="0" bIns="0" rtlCol="0" anchor="ctr"/>
          <a:lstStyle/>
          <a:p>
            <a:pPr algn="ctr" indent="0" marL="0">
              <a:buNone/>
            </a:pPr>
            <a:r>
              <a:rPr lang="en-US" sz="800" dirty="0">
                <a:solidFill>
                  <a:srgbClr val="7C4A03"/>
                </a:solidFill>
              </a:rPr>
              <a:t>PRESENTER  </a:t>
            </a:r>
            <a:pPr algn="ctr" indent="0" marL="0">
              <a:buNone/>
            </a:pPr>
            <a:r>
              <a:rPr lang="en-US" sz="1200" b="1" dirty="0">
                <a:solidFill>
                  <a:schemeClr val="tx1"/>
                </a:solidFill>
              </a:rPr>
              <a:t>Lloyd</a:t>
            </a:r>
            <a:endParaRPr lang="en-US" sz="800" dirty="0"/>
          </a:p>
        </p:txBody>
      </p:sp>
      <p:sp>
        <p:nvSpPr>
          <p:cNvPr id="5" name="Hex FaBook"/>
          <p:cNvSpPr/>
          <p:nvPr/>
        </p:nvSpPr>
        <p:spPr>
          <a:xfrm>
            <a:off x="457200" y="1188720"/>
            <a:ext cx="566928" cy="498897"/>
          </a:xfrm>
          <a:prstGeom prst="hexagon">
            <a:avLst/>
          </a:prstGeom>
          <a:solidFill>
            <a:srgbClr val="6B7280"/>
          </a:solidFill>
          <a:ln/>
        </p:spPr>
      </p:sp>
      <p:pic>
        <p:nvPicPr>
          <p:cNvPr id="6" name="Icon FaBook" descr="preencoded.png">    </p:cNvPr>
          <p:cNvPicPr>
            <a:picLocks noChangeAspect="1"/>
          </p:cNvPicPr>
          <p:nvPr/>
        </p:nvPicPr>
        <p:blipFill>
          <a:blip r:embed="rId1"/>
          <a:stretch>
            <a:fillRect/>
          </a:stretch>
        </p:blipFill>
        <p:spPr>
          <a:xfrm>
            <a:off x="610271" y="1307775"/>
            <a:ext cx="260787" cy="260787"/>
          </a:xfrm>
          <a:prstGeom prst="rect">
            <a:avLst/>
          </a:prstGeom>
        </p:spPr>
      </p:pic>
      <p:sp>
        <p:nvSpPr>
          <p:cNvPr id="7" name="Text 4"/>
          <p:cNvSpPr txBox="1"/>
          <p:nvPr/>
        </p:nvSpPr>
        <p:spPr>
          <a:xfrm>
            <a:off x="1188720" y="1143000"/>
            <a:ext cx="3200400" cy="1188720"/>
          </a:xfrm>
          <a:prstGeom prst="rect">
            <a:avLst/>
          </a:prstGeom>
          <a:noFill/>
          <a:ln/>
        </p:spPr>
        <p:txBody>
          <a:bodyPr wrap="square" lIns="0" tIns="0" rIns="0" bIns="0" rtlCol="0" anchor="t"/>
          <a:lstStyle/>
          <a:p>
            <a:pPr indent="0" marL="0">
              <a:buNone/>
            </a:pPr>
            <a:r>
              <a:rPr lang="en-US" sz="1400" b="1" dirty="0">
                <a:solidFill>
                  <a:schemeClr val="tx1"/>
                </a:solidFill>
              </a:rPr>
              <a:t>Before</a:t>
            </a:r>
            <a:endParaRPr lang="en-US" sz="1400" dirty="0"/>
          </a:p>
          <a:p>
            <a:pPr indent="0" marL="0">
              <a:buNone/>
            </a:pPr>
            <a:r>
              <a:rPr lang="en-US" sz="1200" dirty="0">
                <a:solidFill>
                  <a:schemeClr val="tx1"/>
                </a:solidFill>
              </a:rPr>
              <a:t>Paper receipt book and Excel workbooks. Payments, water, expenses and repair requests scattered across paper, spreadsheets, SMS and Messenger.</a:t>
            </a:r>
            <a:endParaRPr lang="en-US" sz="1400" dirty="0"/>
          </a:p>
        </p:txBody>
      </p:sp>
      <p:sp>
        <p:nvSpPr>
          <p:cNvPr id="8" name="Hex FaLayerGroup"/>
          <p:cNvSpPr/>
          <p:nvPr/>
        </p:nvSpPr>
        <p:spPr>
          <a:xfrm>
            <a:off x="457200" y="2606040"/>
            <a:ext cx="566928" cy="498897"/>
          </a:xfrm>
          <a:prstGeom prst="hexagon">
            <a:avLst/>
          </a:prstGeom>
          <a:solidFill>
            <a:srgbClr val="17603F"/>
          </a:solidFill>
          <a:ln/>
        </p:spPr>
      </p:sp>
      <p:pic>
        <p:nvPicPr>
          <p:cNvPr id="9" name="Icon FaLayerGroup" descr="preencoded.png">    </p:cNvPr>
          <p:cNvPicPr>
            <a:picLocks noChangeAspect="1"/>
          </p:cNvPicPr>
          <p:nvPr/>
        </p:nvPicPr>
        <p:blipFill>
          <a:blip r:embed="rId2"/>
          <a:stretch>
            <a:fillRect/>
          </a:stretch>
        </p:blipFill>
        <p:spPr>
          <a:xfrm>
            <a:off x="610271" y="2725095"/>
            <a:ext cx="260787" cy="260787"/>
          </a:xfrm>
          <a:prstGeom prst="rect">
            <a:avLst/>
          </a:prstGeom>
        </p:spPr>
      </p:pic>
      <p:sp>
        <p:nvSpPr>
          <p:cNvPr id="10" name="Text 6"/>
          <p:cNvSpPr txBox="1"/>
          <p:nvPr/>
        </p:nvSpPr>
        <p:spPr>
          <a:xfrm>
            <a:off x="1188720" y="2560320"/>
            <a:ext cx="3200400" cy="1188720"/>
          </a:xfrm>
          <a:prstGeom prst="rect">
            <a:avLst/>
          </a:prstGeom>
          <a:noFill/>
          <a:ln/>
        </p:spPr>
        <p:txBody>
          <a:bodyPr wrap="square" lIns="0" tIns="0" rIns="0" bIns="0" rtlCol="0" anchor="t"/>
          <a:lstStyle/>
          <a:p>
            <a:pPr indent="0" marL="0">
              <a:buNone/>
            </a:pPr>
            <a:r>
              <a:rPr lang="en-US" sz="1400" b="1" dirty="0">
                <a:solidFill>
                  <a:schemeClr val="accent1"/>
                </a:solidFill>
              </a:rPr>
              <a:t>With Hivelet</a:t>
            </a:r>
            <a:endParaRPr lang="en-US" sz="1400" dirty="0"/>
          </a:p>
          <a:p>
            <a:pPr indent="0" marL="0">
              <a:buNone/>
            </a:pPr>
            <a:r>
              <a:rPr lang="en-US" sz="1200" dirty="0">
                <a:solidFill>
                  <a:schemeClr val="tx1"/>
                </a:solidFill>
              </a:rPr>
              <a:t>One live system for the owner, her tenants and the public, running on her real records today, not a prototype.</a:t>
            </a:r>
            <a:endParaRPr lang="en-US" sz="1400" dirty="0"/>
          </a:p>
        </p:txBody>
      </p:sp>
      <p:sp>
        <p:nvSpPr>
          <p:cNvPr id="11" name="Card"/>
          <p:cNvSpPr/>
          <p:nvPr/>
        </p:nvSpPr>
        <p:spPr>
          <a:xfrm>
            <a:off x="4709160" y="1143000"/>
            <a:ext cx="1874520" cy="1554480"/>
          </a:xfrm>
          <a:prstGeom prst="roundRect">
            <a:avLst>
              <a:gd name="adj" fmla="val 4706"/>
            </a:avLst>
          </a:prstGeom>
          <a:solidFill>
            <a:srgbClr val="17603F"/>
          </a:solidFill>
          <a:ln/>
        </p:spPr>
      </p:sp>
      <p:sp>
        <p:nvSpPr>
          <p:cNvPr id="12" name="Text 8"/>
          <p:cNvSpPr txBox="1"/>
          <p:nvPr/>
        </p:nvSpPr>
        <p:spPr>
          <a:xfrm>
            <a:off x="4846320" y="1280160"/>
            <a:ext cx="1600200" cy="68580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33</a:t>
            </a:r>
            <a:endParaRPr lang="en-US" sz="3200" dirty="0"/>
          </a:p>
        </p:txBody>
      </p:sp>
      <p:sp>
        <p:nvSpPr>
          <p:cNvPr id="13" name="Text 9"/>
          <p:cNvSpPr txBox="1"/>
          <p:nvPr/>
        </p:nvSpPr>
        <p:spPr>
          <a:xfrm>
            <a:off x="4846320" y="1984248"/>
            <a:ext cx="1645920" cy="594360"/>
          </a:xfrm>
          <a:prstGeom prst="rect">
            <a:avLst/>
          </a:prstGeom>
          <a:noFill/>
          <a:ln/>
        </p:spPr>
        <p:txBody>
          <a:bodyPr wrap="square" lIns="0" tIns="0" rIns="0" bIns="0" rtlCol="0" anchor="t"/>
          <a:lstStyle/>
          <a:p>
            <a:pPr indent="0" marL="0">
              <a:buNone/>
            </a:pPr>
            <a:r>
              <a:rPr lang="en-US" sz="1100" dirty="0">
                <a:solidFill>
                  <a:srgbClr val="D5EADC"/>
                </a:solidFill>
              </a:rPr>
              <a:t>units in 5 clusters</a:t>
            </a:r>
            <a:endParaRPr lang="en-US" sz="1100" dirty="0"/>
          </a:p>
          <a:p>
            <a:pPr indent="0" marL="0">
              <a:buNone/>
            </a:pPr>
            <a:r>
              <a:rPr lang="en-US" sz="1100" dirty="0">
                <a:solidFill>
                  <a:srgbClr val="D5EADC"/>
                </a:solidFill>
              </a:rPr>
              <a:t>across 3 floors</a:t>
            </a:r>
            <a:endParaRPr lang="en-US" sz="1100" dirty="0"/>
          </a:p>
        </p:txBody>
      </p:sp>
      <p:sp>
        <p:nvSpPr>
          <p:cNvPr id="14" name="Card"/>
          <p:cNvSpPr/>
          <p:nvPr/>
        </p:nvSpPr>
        <p:spPr>
          <a:xfrm>
            <a:off x="6720840" y="1143000"/>
            <a:ext cx="1874520" cy="1554480"/>
          </a:xfrm>
          <a:prstGeom prst="roundRect">
            <a:avLst>
              <a:gd name="adj" fmla="val 4706"/>
            </a:avLst>
          </a:prstGeom>
          <a:solidFill>
            <a:srgbClr val="EAF4EE"/>
          </a:solidFill>
          <a:ln/>
        </p:spPr>
      </p:sp>
      <p:sp>
        <p:nvSpPr>
          <p:cNvPr id="15" name="Text 11"/>
          <p:cNvSpPr txBox="1"/>
          <p:nvPr/>
        </p:nvSpPr>
        <p:spPr>
          <a:xfrm>
            <a:off x="6858000" y="1280160"/>
            <a:ext cx="1600200" cy="685800"/>
          </a:xfrm>
          <a:prstGeom prst="rect">
            <a:avLst/>
          </a:prstGeom>
          <a:noFill/>
          <a:ln/>
        </p:spPr>
        <p:txBody>
          <a:bodyPr wrap="square" lIns="0" tIns="0" rIns="0" bIns="0" rtlCol="0" anchor="ctr"/>
          <a:lstStyle/>
          <a:p>
            <a:pPr indent="0" marL="0">
              <a:buNone/>
            </a:pPr>
            <a:r>
              <a:rPr lang="en-US" sz="3200" b="1" dirty="0">
                <a:solidFill>
                  <a:srgbClr val="17603F"/>
                </a:solidFill>
                <a:latin typeface="Cambria" pitchFamily="34" charset="0"/>
                <a:ea typeface="Cambria" pitchFamily="34" charset="-122"/>
                <a:cs typeface="Cambria" pitchFamily="34" charset="-120"/>
              </a:rPr>
              <a:t>32 / 33</a:t>
            </a:r>
            <a:endParaRPr lang="en-US" sz="3200" dirty="0"/>
          </a:p>
        </p:txBody>
      </p:sp>
      <p:sp>
        <p:nvSpPr>
          <p:cNvPr id="16" name="Text 12"/>
          <p:cNvSpPr txBox="1"/>
          <p:nvPr/>
        </p:nvSpPr>
        <p:spPr>
          <a:xfrm>
            <a:off x="6858000" y="1984248"/>
            <a:ext cx="1645920" cy="594360"/>
          </a:xfrm>
          <a:prstGeom prst="rect">
            <a:avLst/>
          </a:prstGeom>
          <a:noFill/>
          <a:ln/>
        </p:spPr>
        <p:txBody>
          <a:bodyPr wrap="square" lIns="0" tIns="0" rIns="0" bIns="0" rtlCol="0" anchor="t"/>
          <a:lstStyle/>
          <a:p>
            <a:pPr indent="0" marL="0">
              <a:buNone/>
            </a:pPr>
            <a:r>
              <a:rPr lang="en-US" sz="1100" dirty="0">
                <a:solidFill>
                  <a:srgbClr val="18261E"/>
                </a:solidFill>
              </a:rPr>
              <a:t>units occupied</a:t>
            </a:r>
            <a:endParaRPr lang="en-US" sz="1100" dirty="0"/>
          </a:p>
          <a:p>
            <a:pPr indent="0" marL="0">
              <a:buNone/>
            </a:pPr>
            <a:r>
              <a:rPr lang="en-US" sz="1100" dirty="0">
                <a:solidFill>
                  <a:srgbClr val="18261E"/>
                </a:solidFill>
              </a:rPr>
              <a:t>today</a:t>
            </a:r>
            <a:endParaRPr lang="en-US" sz="1100" dirty="0"/>
          </a:p>
        </p:txBody>
      </p:sp>
      <p:sp>
        <p:nvSpPr>
          <p:cNvPr id="17" name="Card"/>
          <p:cNvSpPr/>
          <p:nvPr/>
        </p:nvSpPr>
        <p:spPr>
          <a:xfrm>
            <a:off x="4709160" y="2834640"/>
            <a:ext cx="1874520" cy="1554480"/>
          </a:xfrm>
          <a:prstGeom prst="roundRect">
            <a:avLst>
              <a:gd name="adj" fmla="val 4706"/>
            </a:avLst>
          </a:prstGeom>
          <a:solidFill>
            <a:srgbClr val="EAF4EE"/>
          </a:solidFill>
          <a:ln/>
        </p:spPr>
      </p:sp>
      <p:sp>
        <p:nvSpPr>
          <p:cNvPr id="18" name="Text 14"/>
          <p:cNvSpPr txBox="1"/>
          <p:nvPr/>
        </p:nvSpPr>
        <p:spPr>
          <a:xfrm>
            <a:off x="4846320" y="2971800"/>
            <a:ext cx="1600200" cy="685800"/>
          </a:xfrm>
          <a:prstGeom prst="rect">
            <a:avLst/>
          </a:prstGeom>
          <a:noFill/>
          <a:ln/>
        </p:spPr>
        <p:txBody>
          <a:bodyPr wrap="square" lIns="0" tIns="0" rIns="0" bIns="0" rtlCol="0" anchor="ctr"/>
          <a:lstStyle/>
          <a:p>
            <a:pPr indent="0" marL="0">
              <a:buNone/>
            </a:pPr>
            <a:r>
              <a:rPr lang="en-US" sz="3200" b="1" dirty="0">
                <a:solidFill>
                  <a:srgbClr val="17603F"/>
                </a:solidFill>
                <a:latin typeface="Cambria" pitchFamily="34" charset="0"/>
                <a:ea typeface="Cambria" pitchFamily="34" charset="-122"/>
                <a:cs typeface="Cambria" pitchFamily="34" charset="-120"/>
              </a:rPr>
              <a:t>937</a:t>
            </a:r>
            <a:endParaRPr lang="en-US" sz="3200" dirty="0"/>
          </a:p>
        </p:txBody>
      </p:sp>
      <p:sp>
        <p:nvSpPr>
          <p:cNvPr id="19" name="Text 15"/>
          <p:cNvSpPr txBox="1"/>
          <p:nvPr/>
        </p:nvSpPr>
        <p:spPr>
          <a:xfrm>
            <a:off x="4846320" y="3675888"/>
            <a:ext cx="1645920" cy="594360"/>
          </a:xfrm>
          <a:prstGeom prst="rect">
            <a:avLst/>
          </a:prstGeom>
          <a:noFill/>
          <a:ln/>
        </p:spPr>
        <p:txBody>
          <a:bodyPr wrap="square" lIns="0" tIns="0" rIns="0" bIns="0" rtlCol="0" anchor="t"/>
          <a:lstStyle/>
          <a:p>
            <a:pPr indent="0" marL="0">
              <a:buNone/>
            </a:pPr>
            <a:r>
              <a:rPr lang="en-US" sz="1100" dirty="0">
                <a:solidFill>
                  <a:srgbClr val="18261E"/>
                </a:solidFill>
              </a:rPr>
              <a:t>income rows moved</a:t>
            </a:r>
            <a:endParaRPr lang="en-US" sz="1100" dirty="0"/>
          </a:p>
          <a:p>
            <a:pPr indent="0" marL="0">
              <a:buNone/>
            </a:pPr>
            <a:r>
              <a:rPr lang="en-US" sz="1100" dirty="0">
                <a:solidFill>
                  <a:srgbClr val="18261E"/>
                </a:solidFill>
              </a:rPr>
              <a:t>from her workbook</a:t>
            </a:r>
            <a:endParaRPr lang="en-US" sz="1100" dirty="0"/>
          </a:p>
        </p:txBody>
      </p:sp>
      <p:sp>
        <p:nvSpPr>
          <p:cNvPr id="20" name="Card"/>
          <p:cNvSpPr/>
          <p:nvPr/>
        </p:nvSpPr>
        <p:spPr>
          <a:xfrm>
            <a:off x="6720840" y="2834640"/>
            <a:ext cx="1874520" cy="1554480"/>
          </a:xfrm>
          <a:prstGeom prst="roundRect">
            <a:avLst>
              <a:gd name="adj" fmla="val 4706"/>
            </a:avLst>
          </a:prstGeom>
          <a:solidFill>
            <a:srgbClr val="EAF4EE"/>
          </a:solidFill>
          <a:ln/>
        </p:spPr>
      </p:sp>
      <p:sp>
        <p:nvSpPr>
          <p:cNvPr id="21" name="Text 17"/>
          <p:cNvSpPr txBox="1"/>
          <p:nvPr/>
        </p:nvSpPr>
        <p:spPr>
          <a:xfrm>
            <a:off x="6858000" y="2971800"/>
            <a:ext cx="1600200" cy="685800"/>
          </a:xfrm>
          <a:prstGeom prst="rect">
            <a:avLst/>
          </a:prstGeom>
          <a:noFill/>
          <a:ln/>
        </p:spPr>
        <p:txBody>
          <a:bodyPr wrap="square" lIns="0" tIns="0" rIns="0" bIns="0" rtlCol="0" anchor="ctr"/>
          <a:lstStyle/>
          <a:p>
            <a:pPr indent="0" marL="0">
              <a:buNone/>
            </a:pPr>
            <a:r>
              <a:rPr lang="en-US" sz="3200" b="1" dirty="0">
                <a:solidFill>
                  <a:srgbClr val="17603F"/>
                </a:solidFill>
                <a:latin typeface="Cambria" pitchFamily="34" charset="0"/>
                <a:ea typeface="Cambria" pitchFamily="34" charset="-122"/>
                <a:cs typeface="Cambria" pitchFamily="34" charset="-120"/>
              </a:rPr>
              <a:t>1,327</a:t>
            </a:r>
            <a:endParaRPr lang="en-US" sz="3200" dirty="0"/>
          </a:p>
        </p:txBody>
      </p:sp>
      <p:sp>
        <p:nvSpPr>
          <p:cNvPr id="22" name="Text 18"/>
          <p:cNvSpPr txBox="1"/>
          <p:nvPr/>
        </p:nvSpPr>
        <p:spPr>
          <a:xfrm>
            <a:off x="6858000" y="3675888"/>
            <a:ext cx="1645920" cy="594360"/>
          </a:xfrm>
          <a:prstGeom prst="rect">
            <a:avLst/>
          </a:prstGeom>
          <a:noFill/>
          <a:ln/>
        </p:spPr>
        <p:txBody>
          <a:bodyPr wrap="square" lIns="0" tIns="0" rIns="0" bIns="0" rtlCol="0" anchor="t"/>
          <a:lstStyle/>
          <a:p>
            <a:pPr indent="0" marL="0">
              <a:buNone/>
            </a:pPr>
            <a:r>
              <a:rPr lang="en-US" sz="1100" dirty="0">
                <a:solidFill>
                  <a:srgbClr val="18261E"/>
                </a:solidFill>
              </a:rPr>
              <a:t>expense allocations</a:t>
            </a:r>
            <a:endParaRPr lang="en-US" sz="1100" dirty="0"/>
          </a:p>
          <a:p>
            <a:pPr indent="0" marL="0">
              <a:buNone/>
            </a:pPr>
            <a:r>
              <a:rPr lang="en-US" sz="1100" dirty="0">
                <a:solidFill>
                  <a:srgbClr val="18261E"/>
                </a:solidFill>
              </a:rPr>
              <a:t>moved from her workbook</a:t>
            </a:r>
            <a:endParaRPr lang="en-US" sz="11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B7280"/>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6583680" cy="685800"/>
          </a:xfrm>
          <a:prstGeom prst="rect">
            <a:avLst/>
          </a:prstGeom>
          <a:noFill/>
          <a:ln/>
        </p:spPr>
        <p:txBody>
          <a:bodyPr wrap="square" lIns="0" tIns="0" rIns="0" bIns="0" rtlCol="0" anchor="ctr"/>
          <a:lstStyle/>
          <a:p>
            <a:pPr algn="l" indent="0" marL="0">
              <a:buNone/>
            </a:pPr>
            <a:r>
              <a:rPr lang="en-US" sz="2800" b="1" dirty="0">
                <a:solidFill>
                  <a:schemeClr val="tx1"/>
                </a:solidFill>
                <a:latin typeface="Cambria" pitchFamily="34" charset="0"/>
                <a:ea typeface="Cambria" pitchFamily="34" charset="-122"/>
                <a:cs typeface="Cambria" pitchFamily="34" charset="-120"/>
              </a:rPr>
              <a:t>Manuscript progress</a:t>
            </a:r>
            <a:endParaRPr lang="en-US" sz="2800" dirty="0"/>
          </a:p>
        </p:txBody>
      </p:sp>
      <p:sp>
        <p:nvSpPr>
          <p:cNvPr id="3" name="Presenter tag"/>
          <p:cNvSpPr/>
          <p:nvPr/>
        </p:nvSpPr>
        <p:spPr>
          <a:xfrm>
            <a:off x="7178040" y="429768"/>
            <a:ext cx="1508760" cy="365760"/>
          </a:xfrm>
          <a:prstGeom prst="roundRect">
            <a:avLst>
              <a:gd name="adj" fmla="val 50000"/>
            </a:avLst>
          </a:prstGeom>
          <a:solidFill>
            <a:schemeClr val="accent2"/>
          </a:solidFill>
          <a:ln/>
        </p:spPr>
      </p:sp>
      <p:sp>
        <p:nvSpPr>
          <p:cNvPr id="4" name="Presenter name"/>
          <p:cNvSpPr txBox="1"/>
          <p:nvPr/>
        </p:nvSpPr>
        <p:spPr>
          <a:xfrm>
            <a:off x="7178040" y="429768"/>
            <a:ext cx="1508760" cy="365760"/>
          </a:xfrm>
          <a:prstGeom prst="rect">
            <a:avLst/>
          </a:prstGeom>
          <a:noFill/>
          <a:ln/>
        </p:spPr>
        <p:txBody>
          <a:bodyPr wrap="square" lIns="0" tIns="0" rIns="0" bIns="0" rtlCol="0" anchor="ctr"/>
          <a:lstStyle/>
          <a:p>
            <a:pPr algn="ctr" indent="0" marL="0">
              <a:buNone/>
            </a:pPr>
            <a:r>
              <a:rPr lang="en-US" sz="800" dirty="0">
                <a:solidFill>
                  <a:srgbClr val="7C4A03"/>
                </a:solidFill>
              </a:rPr>
              <a:t>PRESENTER  </a:t>
            </a:r>
            <a:pPr algn="ctr" indent="0" marL="0">
              <a:buNone/>
            </a:pPr>
            <a:r>
              <a:rPr lang="en-US" sz="1200" b="1" dirty="0">
                <a:solidFill>
                  <a:schemeClr val="tx1"/>
                </a:solidFill>
              </a:rPr>
              <a:t>Lloyd</a:t>
            </a:r>
            <a:endParaRPr lang="en-US" sz="800" dirty="0"/>
          </a:p>
        </p:txBody>
      </p:sp>
      <p:sp>
        <p:nvSpPr>
          <p:cNvPr id="5" name="Shape 3"/>
          <p:cNvSpPr/>
          <p:nvPr/>
        </p:nvSpPr>
        <p:spPr>
          <a:xfrm>
            <a:off x="457200" y="1097280"/>
            <a:ext cx="8229600" cy="393192"/>
          </a:xfrm>
          <a:prstGeom prst="rect">
            <a:avLst/>
          </a:prstGeom>
          <a:solidFill>
            <a:srgbClr val="EAF4EE"/>
          </a:solidFill>
          <a:ln/>
        </p:spPr>
      </p:sp>
      <p:sp>
        <p:nvSpPr>
          <p:cNvPr id="6" name="Text 4"/>
          <p:cNvSpPr txBox="1"/>
          <p:nvPr/>
        </p:nvSpPr>
        <p:spPr>
          <a:xfrm>
            <a:off x="594360" y="1097280"/>
            <a:ext cx="1234440" cy="393192"/>
          </a:xfrm>
          <a:prstGeom prst="rect">
            <a:avLst/>
          </a:prstGeom>
          <a:noFill/>
          <a:ln/>
        </p:spPr>
        <p:txBody>
          <a:bodyPr wrap="square" lIns="0" tIns="0" rIns="0" bIns="0" rtlCol="0" anchor="ctr"/>
          <a:lstStyle/>
          <a:p>
            <a:pPr indent="0" marL="0">
              <a:buNone/>
            </a:pPr>
            <a:r>
              <a:rPr lang="en-US" sz="1150" b="1" dirty="0">
                <a:solidFill>
                  <a:schemeClr val="tx1"/>
                </a:solidFill>
              </a:rPr>
              <a:t>Chapters 1–3</a:t>
            </a:r>
            <a:endParaRPr lang="en-US" sz="1150" dirty="0"/>
          </a:p>
        </p:txBody>
      </p:sp>
      <p:sp>
        <p:nvSpPr>
          <p:cNvPr id="7" name="Text 5"/>
          <p:cNvSpPr txBox="1"/>
          <p:nvPr/>
        </p:nvSpPr>
        <p:spPr>
          <a:xfrm>
            <a:off x="1874520" y="1097280"/>
            <a:ext cx="5577840" cy="393192"/>
          </a:xfrm>
          <a:prstGeom prst="rect">
            <a:avLst/>
          </a:prstGeom>
          <a:noFill/>
          <a:ln/>
        </p:spPr>
        <p:txBody>
          <a:bodyPr wrap="square" lIns="0" tIns="0" rIns="0" bIns="0" rtlCol="0" anchor="ctr"/>
          <a:lstStyle/>
          <a:p>
            <a:pPr indent="0" marL="0">
              <a:buNone/>
            </a:pPr>
            <a:r>
              <a:rPr lang="en-US" sz="1100" dirty="0">
                <a:solidFill>
                  <a:schemeClr val="tx1"/>
                </a:solidFill>
              </a:rPr>
              <a:t>Corrections against the built system (33 units, PostgreSQL 17.6 on Supabase, Vue 3 + Express in TypeScript, Vercel)</a:t>
            </a:r>
            <a:endParaRPr lang="en-US" sz="1100" dirty="0"/>
          </a:p>
        </p:txBody>
      </p:sp>
      <p:sp>
        <p:nvSpPr>
          <p:cNvPr id="8" name="Chip"/>
          <p:cNvSpPr/>
          <p:nvPr/>
        </p:nvSpPr>
        <p:spPr>
          <a:xfrm>
            <a:off x="7589520" y="1175004"/>
            <a:ext cx="960120" cy="237744"/>
          </a:xfrm>
          <a:prstGeom prst="roundRect">
            <a:avLst>
              <a:gd name="adj" fmla="val 50000"/>
            </a:avLst>
          </a:prstGeom>
          <a:solidFill>
            <a:srgbClr val="0C66E4"/>
          </a:solidFill>
          <a:ln/>
        </p:spPr>
      </p:sp>
      <p:sp>
        <p:nvSpPr>
          <p:cNvPr id="9" name="Text 7"/>
          <p:cNvSpPr txBox="1"/>
          <p:nvPr/>
        </p:nvSpPr>
        <p:spPr>
          <a:xfrm>
            <a:off x="7589520" y="1175004"/>
            <a:ext cx="960120" cy="237744"/>
          </a:xfrm>
          <a:prstGeom prst="rect">
            <a:avLst/>
          </a:prstGeom>
          <a:noFill/>
          <a:ln/>
        </p:spPr>
        <p:txBody>
          <a:bodyPr wrap="square" lIns="0" tIns="0" rIns="0" bIns="0" rtlCol="0" anchor="ctr"/>
          <a:lstStyle/>
          <a:p>
            <a:pPr algn="ctr" indent="0" marL="0">
              <a:buNone/>
            </a:pPr>
            <a:r>
              <a:rPr lang="en-US" sz="950" b="1" dirty="0">
                <a:solidFill>
                  <a:srgbClr val="FFFFFF"/>
                </a:solidFill>
              </a:rPr>
              <a:t>Partial</a:t>
            </a:r>
            <a:endParaRPr lang="en-US" sz="950" dirty="0"/>
          </a:p>
        </p:txBody>
      </p:sp>
      <p:sp>
        <p:nvSpPr>
          <p:cNvPr id="10" name="Text 8"/>
          <p:cNvSpPr txBox="1"/>
          <p:nvPr/>
        </p:nvSpPr>
        <p:spPr>
          <a:xfrm>
            <a:off x="594360" y="1490472"/>
            <a:ext cx="1234440" cy="393192"/>
          </a:xfrm>
          <a:prstGeom prst="rect">
            <a:avLst/>
          </a:prstGeom>
          <a:noFill/>
          <a:ln/>
        </p:spPr>
        <p:txBody>
          <a:bodyPr wrap="square" lIns="0" tIns="0" rIns="0" bIns="0" rtlCol="0" anchor="ctr"/>
          <a:lstStyle/>
          <a:p>
            <a:pPr indent="0" marL="0">
              <a:buNone/>
            </a:pPr>
            <a:r>
              <a:rPr lang="en-US" sz="1150" b="1" dirty="0">
                <a:solidFill>
                  <a:schemeClr val="tx1"/>
                </a:solidFill>
              </a:rPr>
              <a:t>Ch. 4  §4.1</a:t>
            </a:r>
            <a:endParaRPr lang="en-US" sz="1150" dirty="0"/>
          </a:p>
        </p:txBody>
      </p:sp>
      <p:sp>
        <p:nvSpPr>
          <p:cNvPr id="11" name="Text 9"/>
          <p:cNvSpPr txBox="1"/>
          <p:nvPr/>
        </p:nvSpPr>
        <p:spPr>
          <a:xfrm>
            <a:off x="1874520" y="1490472"/>
            <a:ext cx="5577840" cy="393192"/>
          </a:xfrm>
          <a:prstGeom prst="rect">
            <a:avLst/>
          </a:prstGeom>
          <a:noFill/>
          <a:ln/>
        </p:spPr>
        <p:txBody>
          <a:bodyPr wrap="square" lIns="0" tIns="0" rIns="0" bIns="0" rtlCol="0" anchor="ctr"/>
          <a:lstStyle/>
          <a:p>
            <a:pPr indent="0" marL="0">
              <a:buNone/>
            </a:pPr>
            <a:r>
              <a:rPr lang="en-US" sz="1100" dirty="0">
                <a:solidFill>
                  <a:schemeClr val="tx1"/>
                </a:solidFill>
              </a:rPr>
              <a:t>Existing practices and requirements; one owner question left (Table 5)</a:t>
            </a:r>
            <a:endParaRPr lang="en-US" sz="1100" dirty="0"/>
          </a:p>
        </p:txBody>
      </p:sp>
      <p:sp>
        <p:nvSpPr>
          <p:cNvPr id="12" name="Chip"/>
          <p:cNvSpPr/>
          <p:nvPr/>
        </p:nvSpPr>
        <p:spPr>
          <a:xfrm>
            <a:off x="7589520" y="1568196"/>
            <a:ext cx="960120" cy="237744"/>
          </a:xfrm>
          <a:prstGeom prst="roundRect">
            <a:avLst>
              <a:gd name="adj" fmla="val 50000"/>
            </a:avLst>
          </a:prstGeom>
          <a:solidFill>
            <a:srgbClr val="0C66E4"/>
          </a:solidFill>
          <a:ln/>
        </p:spPr>
      </p:sp>
      <p:sp>
        <p:nvSpPr>
          <p:cNvPr id="13" name="Text 11"/>
          <p:cNvSpPr txBox="1"/>
          <p:nvPr/>
        </p:nvSpPr>
        <p:spPr>
          <a:xfrm>
            <a:off x="7589520" y="1568196"/>
            <a:ext cx="960120" cy="237744"/>
          </a:xfrm>
          <a:prstGeom prst="rect">
            <a:avLst/>
          </a:prstGeom>
          <a:noFill/>
          <a:ln/>
        </p:spPr>
        <p:txBody>
          <a:bodyPr wrap="square" lIns="0" tIns="0" rIns="0" bIns="0" rtlCol="0" anchor="ctr"/>
          <a:lstStyle/>
          <a:p>
            <a:pPr algn="ctr" indent="0" marL="0">
              <a:buNone/>
            </a:pPr>
            <a:r>
              <a:rPr lang="en-US" sz="950" b="1" dirty="0">
                <a:solidFill>
                  <a:srgbClr val="FFFFFF"/>
                </a:solidFill>
              </a:rPr>
              <a:t>Partial</a:t>
            </a:r>
            <a:endParaRPr lang="en-US" sz="950" dirty="0"/>
          </a:p>
        </p:txBody>
      </p:sp>
      <p:sp>
        <p:nvSpPr>
          <p:cNvPr id="14" name="Shape 12"/>
          <p:cNvSpPr/>
          <p:nvPr/>
        </p:nvSpPr>
        <p:spPr>
          <a:xfrm>
            <a:off x="457200" y="1883664"/>
            <a:ext cx="8229600" cy="393192"/>
          </a:xfrm>
          <a:prstGeom prst="rect">
            <a:avLst/>
          </a:prstGeom>
          <a:solidFill>
            <a:srgbClr val="EAF4EE"/>
          </a:solidFill>
          <a:ln/>
        </p:spPr>
      </p:sp>
      <p:sp>
        <p:nvSpPr>
          <p:cNvPr id="15" name="Text 13"/>
          <p:cNvSpPr txBox="1"/>
          <p:nvPr/>
        </p:nvSpPr>
        <p:spPr>
          <a:xfrm>
            <a:off x="594360" y="1883664"/>
            <a:ext cx="1234440" cy="393192"/>
          </a:xfrm>
          <a:prstGeom prst="rect">
            <a:avLst/>
          </a:prstGeom>
          <a:noFill/>
          <a:ln/>
        </p:spPr>
        <p:txBody>
          <a:bodyPr wrap="square" lIns="0" tIns="0" rIns="0" bIns="0" rtlCol="0" anchor="ctr"/>
          <a:lstStyle/>
          <a:p>
            <a:pPr indent="0" marL="0">
              <a:buNone/>
            </a:pPr>
            <a:r>
              <a:rPr lang="en-US" sz="1150" b="1" dirty="0">
                <a:solidFill>
                  <a:schemeClr val="tx1"/>
                </a:solidFill>
              </a:rPr>
              <a:t>Ch. 4  §4.2</a:t>
            </a:r>
            <a:endParaRPr lang="en-US" sz="1150" dirty="0"/>
          </a:p>
        </p:txBody>
      </p:sp>
      <p:sp>
        <p:nvSpPr>
          <p:cNvPr id="16" name="Text 14"/>
          <p:cNvSpPr txBox="1"/>
          <p:nvPr/>
        </p:nvSpPr>
        <p:spPr>
          <a:xfrm>
            <a:off x="1874520" y="1883664"/>
            <a:ext cx="5577840" cy="393192"/>
          </a:xfrm>
          <a:prstGeom prst="rect">
            <a:avLst/>
          </a:prstGeom>
          <a:noFill/>
          <a:ln/>
        </p:spPr>
        <p:txBody>
          <a:bodyPr wrap="square" lIns="0" tIns="0" rIns="0" bIns="0" rtlCol="0" anchor="ctr"/>
          <a:lstStyle/>
          <a:p>
            <a:pPr indent="0" marL="0">
              <a:buNone/>
            </a:pPr>
            <a:r>
              <a:rPr lang="en-US" sz="1100" dirty="0">
                <a:solidFill>
                  <a:schemeClr val="tx1"/>
                </a:solidFill>
              </a:rPr>
              <a:t>Development of the six modules; screenshots for Figures 4–8 left</a:t>
            </a:r>
            <a:endParaRPr lang="en-US" sz="1100" dirty="0"/>
          </a:p>
        </p:txBody>
      </p:sp>
      <p:sp>
        <p:nvSpPr>
          <p:cNvPr id="17" name="Chip"/>
          <p:cNvSpPr/>
          <p:nvPr/>
        </p:nvSpPr>
        <p:spPr>
          <a:xfrm>
            <a:off x="7589520" y="1961388"/>
            <a:ext cx="960120" cy="237744"/>
          </a:xfrm>
          <a:prstGeom prst="roundRect">
            <a:avLst>
              <a:gd name="adj" fmla="val 50000"/>
            </a:avLst>
          </a:prstGeom>
          <a:solidFill>
            <a:srgbClr val="0C66E4"/>
          </a:solidFill>
          <a:ln/>
        </p:spPr>
      </p:sp>
      <p:sp>
        <p:nvSpPr>
          <p:cNvPr id="18" name="Text 16"/>
          <p:cNvSpPr txBox="1"/>
          <p:nvPr/>
        </p:nvSpPr>
        <p:spPr>
          <a:xfrm>
            <a:off x="7589520" y="1961388"/>
            <a:ext cx="960120" cy="237744"/>
          </a:xfrm>
          <a:prstGeom prst="rect">
            <a:avLst/>
          </a:prstGeom>
          <a:noFill/>
          <a:ln/>
        </p:spPr>
        <p:txBody>
          <a:bodyPr wrap="square" lIns="0" tIns="0" rIns="0" bIns="0" rtlCol="0" anchor="ctr"/>
          <a:lstStyle/>
          <a:p>
            <a:pPr algn="ctr" indent="0" marL="0">
              <a:buNone/>
            </a:pPr>
            <a:r>
              <a:rPr lang="en-US" sz="950" b="1" dirty="0">
                <a:solidFill>
                  <a:srgbClr val="FFFFFF"/>
                </a:solidFill>
              </a:rPr>
              <a:t>Partial</a:t>
            </a:r>
            <a:endParaRPr lang="en-US" sz="950" dirty="0"/>
          </a:p>
        </p:txBody>
      </p:sp>
      <p:sp>
        <p:nvSpPr>
          <p:cNvPr id="19" name="Text 17"/>
          <p:cNvSpPr txBox="1"/>
          <p:nvPr/>
        </p:nvSpPr>
        <p:spPr>
          <a:xfrm>
            <a:off x="594360" y="2276856"/>
            <a:ext cx="1234440" cy="393192"/>
          </a:xfrm>
          <a:prstGeom prst="rect">
            <a:avLst/>
          </a:prstGeom>
          <a:noFill/>
          <a:ln/>
        </p:spPr>
        <p:txBody>
          <a:bodyPr wrap="square" lIns="0" tIns="0" rIns="0" bIns="0" rtlCol="0" anchor="ctr"/>
          <a:lstStyle/>
          <a:p>
            <a:pPr indent="0" marL="0">
              <a:buNone/>
            </a:pPr>
            <a:r>
              <a:rPr lang="en-US" sz="1150" b="1" dirty="0">
                <a:solidFill>
                  <a:schemeClr val="tx1"/>
                </a:solidFill>
              </a:rPr>
              <a:t>Ch. 4  §4.3</a:t>
            </a:r>
            <a:endParaRPr lang="en-US" sz="1150" dirty="0"/>
          </a:p>
        </p:txBody>
      </p:sp>
      <p:sp>
        <p:nvSpPr>
          <p:cNvPr id="20" name="Text 18"/>
          <p:cNvSpPr txBox="1"/>
          <p:nvPr/>
        </p:nvSpPr>
        <p:spPr>
          <a:xfrm>
            <a:off x="1874520" y="2276856"/>
            <a:ext cx="5577840" cy="393192"/>
          </a:xfrm>
          <a:prstGeom prst="rect">
            <a:avLst/>
          </a:prstGeom>
          <a:noFill/>
          <a:ln/>
        </p:spPr>
        <p:txBody>
          <a:bodyPr wrap="square" lIns="0" tIns="0" rIns="0" bIns="0" rtlCol="0" anchor="ctr"/>
          <a:lstStyle/>
          <a:p>
            <a:pPr indent="0" marL="0">
              <a:buNone/>
            </a:pPr>
            <a:r>
              <a:rPr lang="en-US" sz="1100" dirty="0">
                <a:solidFill>
                  <a:schemeClr val="tx1"/>
                </a:solidFill>
              </a:rPr>
              <a:t>Pilot testing: Tables 8, 10, 11, 11A–11D filled from real results</a:t>
            </a:r>
            <a:endParaRPr lang="en-US" sz="1100" dirty="0"/>
          </a:p>
        </p:txBody>
      </p:sp>
      <p:sp>
        <p:nvSpPr>
          <p:cNvPr id="21" name="Chip"/>
          <p:cNvSpPr/>
          <p:nvPr/>
        </p:nvSpPr>
        <p:spPr>
          <a:xfrm>
            <a:off x="7589520" y="2354580"/>
            <a:ext cx="960120" cy="237744"/>
          </a:xfrm>
          <a:prstGeom prst="roundRect">
            <a:avLst>
              <a:gd name="adj" fmla="val 50000"/>
            </a:avLst>
          </a:prstGeom>
          <a:solidFill>
            <a:srgbClr val="17603F"/>
          </a:solidFill>
          <a:ln/>
        </p:spPr>
      </p:sp>
      <p:sp>
        <p:nvSpPr>
          <p:cNvPr id="22" name="Text 20"/>
          <p:cNvSpPr txBox="1"/>
          <p:nvPr/>
        </p:nvSpPr>
        <p:spPr>
          <a:xfrm>
            <a:off x="7589520" y="2354580"/>
            <a:ext cx="960120" cy="237744"/>
          </a:xfrm>
          <a:prstGeom prst="rect">
            <a:avLst/>
          </a:prstGeom>
          <a:noFill/>
          <a:ln/>
        </p:spPr>
        <p:txBody>
          <a:bodyPr wrap="square" lIns="0" tIns="0" rIns="0" bIns="0" rtlCol="0" anchor="ctr"/>
          <a:lstStyle/>
          <a:p>
            <a:pPr algn="ctr" indent="0" marL="0">
              <a:buNone/>
            </a:pPr>
            <a:r>
              <a:rPr lang="en-US" sz="950" b="1" dirty="0">
                <a:solidFill>
                  <a:srgbClr val="FFFFFF"/>
                </a:solidFill>
              </a:rPr>
              <a:t>Completed</a:t>
            </a:r>
            <a:endParaRPr lang="en-US" sz="950" dirty="0"/>
          </a:p>
        </p:txBody>
      </p:sp>
      <p:sp>
        <p:nvSpPr>
          <p:cNvPr id="23" name="Shape 21"/>
          <p:cNvSpPr/>
          <p:nvPr/>
        </p:nvSpPr>
        <p:spPr>
          <a:xfrm>
            <a:off x="457200" y="2670048"/>
            <a:ext cx="8229600" cy="393192"/>
          </a:xfrm>
          <a:prstGeom prst="rect">
            <a:avLst/>
          </a:prstGeom>
          <a:solidFill>
            <a:srgbClr val="EAF4EE"/>
          </a:solidFill>
          <a:ln/>
        </p:spPr>
      </p:sp>
      <p:sp>
        <p:nvSpPr>
          <p:cNvPr id="24" name="Text 22"/>
          <p:cNvSpPr txBox="1"/>
          <p:nvPr/>
        </p:nvSpPr>
        <p:spPr>
          <a:xfrm>
            <a:off x="594360" y="2670048"/>
            <a:ext cx="1234440" cy="393192"/>
          </a:xfrm>
          <a:prstGeom prst="rect">
            <a:avLst/>
          </a:prstGeom>
          <a:noFill/>
          <a:ln/>
        </p:spPr>
        <p:txBody>
          <a:bodyPr wrap="square" lIns="0" tIns="0" rIns="0" bIns="0" rtlCol="0" anchor="ctr"/>
          <a:lstStyle/>
          <a:p>
            <a:pPr indent="0" marL="0">
              <a:buNone/>
            </a:pPr>
            <a:r>
              <a:rPr lang="en-US" sz="1150" b="1" dirty="0">
                <a:solidFill>
                  <a:schemeClr val="tx1"/>
                </a:solidFill>
              </a:rPr>
              <a:t>Ch. 4  §4.4</a:t>
            </a:r>
            <a:endParaRPr lang="en-US" sz="1150" dirty="0"/>
          </a:p>
        </p:txBody>
      </p:sp>
      <p:sp>
        <p:nvSpPr>
          <p:cNvPr id="25" name="Text 23"/>
          <p:cNvSpPr txBox="1"/>
          <p:nvPr/>
        </p:nvSpPr>
        <p:spPr>
          <a:xfrm>
            <a:off x="1874520" y="2670048"/>
            <a:ext cx="5577840" cy="393192"/>
          </a:xfrm>
          <a:prstGeom prst="rect">
            <a:avLst/>
          </a:prstGeom>
          <a:noFill/>
          <a:ln/>
        </p:spPr>
        <p:txBody>
          <a:bodyPr wrap="square" lIns="0" tIns="0" rIns="0" bIns="0" rtlCol="0" anchor="ctr"/>
          <a:lstStyle/>
          <a:p>
            <a:pPr indent="0" marL="0">
              <a:buNone/>
            </a:pPr>
            <a:r>
              <a:rPr lang="en-US" sz="1100" dirty="0">
                <a:solidFill>
                  <a:schemeClr val="tx1"/>
                </a:solidFill>
              </a:rPr>
              <a:t>ISO/IEC 25010 evaluation (Tables 12–22): survey with IT evaluators on 3 Oct</a:t>
            </a:r>
            <a:endParaRPr lang="en-US" sz="1100" dirty="0"/>
          </a:p>
        </p:txBody>
      </p:sp>
      <p:sp>
        <p:nvSpPr>
          <p:cNvPr id="26" name="Chip"/>
          <p:cNvSpPr/>
          <p:nvPr/>
        </p:nvSpPr>
        <p:spPr>
          <a:xfrm>
            <a:off x="7589520" y="2747772"/>
            <a:ext cx="960120" cy="237744"/>
          </a:xfrm>
          <a:prstGeom prst="roundRect">
            <a:avLst>
              <a:gd name="adj" fmla="val 50000"/>
            </a:avLst>
          </a:prstGeom>
          <a:solidFill>
            <a:srgbClr val="6B7280"/>
          </a:solidFill>
          <a:ln/>
        </p:spPr>
      </p:sp>
      <p:sp>
        <p:nvSpPr>
          <p:cNvPr id="27" name="Text 25"/>
          <p:cNvSpPr txBox="1"/>
          <p:nvPr/>
        </p:nvSpPr>
        <p:spPr>
          <a:xfrm>
            <a:off x="7589520" y="2747772"/>
            <a:ext cx="960120" cy="237744"/>
          </a:xfrm>
          <a:prstGeom prst="rect">
            <a:avLst/>
          </a:prstGeom>
          <a:noFill/>
          <a:ln/>
        </p:spPr>
        <p:txBody>
          <a:bodyPr wrap="square" lIns="0" tIns="0" rIns="0" bIns="0" rtlCol="0" anchor="ctr"/>
          <a:lstStyle/>
          <a:p>
            <a:pPr algn="ctr" indent="0" marL="0">
              <a:buNone/>
            </a:pPr>
            <a:r>
              <a:rPr lang="en-US" sz="950" b="1" dirty="0">
                <a:solidFill>
                  <a:srgbClr val="FFFFFF"/>
                </a:solidFill>
              </a:rPr>
              <a:t>Pending</a:t>
            </a:r>
            <a:endParaRPr lang="en-US" sz="950" dirty="0"/>
          </a:p>
        </p:txBody>
      </p:sp>
      <p:sp>
        <p:nvSpPr>
          <p:cNvPr id="28" name="Text 26"/>
          <p:cNvSpPr txBox="1"/>
          <p:nvPr/>
        </p:nvSpPr>
        <p:spPr>
          <a:xfrm>
            <a:off x="594360" y="3063240"/>
            <a:ext cx="1234440" cy="393192"/>
          </a:xfrm>
          <a:prstGeom prst="rect">
            <a:avLst/>
          </a:prstGeom>
          <a:noFill/>
          <a:ln/>
        </p:spPr>
        <p:txBody>
          <a:bodyPr wrap="square" lIns="0" tIns="0" rIns="0" bIns="0" rtlCol="0" anchor="ctr"/>
          <a:lstStyle/>
          <a:p>
            <a:pPr indent="0" marL="0">
              <a:buNone/>
            </a:pPr>
            <a:r>
              <a:rPr lang="en-US" sz="1150" b="1" dirty="0">
                <a:solidFill>
                  <a:schemeClr val="tx1"/>
                </a:solidFill>
              </a:rPr>
              <a:t>Ch. 4  §4.5</a:t>
            </a:r>
            <a:endParaRPr lang="en-US" sz="1150" dirty="0"/>
          </a:p>
        </p:txBody>
      </p:sp>
      <p:sp>
        <p:nvSpPr>
          <p:cNvPr id="29" name="Text 27"/>
          <p:cNvSpPr txBox="1"/>
          <p:nvPr/>
        </p:nvSpPr>
        <p:spPr>
          <a:xfrm>
            <a:off x="1874520" y="3063240"/>
            <a:ext cx="5577840" cy="393192"/>
          </a:xfrm>
          <a:prstGeom prst="rect">
            <a:avLst/>
          </a:prstGeom>
          <a:noFill/>
          <a:ln/>
        </p:spPr>
        <p:txBody>
          <a:bodyPr wrap="square" lIns="0" tIns="0" rIns="0" bIns="0" rtlCol="0" anchor="ctr"/>
          <a:lstStyle/>
          <a:p>
            <a:pPr indent="0" marL="0">
              <a:buNone/>
            </a:pPr>
            <a:r>
              <a:rPr lang="en-US" sz="1100" dirty="0">
                <a:solidFill>
                  <a:schemeClr val="tx1"/>
                </a:solidFill>
              </a:rPr>
              <a:t>Deployment plan: hosting and record transfer done; hand-over in progress</a:t>
            </a:r>
            <a:endParaRPr lang="en-US" sz="1100" dirty="0"/>
          </a:p>
        </p:txBody>
      </p:sp>
      <p:sp>
        <p:nvSpPr>
          <p:cNvPr id="30" name="Chip"/>
          <p:cNvSpPr/>
          <p:nvPr/>
        </p:nvSpPr>
        <p:spPr>
          <a:xfrm>
            <a:off x="7589520" y="3140964"/>
            <a:ext cx="960120" cy="237744"/>
          </a:xfrm>
          <a:prstGeom prst="roundRect">
            <a:avLst>
              <a:gd name="adj" fmla="val 50000"/>
            </a:avLst>
          </a:prstGeom>
          <a:solidFill>
            <a:srgbClr val="0C66E4"/>
          </a:solidFill>
          <a:ln/>
        </p:spPr>
      </p:sp>
      <p:sp>
        <p:nvSpPr>
          <p:cNvPr id="31" name="Text 29"/>
          <p:cNvSpPr txBox="1"/>
          <p:nvPr/>
        </p:nvSpPr>
        <p:spPr>
          <a:xfrm>
            <a:off x="7589520" y="3140964"/>
            <a:ext cx="960120" cy="237744"/>
          </a:xfrm>
          <a:prstGeom prst="rect">
            <a:avLst/>
          </a:prstGeom>
          <a:noFill/>
          <a:ln/>
        </p:spPr>
        <p:txBody>
          <a:bodyPr wrap="square" lIns="0" tIns="0" rIns="0" bIns="0" rtlCol="0" anchor="ctr"/>
          <a:lstStyle/>
          <a:p>
            <a:pPr algn="ctr" indent="0" marL="0">
              <a:buNone/>
            </a:pPr>
            <a:r>
              <a:rPr lang="en-US" sz="950" b="1" dirty="0">
                <a:solidFill>
                  <a:srgbClr val="FFFFFF"/>
                </a:solidFill>
              </a:rPr>
              <a:t>Partial</a:t>
            </a:r>
            <a:endParaRPr lang="en-US" sz="950" dirty="0"/>
          </a:p>
        </p:txBody>
      </p:sp>
      <p:sp>
        <p:nvSpPr>
          <p:cNvPr id="32" name="Shape 30"/>
          <p:cNvSpPr/>
          <p:nvPr/>
        </p:nvSpPr>
        <p:spPr>
          <a:xfrm>
            <a:off x="457200" y="3456432"/>
            <a:ext cx="8229600" cy="393192"/>
          </a:xfrm>
          <a:prstGeom prst="rect">
            <a:avLst/>
          </a:prstGeom>
          <a:solidFill>
            <a:srgbClr val="EAF4EE"/>
          </a:solidFill>
          <a:ln/>
        </p:spPr>
      </p:sp>
      <p:sp>
        <p:nvSpPr>
          <p:cNvPr id="33" name="Text 31"/>
          <p:cNvSpPr txBox="1"/>
          <p:nvPr/>
        </p:nvSpPr>
        <p:spPr>
          <a:xfrm>
            <a:off x="594360" y="3456432"/>
            <a:ext cx="1234440" cy="393192"/>
          </a:xfrm>
          <a:prstGeom prst="rect">
            <a:avLst/>
          </a:prstGeom>
          <a:noFill/>
          <a:ln/>
        </p:spPr>
        <p:txBody>
          <a:bodyPr wrap="square" lIns="0" tIns="0" rIns="0" bIns="0" rtlCol="0" anchor="ctr"/>
          <a:lstStyle/>
          <a:p>
            <a:pPr indent="0" marL="0">
              <a:buNone/>
            </a:pPr>
            <a:r>
              <a:rPr lang="en-US" sz="1150" b="1" dirty="0">
                <a:solidFill>
                  <a:schemeClr val="tx1"/>
                </a:solidFill>
              </a:rPr>
              <a:t>Chapter 5</a:t>
            </a:r>
            <a:endParaRPr lang="en-US" sz="1150" dirty="0"/>
          </a:p>
        </p:txBody>
      </p:sp>
      <p:sp>
        <p:nvSpPr>
          <p:cNvPr id="34" name="Text 32"/>
          <p:cNvSpPr txBox="1"/>
          <p:nvPr/>
        </p:nvSpPr>
        <p:spPr>
          <a:xfrm>
            <a:off x="1874520" y="3456432"/>
            <a:ext cx="5577840" cy="393192"/>
          </a:xfrm>
          <a:prstGeom prst="rect">
            <a:avLst/>
          </a:prstGeom>
          <a:noFill/>
          <a:ln/>
        </p:spPr>
        <p:txBody>
          <a:bodyPr wrap="square" lIns="0" tIns="0" rIns="0" bIns="0" rtlCol="0" anchor="ctr"/>
          <a:lstStyle/>
          <a:p>
            <a:pPr indent="0" marL="0">
              <a:buNone/>
            </a:pPr>
            <a:r>
              <a:rPr lang="en-US" sz="1100" dirty="0">
                <a:solidFill>
                  <a:schemeClr val="tx1"/>
                </a:solidFill>
              </a:rPr>
              <a:t>Summary, conclusions, recommendations drafted; final after survey</a:t>
            </a:r>
            <a:endParaRPr lang="en-US" sz="1100" dirty="0"/>
          </a:p>
        </p:txBody>
      </p:sp>
      <p:sp>
        <p:nvSpPr>
          <p:cNvPr id="35" name="Chip"/>
          <p:cNvSpPr/>
          <p:nvPr/>
        </p:nvSpPr>
        <p:spPr>
          <a:xfrm>
            <a:off x="7589520" y="3534156"/>
            <a:ext cx="960120" cy="237744"/>
          </a:xfrm>
          <a:prstGeom prst="roundRect">
            <a:avLst>
              <a:gd name="adj" fmla="val 50000"/>
            </a:avLst>
          </a:prstGeom>
          <a:solidFill>
            <a:srgbClr val="0C66E4"/>
          </a:solidFill>
          <a:ln/>
        </p:spPr>
      </p:sp>
      <p:sp>
        <p:nvSpPr>
          <p:cNvPr id="36" name="Text 34"/>
          <p:cNvSpPr txBox="1"/>
          <p:nvPr/>
        </p:nvSpPr>
        <p:spPr>
          <a:xfrm>
            <a:off x="7589520" y="3534156"/>
            <a:ext cx="960120" cy="237744"/>
          </a:xfrm>
          <a:prstGeom prst="rect">
            <a:avLst/>
          </a:prstGeom>
          <a:noFill/>
          <a:ln/>
        </p:spPr>
        <p:txBody>
          <a:bodyPr wrap="square" lIns="0" tIns="0" rIns="0" bIns="0" rtlCol="0" anchor="ctr"/>
          <a:lstStyle/>
          <a:p>
            <a:pPr algn="ctr" indent="0" marL="0">
              <a:buNone/>
            </a:pPr>
            <a:r>
              <a:rPr lang="en-US" sz="950" b="1" dirty="0">
                <a:solidFill>
                  <a:srgbClr val="FFFFFF"/>
                </a:solidFill>
              </a:rPr>
              <a:t>Partial</a:t>
            </a:r>
            <a:endParaRPr lang="en-US" sz="950" dirty="0"/>
          </a:p>
        </p:txBody>
      </p:sp>
      <p:sp>
        <p:nvSpPr>
          <p:cNvPr id="37" name="Text 35"/>
          <p:cNvSpPr txBox="1"/>
          <p:nvPr/>
        </p:nvSpPr>
        <p:spPr>
          <a:xfrm>
            <a:off x="594360" y="3849624"/>
            <a:ext cx="1234440" cy="393192"/>
          </a:xfrm>
          <a:prstGeom prst="rect">
            <a:avLst/>
          </a:prstGeom>
          <a:noFill/>
          <a:ln/>
        </p:spPr>
        <p:txBody>
          <a:bodyPr wrap="square" lIns="0" tIns="0" rIns="0" bIns="0" rtlCol="0" anchor="ctr"/>
          <a:lstStyle/>
          <a:p>
            <a:pPr indent="0" marL="0">
              <a:buNone/>
            </a:pPr>
            <a:r>
              <a:rPr lang="en-US" sz="1150" b="1" dirty="0">
                <a:solidFill>
                  <a:schemeClr val="tx1"/>
                </a:solidFill>
              </a:rPr>
              <a:t>Appendices</a:t>
            </a:r>
            <a:endParaRPr lang="en-US" sz="1150" dirty="0"/>
          </a:p>
        </p:txBody>
      </p:sp>
      <p:sp>
        <p:nvSpPr>
          <p:cNvPr id="38" name="Text 36"/>
          <p:cNvSpPr txBox="1"/>
          <p:nvPr/>
        </p:nvSpPr>
        <p:spPr>
          <a:xfrm>
            <a:off x="1874520" y="3849624"/>
            <a:ext cx="5577840" cy="393192"/>
          </a:xfrm>
          <a:prstGeom prst="rect">
            <a:avLst/>
          </a:prstGeom>
          <a:noFill/>
          <a:ln/>
        </p:spPr>
        <p:txBody>
          <a:bodyPr wrap="square" lIns="0" tIns="0" rIns="0" bIns="0" rtlCol="0" anchor="ctr"/>
          <a:lstStyle/>
          <a:p>
            <a:pPr indent="0" marL="0">
              <a:buNone/>
            </a:pPr>
            <a:r>
              <a:rPr lang="en-US" sz="1100" dirty="0">
                <a:solidFill>
                  <a:schemeClr val="tx1"/>
                </a:solidFill>
              </a:rPr>
              <a:t>User manual (App. K), consent form, test cases and forms</a:t>
            </a:r>
            <a:endParaRPr lang="en-US" sz="1100" dirty="0"/>
          </a:p>
        </p:txBody>
      </p:sp>
      <p:sp>
        <p:nvSpPr>
          <p:cNvPr id="39" name="Chip"/>
          <p:cNvSpPr/>
          <p:nvPr/>
        </p:nvSpPr>
        <p:spPr>
          <a:xfrm>
            <a:off x="7589520" y="3927348"/>
            <a:ext cx="960120" cy="237744"/>
          </a:xfrm>
          <a:prstGeom prst="roundRect">
            <a:avLst>
              <a:gd name="adj" fmla="val 50000"/>
            </a:avLst>
          </a:prstGeom>
          <a:solidFill>
            <a:srgbClr val="17603F"/>
          </a:solidFill>
          <a:ln/>
        </p:spPr>
      </p:sp>
      <p:sp>
        <p:nvSpPr>
          <p:cNvPr id="40" name="Text 38"/>
          <p:cNvSpPr txBox="1"/>
          <p:nvPr/>
        </p:nvSpPr>
        <p:spPr>
          <a:xfrm>
            <a:off x="7589520" y="3927348"/>
            <a:ext cx="960120" cy="237744"/>
          </a:xfrm>
          <a:prstGeom prst="rect">
            <a:avLst/>
          </a:prstGeom>
          <a:noFill/>
          <a:ln/>
        </p:spPr>
        <p:txBody>
          <a:bodyPr wrap="square" lIns="0" tIns="0" rIns="0" bIns="0" rtlCol="0" anchor="ctr"/>
          <a:lstStyle/>
          <a:p>
            <a:pPr algn="ctr" indent="0" marL="0">
              <a:buNone/>
            </a:pPr>
            <a:r>
              <a:rPr lang="en-US" sz="950" b="1" dirty="0">
                <a:solidFill>
                  <a:srgbClr val="FFFFFF"/>
                </a:solidFill>
              </a:rPr>
              <a:t>Completed</a:t>
            </a:r>
            <a:endParaRPr lang="en-US" sz="95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B7280"/>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6583680" cy="685800"/>
          </a:xfrm>
          <a:prstGeom prst="rect">
            <a:avLst/>
          </a:prstGeom>
          <a:noFill/>
          <a:ln/>
        </p:spPr>
        <p:txBody>
          <a:bodyPr wrap="square" lIns="0" tIns="0" rIns="0" bIns="0" rtlCol="0" anchor="ctr"/>
          <a:lstStyle/>
          <a:p>
            <a:pPr algn="l" indent="0" marL="0">
              <a:buNone/>
            </a:pPr>
            <a:r>
              <a:rPr lang="en-US" sz="2800" b="1" dirty="0">
                <a:solidFill>
                  <a:schemeClr val="tx1"/>
                </a:solidFill>
                <a:latin typeface="Cambria" pitchFamily="34" charset="0"/>
                <a:ea typeface="Cambria" pitchFamily="34" charset="-122"/>
                <a:cs typeface="Cambria" pitchFamily="34" charset="-120"/>
              </a:rPr>
              <a:t>System architecture</a:t>
            </a:r>
            <a:endParaRPr lang="en-US" sz="2800" dirty="0"/>
          </a:p>
        </p:txBody>
      </p:sp>
      <p:sp>
        <p:nvSpPr>
          <p:cNvPr id="3" name="Presenter tag"/>
          <p:cNvSpPr/>
          <p:nvPr/>
        </p:nvSpPr>
        <p:spPr>
          <a:xfrm>
            <a:off x="7178040" y="429768"/>
            <a:ext cx="1508760" cy="365760"/>
          </a:xfrm>
          <a:prstGeom prst="roundRect">
            <a:avLst>
              <a:gd name="adj" fmla="val 50000"/>
            </a:avLst>
          </a:prstGeom>
          <a:solidFill>
            <a:schemeClr val="accent2"/>
          </a:solidFill>
          <a:ln/>
        </p:spPr>
      </p:sp>
      <p:sp>
        <p:nvSpPr>
          <p:cNvPr id="4" name="Presenter name"/>
          <p:cNvSpPr txBox="1"/>
          <p:nvPr/>
        </p:nvSpPr>
        <p:spPr>
          <a:xfrm>
            <a:off x="7178040" y="429768"/>
            <a:ext cx="1508760" cy="365760"/>
          </a:xfrm>
          <a:prstGeom prst="rect">
            <a:avLst/>
          </a:prstGeom>
          <a:noFill/>
          <a:ln/>
        </p:spPr>
        <p:txBody>
          <a:bodyPr wrap="square" lIns="0" tIns="0" rIns="0" bIns="0" rtlCol="0" anchor="ctr"/>
          <a:lstStyle/>
          <a:p>
            <a:pPr algn="ctr" indent="0" marL="0">
              <a:buNone/>
            </a:pPr>
            <a:r>
              <a:rPr lang="en-US" sz="800" dirty="0">
                <a:solidFill>
                  <a:srgbClr val="7C4A03"/>
                </a:solidFill>
              </a:rPr>
              <a:t>PRESENTER  </a:t>
            </a:r>
            <a:pPr algn="ctr" indent="0" marL="0">
              <a:buNone/>
            </a:pPr>
            <a:r>
              <a:rPr lang="en-US" sz="1200" b="1" dirty="0">
                <a:solidFill>
                  <a:schemeClr val="tx1"/>
                </a:solidFill>
              </a:rPr>
              <a:t>Sean</a:t>
            </a:r>
            <a:endParaRPr lang="en-US" sz="800" dirty="0"/>
          </a:p>
        </p:txBody>
      </p:sp>
      <p:sp>
        <p:nvSpPr>
          <p:cNvPr id="5" name="Vercel boundary"/>
          <p:cNvSpPr/>
          <p:nvPr/>
        </p:nvSpPr>
        <p:spPr>
          <a:xfrm>
            <a:off x="1828800" y="1097280"/>
            <a:ext cx="4206240" cy="2331720"/>
          </a:xfrm>
          <a:prstGeom prst="roundRect">
            <a:avLst>
              <a:gd name="adj" fmla="val 3922"/>
            </a:avLst>
          </a:prstGeom>
          <a:solidFill>
            <a:srgbClr val="FFFFFF"/>
          </a:solidFill>
          <a:ln w="15875">
            <a:solidFill>
              <a:srgbClr val="17603F"/>
            </a:solidFill>
            <a:prstDash val="dash"/>
          </a:ln>
        </p:spPr>
      </p:sp>
      <p:sp>
        <p:nvSpPr>
          <p:cNvPr id="6" name="Text 4"/>
          <p:cNvSpPr txBox="1"/>
          <p:nvPr/>
        </p:nvSpPr>
        <p:spPr>
          <a:xfrm>
            <a:off x="1965960" y="1143000"/>
            <a:ext cx="3931920" cy="274320"/>
          </a:xfrm>
          <a:prstGeom prst="rect">
            <a:avLst/>
          </a:prstGeom>
          <a:noFill/>
          <a:ln/>
        </p:spPr>
        <p:txBody>
          <a:bodyPr wrap="square" lIns="0" tIns="0" rIns="0" bIns="0" rtlCol="0" anchor="ctr"/>
          <a:lstStyle/>
          <a:p>
            <a:pPr indent="0" marL="0">
              <a:buNone/>
            </a:pPr>
            <a:r>
              <a:rPr lang="en-US" sz="950" i="1" dirty="0">
                <a:solidFill>
                  <a:schemeClr val="accent1"/>
                </a:solidFill>
              </a:rPr>
              <a:t>Hosted on Vercel  ·  every approved change deploys automatically</a:t>
            </a:r>
            <a:endParaRPr lang="en-US" sz="950" dirty="0"/>
          </a:p>
        </p:txBody>
      </p:sp>
      <p:sp>
        <p:nvSpPr>
          <p:cNvPr id="7" name="Card"/>
          <p:cNvSpPr/>
          <p:nvPr/>
        </p:nvSpPr>
        <p:spPr>
          <a:xfrm>
            <a:off x="457200" y="1645920"/>
            <a:ext cx="1143000" cy="1325880"/>
          </a:xfrm>
          <a:prstGeom prst="roundRect">
            <a:avLst>
              <a:gd name="adj" fmla="val 6400"/>
            </a:avLst>
          </a:prstGeom>
          <a:solidFill>
            <a:srgbClr val="EAF4EE"/>
          </a:solidFill>
          <a:ln/>
        </p:spPr>
      </p:sp>
      <p:sp>
        <p:nvSpPr>
          <p:cNvPr id="8" name="Text 6"/>
          <p:cNvSpPr txBox="1"/>
          <p:nvPr/>
        </p:nvSpPr>
        <p:spPr>
          <a:xfrm>
            <a:off x="566928" y="1719072"/>
            <a:ext cx="923544" cy="1179576"/>
          </a:xfrm>
          <a:prstGeom prst="rect">
            <a:avLst/>
          </a:prstGeom>
          <a:noFill/>
          <a:ln/>
        </p:spPr>
        <p:txBody>
          <a:bodyPr wrap="square" lIns="0" tIns="0" rIns="0" bIns="0" rtlCol="0" anchor="ctr"/>
          <a:lstStyle/>
          <a:p>
            <a:pPr indent="0" marL="0">
              <a:buNone/>
            </a:pPr>
            <a:r>
              <a:rPr lang="en-US" sz="1300" b="1" dirty="0">
                <a:solidFill>
                  <a:srgbClr val="18261E"/>
                </a:solidFill>
              </a:rPr>
              <a:t>Users</a:t>
            </a:r>
            <a:endParaRPr lang="en-US" sz="1300" dirty="0"/>
          </a:p>
          <a:p>
            <a:pPr indent="0" marL="0">
              <a:buNone/>
            </a:pPr>
            <a:r>
              <a:rPr lang="en-US" sz="1000" dirty="0">
                <a:solidFill>
                  <a:srgbClr val="18261E"/>
                </a:solidFill>
              </a:rPr>
              <a:t>Owner</a:t>
            </a:r>
            <a:endParaRPr lang="en-US" sz="1300" dirty="0"/>
          </a:p>
          <a:p>
            <a:pPr indent="0" marL="0">
              <a:buNone/>
            </a:pPr>
            <a:r>
              <a:rPr lang="en-US" sz="1000" dirty="0">
                <a:solidFill>
                  <a:srgbClr val="18261E"/>
                </a:solidFill>
              </a:rPr>
              <a:t>Tenants</a:t>
            </a:r>
            <a:endParaRPr lang="en-US" sz="1300" dirty="0"/>
          </a:p>
          <a:p>
            <a:pPr indent="0" marL="0">
              <a:buNone/>
            </a:pPr>
            <a:r>
              <a:rPr lang="en-US" sz="1000" dirty="0">
                <a:solidFill>
                  <a:srgbClr val="18261E"/>
                </a:solidFill>
              </a:rPr>
              <a:t>Public visitors</a:t>
            </a:r>
            <a:endParaRPr lang="en-US" sz="1300" dirty="0"/>
          </a:p>
        </p:txBody>
      </p:sp>
      <p:sp>
        <p:nvSpPr>
          <p:cNvPr id="9" name="Card"/>
          <p:cNvSpPr/>
          <p:nvPr/>
        </p:nvSpPr>
        <p:spPr>
          <a:xfrm>
            <a:off x="2011680" y="1600200"/>
            <a:ext cx="1783080" cy="1463040"/>
          </a:xfrm>
          <a:prstGeom prst="roundRect">
            <a:avLst>
              <a:gd name="adj" fmla="val 5000"/>
            </a:avLst>
          </a:prstGeom>
          <a:solidFill>
            <a:srgbClr val="17603F"/>
          </a:solidFill>
          <a:ln/>
        </p:spPr>
      </p:sp>
      <p:sp>
        <p:nvSpPr>
          <p:cNvPr id="10" name="Text 8"/>
          <p:cNvSpPr txBox="1"/>
          <p:nvPr/>
        </p:nvSpPr>
        <p:spPr>
          <a:xfrm>
            <a:off x="2121408" y="1673352"/>
            <a:ext cx="1563624" cy="1316736"/>
          </a:xfrm>
          <a:prstGeom prst="rect">
            <a:avLst/>
          </a:prstGeom>
          <a:noFill/>
          <a:ln/>
        </p:spPr>
        <p:txBody>
          <a:bodyPr wrap="square" lIns="0" tIns="0" rIns="0" bIns="0" rtlCol="0" anchor="ctr"/>
          <a:lstStyle/>
          <a:p>
            <a:pPr indent="0" marL="0">
              <a:buNone/>
            </a:pPr>
            <a:r>
              <a:rPr lang="en-US" sz="1300" b="1" dirty="0">
                <a:solidFill>
                  <a:srgbClr val="FFFFFF"/>
                </a:solidFill>
              </a:rPr>
              <a:t>Vue 3 + TypeScript</a:t>
            </a:r>
            <a:endParaRPr lang="en-US" sz="1300" dirty="0"/>
          </a:p>
          <a:p>
            <a:pPr indent="0" marL="0">
              <a:buNone/>
            </a:pPr>
            <a:r>
              <a:rPr lang="en-US" sz="1000" dirty="0">
                <a:solidFill>
                  <a:srgbClr val="D5EADC"/>
                </a:solidFill>
              </a:rPr>
              <a:t>Progressive Web App: installable on a phone, works offline read-only</a:t>
            </a:r>
            <a:endParaRPr lang="en-US" sz="1300" dirty="0"/>
          </a:p>
        </p:txBody>
      </p:sp>
      <p:sp>
        <p:nvSpPr>
          <p:cNvPr id="11" name="Card"/>
          <p:cNvSpPr/>
          <p:nvPr/>
        </p:nvSpPr>
        <p:spPr>
          <a:xfrm>
            <a:off x="4069080" y="1600200"/>
            <a:ext cx="1783080" cy="1463040"/>
          </a:xfrm>
          <a:prstGeom prst="roundRect">
            <a:avLst>
              <a:gd name="adj" fmla="val 5000"/>
            </a:avLst>
          </a:prstGeom>
          <a:solidFill>
            <a:srgbClr val="17603F"/>
          </a:solidFill>
          <a:ln/>
        </p:spPr>
      </p:sp>
      <p:sp>
        <p:nvSpPr>
          <p:cNvPr id="12" name="Text 10"/>
          <p:cNvSpPr txBox="1"/>
          <p:nvPr/>
        </p:nvSpPr>
        <p:spPr>
          <a:xfrm>
            <a:off x="4178808" y="1673352"/>
            <a:ext cx="1563624" cy="1316736"/>
          </a:xfrm>
          <a:prstGeom prst="rect">
            <a:avLst/>
          </a:prstGeom>
          <a:noFill/>
          <a:ln/>
        </p:spPr>
        <p:txBody>
          <a:bodyPr wrap="square" lIns="0" tIns="0" rIns="0" bIns="0" rtlCol="0" anchor="ctr"/>
          <a:lstStyle/>
          <a:p>
            <a:pPr indent="0" marL="0">
              <a:buNone/>
            </a:pPr>
            <a:r>
              <a:rPr lang="en-US" sz="1300" b="1" dirty="0">
                <a:solidFill>
                  <a:srgbClr val="FFFFFF"/>
                </a:solidFill>
              </a:rPr>
              <a:t>Express API + TS</a:t>
            </a:r>
            <a:endParaRPr lang="en-US" sz="1300" dirty="0"/>
          </a:p>
          <a:p>
            <a:pPr indent="0" marL="0">
              <a:buNone/>
            </a:pPr>
            <a:r>
              <a:rPr lang="en-US" sz="1000" dirty="0">
                <a:solidFill>
                  <a:srgbClr val="D5EADC"/>
                </a:solidFill>
              </a:rPr>
              <a:t>All rules and money math on the server; 55 routes each declare a permission</a:t>
            </a:r>
            <a:endParaRPr lang="en-US" sz="1300" dirty="0"/>
          </a:p>
        </p:txBody>
      </p:sp>
      <p:sp>
        <p:nvSpPr>
          <p:cNvPr id="13" name="Card"/>
          <p:cNvSpPr/>
          <p:nvPr/>
        </p:nvSpPr>
        <p:spPr>
          <a:xfrm>
            <a:off x="6446520" y="1600200"/>
            <a:ext cx="2240280" cy="1463040"/>
          </a:xfrm>
          <a:prstGeom prst="roundRect">
            <a:avLst>
              <a:gd name="adj" fmla="val 5000"/>
            </a:avLst>
          </a:prstGeom>
          <a:solidFill>
            <a:srgbClr val="0E3B27"/>
          </a:solidFill>
          <a:ln/>
        </p:spPr>
      </p:sp>
      <p:sp>
        <p:nvSpPr>
          <p:cNvPr id="14" name="Text 12"/>
          <p:cNvSpPr txBox="1"/>
          <p:nvPr/>
        </p:nvSpPr>
        <p:spPr>
          <a:xfrm>
            <a:off x="6556248" y="1673352"/>
            <a:ext cx="2020824" cy="1316736"/>
          </a:xfrm>
          <a:prstGeom prst="rect">
            <a:avLst/>
          </a:prstGeom>
          <a:noFill/>
          <a:ln/>
        </p:spPr>
        <p:txBody>
          <a:bodyPr wrap="square" lIns="0" tIns="0" rIns="0" bIns="0" rtlCol="0" anchor="ctr"/>
          <a:lstStyle/>
          <a:p>
            <a:pPr indent="0" marL="0">
              <a:buNone/>
            </a:pPr>
            <a:r>
              <a:rPr lang="en-US" sz="1300" b="1" dirty="0">
                <a:solidFill>
                  <a:srgbClr val="FFFFFF"/>
                </a:solidFill>
              </a:rPr>
              <a:t>PostgreSQL 17.6</a:t>
            </a:r>
            <a:endParaRPr lang="en-US" sz="1300" dirty="0"/>
          </a:p>
          <a:p>
            <a:pPr indent="0" marL="0">
              <a:buNone/>
            </a:pPr>
            <a:r>
              <a:rPr lang="en-US" sz="1000" dirty="0">
                <a:solidFill>
                  <a:srgbClr val="D5EADC"/>
                </a:solidFill>
              </a:rPr>
              <a:t>Hosted on Supabase; row-level security on all 22 operational tables</a:t>
            </a:r>
            <a:endParaRPr lang="en-US" sz="1300" dirty="0"/>
          </a:p>
        </p:txBody>
      </p:sp>
      <p:sp>
        <p:nvSpPr>
          <p:cNvPr id="15" name="Card"/>
          <p:cNvSpPr/>
          <p:nvPr/>
        </p:nvSpPr>
        <p:spPr>
          <a:xfrm>
            <a:off x="4069080" y="3657600"/>
            <a:ext cx="1783080" cy="868680"/>
          </a:xfrm>
          <a:prstGeom prst="roundRect">
            <a:avLst>
              <a:gd name="adj" fmla="val 8421"/>
            </a:avLst>
          </a:prstGeom>
          <a:solidFill>
            <a:srgbClr val="FEF3C7"/>
          </a:solidFill>
          <a:ln/>
        </p:spPr>
      </p:sp>
      <p:sp>
        <p:nvSpPr>
          <p:cNvPr id="16" name="Text 14"/>
          <p:cNvSpPr txBox="1"/>
          <p:nvPr/>
        </p:nvSpPr>
        <p:spPr>
          <a:xfrm>
            <a:off x="4178808" y="3730752"/>
            <a:ext cx="1563624" cy="722376"/>
          </a:xfrm>
          <a:prstGeom prst="rect">
            <a:avLst/>
          </a:prstGeom>
          <a:noFill/>
          <a:ln/>
        </p:spPr>
        <p:txBody>
          <a:bodyPr wrap="square" lIns="0" tIns="0" rIns="0" bIns="0" rtlCol="0" anchor="ctr"/>
          <a:lstStyle/>
          <a:p>
            <a:pPr indent="0" marL="0">
              <a:buNone/>
            </a:pPr>
            <a:r>
              <a:rPr lang="en-US" sz="1300" b="1" dirty="0">
                <a:solidFill>
                  <a:srgbClr val="7C4A03"/>
                </a:solidFill>
              </a:rPr>
              <a:t>Adyen + GCash</a:t>
            </a:r>
            <a:endParaRPr lang="en-US" sz="1300" dirty="0"/>
          </a:p>
          <a:p>
            <a:pPr indent="0" marL="0">
              <a:buNone/>
            </a:pPr>
            <a:r>
              <a:rPr lang="en-US" sz="1000" dirty="0">
                <a:solidFill>
                  <a:srgbClr val="18261E"/>
                </a:solidFill>
              </a:rPr>
              <a:t>Optional online payment</a:t>
            </a:r>
            <a:endParaRPr lang="en-US" sz="1300" dirty="0"/>
          </a:p>
        </p:txBody>
      </p:sp>
      <p:sp>
        <p:nvSpPr>
          <p:cNvPr id="17" name="Shape 15"/>
          <p:cNvSpPr/>
          <p:nvPr/>
        </p:nvSpPr>
        <p:spPr>
          <a:xfrm>
            <a:off x="1627632" y="2331720"/>
            <a:ext cx="356616" cy="0"/>
          </a:xfrm>
          <a:prstGeom prst="line">
            <a:avLst/>
          </a:prstGeom>
          <a:noFill/>
          <a:ln w="19050">
            <a:solidFill>
              <a:srgbClr val="6B7280"/>
            </a:solidFill>
            <a:prstDash val="solid"/>
            <a:tailEnd type="triangle"/>
          </a:ln>
        </p:spPr>
      </p:sp>
      <p:sp>
        <p:nvSpPr>
          <p:cNvPr id="18" name="Shape 16"/>
          <p:cNvSpPr/>
          <p:nvPr/>
        </p:nvSpPr>
        <p:spPr>
          <a:xfrm>
            <a:off x="3813048" y="2331720"/>
            <a:ext cx="228600" cy="0"/>
          </a:xfrm>
          <a:prstGeom prst="line">
            <a:avLst/>
          </a:prstGeom>
          <a:noFill/>
          <a:ln w="19050">
            <a:solidFill>
              <a:srgbClr val="6B7280"/>
            </a:solidFill>
            <a:prstDash val="solid"/>
            <a:tailEnd type="triangle"/>
          </a:ln>
        </p:spPr>
      </p:sp>
      <p:sp>
        <p:nvSpPr>
          <p:cNvPr id="19" name="Shape 17"/>
          <p:cNvSpPr/>
          <p:nvPr/>
        </p:nvSpPr>
        <p:spPr>
          <a:xfrm>
            <a:off x="5870448" y="2331720"/>
            <a:ext cx="548640" cy="0"/>
          </a:xfrm>
          <a:prstGeom prst="line">
            <a:avLst/>
          </a:prstGeom>
          <a:noFill/>
          <a:ln w="19050">
            <a:solidFill>
              <a:srgbClr val="6B7280"/>
            </a:solidFill>
            <a:prstDash val="solid"/>
            <a:tailEnd type="triangle"/>
          </a:ln>
        </p:spPr>
      </p:sp>
      <p:sp>
        <p:nvSpPr>
          <p:cNvPr id="20" name="Shape 18"/>
          <p:cNvSpPr/>
          <p:nvPr/>
        </p:nvSpPr>
        <p:spPr>
          <a:xfrm>
            <a:off x="4960620" y="3090672"/>
            <a:ext cx="0" cy="548640"/>
          </a:xfrm>
          <a:prstGeom prst="line">
            <a:avLst/>
          </a:prstGeom>
          <a:noFill/>
          <a:ln w="19050">
            <a:solidFill>
              <a:srgbClr val="6B7280"/>
            </a:solidFill>
            <a:prstDash val="solid"/>
            <a:headEnd type="triangle"/>
            <a:tailEnd type="triangle"/>
          </a:ln>
        </p:spPr>
      </p:sp>
      <p:sp>
        <p:nvSpPr>
          <p:cNvPr id="21" name="Hex FaShieldAlt"/>
          <p:cNvSpPr/>
          <p:nvPr/>
        </p:nvSpPr>
        <p:spPr>
          <a:xfrm>
            <a:off x="6446520" y="3611880"/>
            <a:ext cx="457200" cy="402336"/>
          </a:xfrm>
          <a:prstGeom prst="hexagon">
            <a:avLst/>
          </a:prstGeom>
          <a:solidFill>
            <a:srgbClr val="17603F"/>
          </a:solidFill>
          <a:ln/>
        </p:spPr>
      </p:sp>
      <p:pic>
        <p:nvPicPr>
          <p:cNvPr id="22" name="Icon FaShieldAlt" descr="preencoded.png">    </p:cNvPr>
          <p:cNvPicPr>
            <a:picLocks noChangeAspect="1"/>
          </p:cNvPicPr>
          <p:nvPr/>
        </p:nvPicPr>
        <p:blipFill>
          <a:blip r:embed="rId1"/>
          <a:stretch>
            <a:fillRect/>
          </a:stretch>
        </p:blipFill>
        <p:spPr>
          <a:xfrm>
            <a:off x="6569964" y="3707892"/>
            <a:ext cx="210312" cy="210312"/>
          </a:xfrm>
          <a:prstGeom prst="rect">
            <a:avLst/>
          </a:prstGeom>
        </p:spPr>
      </p:pic>
      <p:sp>
        <p:nvSpPr>
          <p:cNvPr id="23" name="Text 20"/>
          <p:cNvSpPr txBox="1"/>
          <p:nvPr/>
        </p:nvSpPr>
        <p:spPr>
          <a:xfrm>
            <a:off x="6995160" y="3584448"/>
            <a:ext cx="1737360" cy="960120"/>
          </a:xfrm>
          <a:prstGeom prst="rect">
            <a:avLst/>
          </a:prstGeom>
          <a:noFill/>
          <a:ln/>
        </p:spPr>
        <p:txBody>
          <a:bodyPr wrap="square" lIns="0" tIns="0" rIns="0" bIns="0" rtlCol="0" anchor="ctr"/>
          <a:lstStyle/>
          <a:p>
            <a:pPr indent="0" marL="0">
              <a:buNone/>
            </a:pPr>
            <a:r>
              <a:rPr lang="en-US" sz="1000" dirty="0">
                <a:solidFill>
                  <a:schemeClr val="tx1"/>
                </a:solidFill>
              </a:rPr>
              <a:t>75 numbered migrations</a:t>
            </a:r>
            <a:endParaRPr lang="en-US" sz="1000" dirty="0"/>
          </a:p>
          <a:p>
            <a:pPr indent="0" marL="0">
              <a:buNone/>
            </a:pPr>
            <a:r>
              <a:rPr lang="en-US" sz="1000" dirty="0">
                <a:solidFill>
                  <a:schemeClr val="tx1"/>
                </a:solidFill>
              </a:rPr>
              <a:t>Backup before every data change</a:t>
            </a:r>
            <a:endParaRPr lang="en-US" sz="1000" dirty="0"/>
          </a:p>
          <a:p>
            <a:pPr indent="0" marL="0">
              <a:buNone/>
            </a:pPr>
            <a:r>
              <a:rPr lang="en-US" sz="1000" dirty="0">
                <a:solidFill>
                  <a:schemeClr val="tx1"/>
                </a:solidFill>
              </a:rPr>
              <a:t>Audit trail the app cannot edit</a:t>
            </a:r>
            <a:endParaRPr lang="en-US" sz="1000" dirty="0"/>
          </a:p>
        </p:txBody>
      </p:sp>
      <p:sp>
        <p:nvSpPr>
          <p:cNvPr id="24" name="Hex FaMobileAlt"/>
          <p:cNvSpPr/>
          <p:nvPr/>
        </p:nvSpPr>
        <p:spPr>
          <a:xfrm>
            <a:off x="457200" y="3611880"/>
            <a:ext cx="457200" cy="402336"/>
          </a:xfrm>
          <a:prstGeom prst="hexagon">
            <a:avLst/>
          </a:prstGeom>
          <a:solidFill>
            <a:srgbClr val="17603F"/>
          </a:solidFill>
          <a:ln/>
        </p:spPr>
      </p:sp>
      <p:pic>
        <p:nvPicPr>
          <p:cNvPr id="25" name="Icon FaMobileAlt" descr="preencoded.png">    </p:cNvPr>
          <p:cNvPicPr>
            <a:picLocks noChangeAspect="1"/>
          </p:cNvPicPr>
          <p:nvPr/>
        </p:nvPicPr>
        <p:blipFill>
          <a:blip r:embed="rId2"/>
          <a:stretch>
            <a:fillRect/>
          </a:stretch>
        </p:blipFill>
        <p:spPr>
          <a:xfrm>
            <a:off x="580644" y="3707892"/>
            <a:ext cx="210312" cy="210312"/>
          </a:xfrm>
          <a:prstGeom prst="rect">
            <a:avLst/>
          </a:prstGeom>
        </p:spPr>
      </p:pic>
      <p:sp>
        <p:nvSpPr>
          <p:cNvPr id="26" name="Text 22"/>
          <p:cNvSpPr txBox="1"/>
          <p:nvPr/>
        </p:nvSpPr>
        <p:spPr>
          <a:xfrm>
            <a:off x="1005840" y="3611880"/>
            <a:ext cx="1371600" cy="457200"/>
          </a:xfrm>
          <a:prstGeom prst="rect">
            <a:avLst/>
          </a:prstGeom>
          <a:noFill/>
          <a:ln/>
        </p:spPr>
        <p:txBody>
          <a:bodyPr wrap="square" lIns="0" tIns="0" rIns="0" bIns="0" rtlCol="0" anchor="ctr"/>
          <a:lstStyle/>
          <a:p>
            <a:pPr indent="0" marL="0">
              <a:buNone/>
            </a:pPr>
            <a:r>
              <a:rPr lang="en-US" sz="1000" dirty="0">
                <a:solidFill>
                  <a:schemeClr val="tx1"/>
                </a:solidFill>
              </a:rPr>
              <a:t>Installs from the browser: no app store</a:t>
            </a:r>
            <a:endParaRPr lang="en-US" sz="10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B7280"/>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6583680" cy="685800"/>
          </a:xfrm>
          <a:prstGeom prst="rect">
            <a:avLst/>
          </a:prstGeom>
          <a:noFill/>
          <a:ln/>
        </p:spPr>
        <p:txBody>
          <a:bodyPr wrap="square" lIns="0" tIns="0" rIns="0" bIns="0" rtlCol="0" anchor="ctr"/>
          <a:lstStyle/>
          <a:p>
            <a:pPr algn="l" indent="0" marL="0">
              <a:buNone/>
            </a:pPr>
            <a:r>
              <a:rPr lang="en-US" sz="2800" b="1" dirty="0">
                <a:solidFill>
                  <a:schemeClr val="tx1"/>
                </a:solidFill>
                <a:latin typeface="Cambria" pitchFamily="34" charset="0"/>
                <a:ea typeface="Cambria" pitchFamily="34" charset="-122"/>
                <a:cs typeface="Cambria" pitchFamily="34" charset="-120"/>
              </a:rPr>
              <a:t>Module status</a:t>
            </a:r>
            <a:endParaRPr lang="en-US" sz="2800" dirty="0"/>
          </a:p>
        </p:txBody>
      </p:sp>
      <p:sp>
        <p:nvSpPr>
          <p:cNvPr id="3" name="Presenter tag"/>
          <p:cNvSpPr/>
          <p:nvPr/>
        </p:nvSpPr>
        <p:spPr>
          <a:xfrm>
            <a:off x="7178040" y="429768"/>
            <a:ext cx="1508760" cy="365760"/>
          </a:xfrm>
          <a:prstGeom prst="roundRect">
            <a:avLst>
              <a:gd name="adj" fmla="val 50000"/>
            </a:avLst>
          </a:prstGeom>
          <a:solidFill>
            <a:schemeClr val="accent2"/>
          </a:solidFill>
          <a:ln/>
        </p:spPr>
      </p:sp>
      <p:sp>
        <p:nvSpPr>
          <p:cNvPr id="4" name="Presenter name"/>
          <p:cNvSpPr txBox="1"/>
          <p:nvPr/>
        </p:nvSpPr>
        <p:spPr>
          <a:xfrm>
            <a:off x="7178040" y="429768"/>
            <a:ext cx="1508760" cy="365760"/>
          </a:xfrm>
          <a:prstGeom prst="rect">
            <a:avLst/>
          </a:prstGeom>
          <a:noFill/>
          <a:ln/>
        </p:spPr>
        <p:txBody>
          <a:bodyPr wrap="square" lIns="0" tIns="0" rIns="0" bIns="0" rtlCol="0" anchor="ctr"/>
          <a:lstStyle/>
          <a:p>
            <a:pPr algn="ctr" indent="0" marL="0">
              <a:buNone/>
            </a:pPr>
            <a:r>
              <a:rPr lang="en-US" sz="800" dirty="0">
                <a:solidFill>
                  <a:srgbClr val="7C4A03"/>
                </a:solidFill>
              </a:rPr>
              <a:t>PRESENTER  </a:t>
            </a:r>
            <a:pPr algn="ctr" indent="0" marL="0">
              <a:buNone/>
            </a:pPr>
            <a:r>
              <a:rPr lang="en-US" sz="1200" b="1" dirty="0">
                <a:solidFill>
                  <a:schemeClr val="tx1"/>
                </a:solidFill>
              </a:rPr>
              <a:t>Sean</a:t>
            </a:r>
            <a:endParaRPr lang="en-US" sz="800" dirty="0"/>
          </a:p>
        </p:txBody>
      </p:sp>
      <p:sp>
        <p:nvSpPr>
          <p:cNvPr id="5" name="Card"/>
          <p:cNvSpPr/>
          <p:nvPr/>
        </p:nvSpPr>
        <p:spPr>
          <a:xfrm>
            <a:off x="457200" y="1097280"/>
            <a:ext cx="2651760" cy="978408"/>
          </a:xfrm>
          <a:prstGeom prst="roundRect">
            <a:avLst>
              <a:gd name="adj" fmla="val 7477"/>
            </a:avLst>
          </a:prstGeom>
          <a:solidFill>
            <a:srgbClr val="EAF4EE"/>
          </a:solidFill>
          <a:ln/>
        </p:spPr>
      </p:sp>
      <p:sp>
        <p:nvSpPr>
          <p:cNvPr id="6" name="Hex FaUserLock"/>
          <p:cNvSpPr/>
          <p:nvPr/>
        </p:nvSpPr>
        <p:spPr>
          <a:xfrm>
            <a:off x="566928" y="1261872"/>
            <a:ext cx="566928" cy="498897"/>
          </a:xfrm>
          <a:prstGeom prst="hexagon">
            <a:avLst/>
          </a:prstGeom>
          <a:solidFill>
            <a:srgbClr val="17603F"/>
          </a:solidFill>
          <a:ln/>
        </p:spPr>
      </p:sp>
      <p:pic>
        <p:nvPicPr>
          <p:cNvPr id="7" name="Icon FaUserLock" descr="preencoded.png">    </p:cNvPr>
          <p:cNvPicPr>
            <a:picLocks noChangeAspect="1"/>
          </p:cNvPicPr>
          <p:nvPr/>
        </p:nvPicPr>
        <p:blipFill>
          <a:blip r:embed="rId1"/>
          <a:stretch>
            <a:fillRect/>
          </a:stretch>
        </p:blipFill>
        <p:spPr>
          <a:xfrm>
            <a:off x="719999" y="1380927"/>
            <a:ext cx="260787" cy="260787"/>
          </a:xfrm>
          <a:prstGeom prst="rect">
            <a:avLst/>
          </a:prstGeom>
        </p:spPr>
      </p:pic>
      <p:sp>
        <p:nvSpPr>
          <p:cNvPr id="8" name="Text 5"/>
          <p:cNvSpPr txBox="1"/>
          <p:nvPr/>
        </p:nvSpPr>
        <p:spPr>
          <a:xfrm>
            <a:off x="1234440" y="1188720"/>
            <a:ext cx="1783080" cy="438912"/>
          </a:xfrm>
          <a:prstGeom prst="rect">
            <a:avLst/>
          </a:prstGeom>
          <a:noFill/>
          <a:ln/>
        </p:spPr>
        <p:txBody>
          <a:bodyPr wrap="square" lIns="0" tIns="0" rIns="0" bIns="0" rtlCol="0" anchor="ctr"/>
          <a:lstStyle/>
          <a:p>
            <a:pPr indent="0" marL="0">
              <a:buNone/>
            </a:pPr>
            <a:r>
              <a:rPr lang="en-US" sz="1150" b="1" dirty="0">
                <a:solidFill>
                  <a:schemeClr val="tx1"/>
                </a:solidFill>
              </a:rPr>
              <a:t>Authentication &amp; Access Control</a:t>
            </a:r>
            <a:endParaRPr lang="en-US" sz="1150" dirty="0"/>
          </a:p>
        </p:txBody>
      </p:sp>
      <p:sp>
        <p:nvSpPr>
          <p:cNvPr id="9" name="Text 6"/>
          <p:cNvSpPr txBox="1"/>
          <p:nvPr/>
        </p:nvSpPr>
        <p:spPr>
          <a:xfrm>
            <a:off x="1234440" y="1600200"/>
            <a:ext cx="1783080" cy="411480"/>
          </a:xfrm>
          <a:prstGeom prst="rect">
            <a:avLst/>
          </a:prstGeom>
          <a:noFill/>
          <a:ln/>
        </p:spPr>
        <p:txBody>
          <a:bodyPr wrap="square" lIns="0" tIns="0" rIns="0" bIns="0" rtlCol="0" anchor="t"/>
          <a:lstStyle/>
          <a:p>
            <a:pPr indent="0" marL="0">
              <a:buNone/>
            </a:pPr>
            <a:r>
              <a:rPr lang="en-US" sz="950" dirty="0">
                <a:solidFill>
                  <a:schemeClr val="tx1"/>
                </a:solidFill>
              </a:rPr>
              <a:t>Own starting passwords, login IDs, lockout, RLS</a:t>
            </a:r>
            <a:endParaRPr lang="en-US" sz="950" dirty="0"/>
          </a:p>
        </p:txBody>
      </p:sp>
      <p:sp>
        <p:nvSpPr>
          <p:cNvPr id="10" name="Card"/>
          <p:cNvSpPr/>
          <p:nvPr/>
        </p:nvSpPr>
        <p:spPr>
          <a:xfrm>
            <a:off x="3246120" y="1097280"/>
            <a:ext cx="2651760" cy="978408"/>
          </a:xfrm>
          <a:prstGeom prst="roundRect">
            <a:avLst>
              <a:gd name="adj" fmla="val 7477"/>
            </a:avLst>
          </a:prstGeom>
          <a:solidFill>
            <a:srgbClr val="EAF4EE"/>
          </a:solidFill>
          <a:ln/>
        </p:spPr>
      </p:sp>
      <p:sp>
        <p:nvSpPr>
          <p:cNvPr id="11" name="Hex FaDoorOpen"/>
          <p:cNvSpPr/>
          <p:nvPr/>
        </p:nvSpPr>
        <p:spPr>
          <a:xfrm>
            <a:off x="3355848" y="1261872"/>
            <a:ext cx="566928" cy="498897"/>
          </a:xfrm>
          <a:prstGeom prst="hexagon">
            <a:avLst/>
          </a:prstGeom>
          <a:solidFill>
            <a:srgbClr val="17603F"/>
          </a:solidFill>
          <a:ln/>
        </p:spPr>
      </p:sp>
      <p:pic>
        <p:nvPicPr>
          <p:cNvPr id="12" name="Icon FaDoorOpen" descr="preencoded.png">    </p:cNvPr>
          <p:cNvPicPr>
            <a:picLocks noChangeAspect="1"/>
          </p:cNvPicPr>
          <p:nvPr/>
        </p:nvPicPr>
        <p:blipFill>
          <a:blip r:embed="rId2"/>
          <a:stretch>
            <a:fillRect/>
          </a:stretch>
        </p:blipFill>
        <p:spPr>
          <a:xfrm>
            <a:off x="3508919" y="1380927"/>
            <a:ext cx="260787" cy="260787"/>
          </a:xfrm>
          <a:prstGeom prst="rect">
            <a:avLst/>
          </a:prstGeom>
        </p:spPr>
      </p:pic>
      <p:sp>
        <p:nvSpPr>
          <p:cNvPr id="13" name="Text 9"/>
          <p:cNvSpPr txBox="1"/>
          <p:nvPr/>
        </p:nvSpPr>
        <p:spPr>
          <a:xfrm>
            <a:off x="4023360" y="1188720"/>
            <a:ext cx="1783080" cy="438912"/>
          </a:xfrm>
          <a:prstGeom prst="rect">
            <a:avLst/>
          </a:prstGeom>
          <a:noFill/>
          <a:ln/>
        </p:spPr>
        <p:txBody>
          <a:bodyPr wrap="square" lIns="0" tIns="0" rIns="0" bIns="0" rtlCol="0" anchor="ctr"/>
          <a:lstStyle/>
          <a:p>
            <a:pPr indent="0" marL="0">
              <a:buNone/>
            </a:pPr>
            <a:r>
              <a:rPr lang="en-US" sz="1150" b="1" dirty="0">
                <a:solidFill>
                  <a:schemeClr val="tx1"/>
                </a:solidFill>
              </a:rPr>
              <a:t>Tenant &amp; Room Management</a:t>
            </a:r>
            <a:endParaRPr lang="en-US" sz="1150" dirty="0"/>
          </a:p>
        </p:txBody>
      </p:sp>
      <p:sp>
        <p:nvSpPr>
          <p:cNvPr id="14" name="Text 10"/>
          <p:cNvSpPr txBox="1"/>
          <p:nvPr/>
        </p:nvSpPr>
        <p:spPr>
          <a:xfrm>
            <a:off x="4023360" y="1600200"/>
            <a:ext cx="1783080" cy="411480"/>
          </a:xfrm>
          <a:prstGeom prst="rect">
            <a:avLst/>
          </a:prstGeom>
          <a:noFill/>
          <a:ln/>
        </p:spPr>
        <p:txBody>
          <a:bodyPr wrap="square" lIns="0" tIns="0" rIns="0" bIns="0" rtlCol="0" anchor="t"/>
          <a:lstStyle/>
          <a:p>
            <a:pPr indent="0" marL="0">
              <a:buNone/>
            </a:pPr>
            <a:r>
              <a:rPr lang="en-US" sz="950" dirty="0">
                <a:solidFill>
                  <a:schemeClr val="tx1"/>
                </a:solidFill>
              </a:rPr>
              <a:t>33 units, tenancies, rate history by trigger</a:t>
            </a:r>
            <a:endParaRPr lang="en-US" sz="950" dirty="0"/>
          </a:p>
        </p:txBody>
      </p:sp>
      <p:sp>
        <p:nvSpPr>
          <p:cNvPr id="15" name="Card"/>
          <p:cNvSpPr/>
          <p:nvPr/>
        </p:nvSpPr>
        <p:spPr>
          <a:xfrm>
            <a:off x="457200" y="2194560"/>
            <a:ext cx="2651760" cy="978408"/>
          </a:xfrm>
          <a:prstGeom prst="roundRect">
            <a:avLst>
              <a:gd name="adj" fmla="val 7477"/>
            </a:avLst>
          </a:prstGeom>
          <a:solidFill>
            <a:srgbClr val="EAF4EE"/>
          </a:solidFill>
          <a:ln/>
        </p:spPr>
      </p:sp>
      <p:sp>
        <p:nvSpPr>
          <p:cNvPr id="16" name="Hex FaGlobeAsia"/>
          <p:cNvSpPr/>
          <p:nvPr/>
        </p:nvSpPr>
        <p:spPr>
          <a:xfrm>
            <a:off x="566928" y="2359152"/>
            <a:ext cx="566928" cy="498897"/>
          </a:xfrm>
          <a:prstGeom prst="hexagon">
            <a:avLst/>
          </a:prstGeom>
          <a:solidFill>
            <a:srgbClr val="17603F"/>
          </a:solidFill>
          <a:ln/>
        </p:spPr>
      </p:sp>
      <p:pic>
        <p:nvPicPr>
          <p:cNvPr id="17" name="Icon FaGlobeAsia" descr="preencoded.png">    </p:cNvPr>
          <p:cNvPicPr>
            <a:picLocks noChangeAspect="1"/>
          </p:cNvPicPr>
          <p:nvPr/>
        </p:nvPicPr>
        <p:blipFill>
          <a:blip r:embed="rId3"/>
          <a:stretch>
            <a:fillRect/>
          </a:stretch>
        </p:blipFill>
        <p:spPr>
          <a:xfrm>
            <a:off x="719999" y="2478207"/>
            <a:ext cx="260787" cy="260787"/>
          </a:xfrm>
          <a:prstGeom prst="rect">
            <a:avLst/>
          </a:prstGeom>
        </p:spPr>
      </p:pic>
      <p:sp>
        <p:nvSpPr>
          <p:cNvPr id="18" name="Text 13"/>
          <p:cNvSpPr txBox="1"/>
          <p:nvPr/>
        </p:nvSpPr>
        <p:spPr>
          <a:xfrm>
            <a:off x="1234440" y="2286000"/>
            <a:ext cx="1783080" cy="438912"/>
          </a:xfrm>
          <a:prstGeom prst="rect">
            <a:avLst/>
          </a:prstGeom>
          <a:noFill/>
          <a:ln/>
        </p:spPr>
        <p:txBody>
          <a:bodyPr wrap="square" lIns="0" tIns="0" rIns="0" bIns="0" rtlCol="0" anchor="ctr"/>
          <a:lstStyle/>
          <a:p>
            <a:pPr indent="0" marL="0">
              <a:buNone/>
            </a:pPr>
            <a:r>
              <a:rPr lang="en-US" sz="1150" b="1" dirty="0">
                <a:solidFill>
                  <a:schemeClr val="tx1"/>
                </a:solidFill>
              </a:rPr>
              <a:t>Booking &amp; Enquiries</a:t>
            </a:r>
            <a:endParaRPr lang="en-US" sz="1150" dirty="0"/>
          </a:p>
        </p:txBody>
      </p:sp>
      <p:sp>
        <p:nvSpPr>
          <p:cNvPr id="19" name="Text 14"/>
          <p:cNvSpPr txBox="1"/>
          <p:nvPr/>
        </p:nvSpPr>
        <p:spPr>
          <a:xfrm>
            <a:off x="1234440" y="2697480"/>
            <a:ext cx="1783080" cy="411480"/>
          </a:xfrm>
          <a:prstGeom prst="rect">
            <a:avLst/>
          </a:prstGeom>
          <a:noFill/>
          <a:ln/>
        </p:spPr>
        <p:txBody>
          <a:bodyPr wrap="square" lIns="0" tIns="0" rIns="0" bIns="0" rtlCol="0" anchor="t"/>
          <a:lstStyle/>
          <a:p>
            <a:pPr indent="0" marL="0">
              <a:buNone/>
            </a:pPr>
            <a:r>
              <a:rPr lang="en-US" sz="950" dirty="0">
                <a:solidFill>
                  <a:schemeClr val="tx1"/>
                </a:solidFill>
              </a:rPr>
              <a:t>Public catalogue, enquiry inbox, private reply link</a:t>
            </a:r>
            <a:endParaRPr lang="en-US" sz="950" dirty="0"/>
          </a:p>
        </p:txBody>
      </p:sp>
      <p:sp>
        <p:nvSpPr>
          <p:cNvPr id="20" name="Card"/>
          <p:cNvSpPr/>
          <p:nvPr/>
        </p:nvSpPr>
        <p:spPr>
          <a:xfrm>
            <a:off x="3246120" y="2194560"/>
            <a:ext cx="2651760" cy="978408"/>
          </a:xfrm>
          <a:prstGeom prst="roundRect">
            <a:avLst>
              <a:gd name="adj" fmla="val 7477"/>
            </a:avLst>
          </a:prstGeom>
          <a:solidFill>
            <a:srgbClr val="EAF4EE"/>
          </a:solidFill>
          <a:ln/>
        </p:spPr>
      </p:sp>
      <p:sp>
        <p:nvSpPr>
          <p:cNvPr id="21" name="Hex FaReceipt"/>
          <p:cNvSpPr/>
          <p:nvPr/>
        </p:nvSpPr>
        <p:spPr>
          <a:xfrm>
            <a:off x="3355848" y="2359152"/>
            <a:ext cx="566928" cy="498897"/>
          </a:xfrm>
          <a:prstGeom prst="hexagon">
            <a:avLst/>
          </a:prstGeom>
          <a:solidFill>
            <a:srgbClr val="17603F"/>
          </a:solidFill>
          <a:ln/>
        </p:spPr>
      </p:sp>
      <p:pic>
        <p:nvPicPr>
          <p:cNvPr id="22" name="Icon FaReceipt" descr="preencoded.png">    </p:cNvPr>
          <p:cNvPicPr>
            <a:picLocks noChangeAspect="1"/>
          </p:cNvPicPr>
          <p:nvPr/>
        </p:nvPicPr>
        <p:blipFill>
          <a:blip r:embed="rId4"/>
          <a:stretch>
            <a:fillRect/>
          </a:stretch>
        </p:blipFill>
        <p:spPr>
          <a:xfrm>
            <a:off x="3508919" y="2478207"/>
            <a:ext cx="260787" cy="260787"/>
          </a:xfrm>
          <a:prstGeom prst="rect">
            <a:avLst/>
          </a:prstGeom>
        </p:spPr>
      </p:pic>
      <p:sp>
        <p:nvSpPr>
          <p:cNvPr id="23" name="Text 17"/>
          <p:cNvSpPr txBox="1"/>
          <p:nvPr/>
        </p:nvSpPr>
        <p:spPr>
          <a:xfrm>
            <a:off x="4023360" y="2286000"/>
            <a:ext cx="1783080" cy="438912"/>
          </a:xfrm>
          <a:prstGeom prst="rect">
            <a:avLst/>
          </a:prstGeom>
          <a:noFill/>
          <a:ln/>
        </p:spPr>
        <p:txBody>
          <a:bodyPr wrap="square" lIns="0" tIns="0" rIns="0" bIns="0" rtlCol="0" anchor="ctr"/>
          <a:lstStyle/>
          <a:p>
            <a:pPr indent="0" marL="0">
              <a:buNone/>
            </a:pPr>
            <a:r>
              <a:rPr lang="en-US" sz="1150" b="1" dirty="0">
                <a:solidFill>
                  <a:schemeClr val="tx1"/>
                </a:solidFill>
              </a:rPr>
              <a:t>Financial Tracking &amp; Payments</a:t>
            </a:r>
            <a:endParaRPr lang="en-US" sz="1150" dirty="0"/>
          </a:p>
        </p:txBody>
      </p:sp>
      <p:sp>
        <p:nvSpPr>
          <p:cNvPr id="24" name="Text 18"/>
          <p:cNvSpPr txBox="1"/>
          <p:nvPr/>
        </p:nvSpPr>
        <p:spPr>
          <a:xfrm>
            <a:off x="4023360" y="2697480"/>
            <a:ext cx="1783080" cy="411480"/>
          </a:xfrm>
          <a:prstGeom prst="rect">
            <a:avLst/>
          </a:prstGeom>
          <a:noFill/>
          <a:ln/>
        </p:spPr>
        <p:txBody>
          <a:bodyPr wrap="square" lIns="0" tIns="0" rIns="0" bIns="0" rtlCol="0" anchor="t"/>
          <a:lstStyle/>
          <a:p>
            <a:pPr indent="0" marL="0">
              <a:buNone/>
            </a:pPr>
            <a:r>
              <a:rPr lang="en-US" sz="950" dirty="0">
                <a:solidFill>
                  <a:schemeClr val="tx1"/>
                </a:solidFill>
              </a:rPr>
              <a:t>Bills, receipts, GCash verification, Excel</a:t>
            </a:r>
            <a:endParaRPr lang="en-US" sz="950" dirty="0"/>
          </a:p>
        </p:txBody>
      </p:sp>
      <p:sp>
        <p:nvSpPr>
          <p:cNvPr id="25" name="Card"/>
          <p:cNvSpPr/>
          <p:nvPr/>
        </p:nvSpPr>
        <p:spPr>
          <a:xfrm>
            <a:off x="457200" y="3291840"/>
            <a:ext cx="2651760" cy="978408"/>
          </a:xfrm>
          <a:prstGeom prst="roundRect">
            <a:avLst>
              <a:gd name="adj" fmla="val 7477"/>
            </a:avLst>
          </a:prstGeom>
          <a:solidFill>
            <a:srgbClr val="EAF4EE"/>
          </a:solidFill>
          <a:ln/>
        </p:spPr>
      </p:sp>
      <p:sp>
        <p:nvSpPr>
          <p:cNvPr id="26" name="Hex FaTools"/>
          <p:cNvSpPr/>
          <p:nvPr/>
        </p:nvSpPr>
        <p:spPr>
          <a:xfrm>
            <a:off x="566928" y="3456432"/>
            <a:ext cx="566928" cy="498897"/>
          </a:xfrm>
          <a:prstGeom prst="hexagon">
            <a:avLst/>
          </a:prstGeom>
          <a:solidFill>
            <a:srgbClr val="17603F"/>
          </a:solidFill>
          <a:ln/>
        </p:spPr>
      </p:sp>
      <p:pic>
        <p:nvPicPr>
          <p:cNvPr id="27" name="Icon FaTools" descr="preencoded.png">    </p:cNvPr>
          <p:cNvPicPr>
            <a:picLocks noChangeAspect="1"/>
          </p:cNvPicPr>
          <p:nvPr/>
        </p:nvPicPr>
        <p:blipFill>
          <a:blip r:embed="rId5"/>
          <a:stretch>
            <a:fillRect/>
          </a:stretch>
        </p:blipFill>
        <p:spPr>
          <a:xfrm>
            <a:off x="719999" y="3575487"/>
            <a:ext cx="260787" cy="260787"/>
          </a:xfrm>
          <a:prstGeom prst="rect">
            <a:avLst/>
          </a:prstGeom>
        </p:spPr>
      </p:pic>
      <p:sp>
        <p:nvSpPr>
          <p:cNvPr id="28" name="Text 21"/>
          <p:cNvSpPr txBox="1"/>
          <p:nvPr/>
        </p:nvSpPr>
        <p:spPr>
          <a:xfrm>
            <a:off x="1234440" y="3383280"/>
            <a:ext cx="1783080" cy="438912"/>
          </a:xfrm>
          <a:prstGeom prst="rect">
            <a:avLst/>
          </a:prstGeom>
          <a:noFill/>
          <a:ln/>
        </p:spPr>
        <p:txBody>
          <a:bodyPr wrap="square" lIns="0" tIns="0" rIns="0" bIns="0" rtlCol="0" anchor="ctr"/>
          <a:lstStyle/>
          <a:p>
            <a:pPr indent="0" marL="0">
              <a:buNone/>
            </a:pPr>
            <a:r>
              <a:rPr lang="en-US" sz="1150" b="1" dirty="0">
                <a:solidFill>
                  <a:schemeClr val="tx1"/>
                </a:solidFill>
              </a:rPr>
              <a:t>Maintenance &amp; Notifications</a:t>
            </a:r>
            <a:endParaRPr lang="en-US" sz="1150" dirty="0"/>
          </a:p>
        </p:txBody>
      </p:sp>
      <p:sp>
        <p:nvSpPr>
          <p:cNvPr id="29" name="Text 22"/>
          <p:cNvSpPr txBox="1"/>
          <p:nvPr/>
        </p:nvSpPr>
        <p:spPr>
          <a:xfrm>
            <a:off x="1234440" y="3794760"/>
            <a:ext cx="1783080" cy="411480"/>
          </a:xfrm>
          <a:prstGeom prst="rect">
            <a:avLst/>
          </a:prstGeom>
          <a:noFill/>
          <a:ln/>
        </p:spPr>
        <p:txBody>
          <a:bodyPr wrap="square" lIns="0" tIns="0" rIns="0" bIns="0" rtlCol="0" anchor="t"/>
          <a:lstStyle/>
          <a:p>
            <a:pPr indent="0" marL="0">
              <a:buNone/>
            </a:pPr>
            <a:r>
              <a:rPr lang="en-US" sz="950" dirty="0">
                <a:solidFill>
                  <a:schemeClr val="tx1"/>
                </a:solidFill>
              </a:rPr>
              <a:t>Repairs with photos, threads, in-app alerts</a:t>
            </a:r>
            <a:endParaRPr lang="en-US" sz="950" dirty="0"/>
          </a:p>
        </p:txBody>
      </p:sp>
      <p:sp>
        <p:nvSpPr>
          <p:cNvPr id="30" name="Card"/>
          <p:cNvSpPr/>
          <p:nvPr/>
        </p:nvSpPr>
        <p:spPr>
          <a:xfrm>
            <a:off x="3246120" y="3291840"/>
            <a:ext cx="2651760" cy="978408"/>
          </a:xfrm>
          <a:prstGeom prst="roundRect">
            <a:avLst>
              <a:gd name="adj" fmla="val 7477"/>
            </a:avLst>
          </a:prstGeom>
          <a:solidFill>
            <a:srgbClr val="EAF4EE"/>
          </a:solidFill>
          <a:ln/>
        </p:spPr>
      </p:sp>
      <p:sp>
        <p:nvSpPr>
          <p:cNvPr id="31" name="Hex FaMobileAlt"/>
          <p:cNvSpPr/>
          <p:nvPr/>
        </p:nvSpPr>
        <p:spPr>
          <a:xfrm>
            <a:off x="3355848" y="3456432"/>
            <a:ext cx="566928" cy="498897"/>
          </a:xfrm>
          <a:prstGeom prst="hexagon">
            <a:avLst/>
          </a:prstGeom>
          <a:solidFill>
            <a:srgbClr val="17603F"/>
          </a:solidFill>
          <a:ln/>
        </p:spPr>
      </p:sp>
      <p:pic>
        <p:nvPicPr>
          <p:cNvPr id="32" name="Icon FaMobileAlt" descr="preencoded.png">    </p:cNvPr>
          <p:cNvPicPr>
            <a:picLocks noChangeAspect="1"/>
          </p:cNvPicPr>
          <p:nvPr/>
        </p:nvPicPr>
        <p:blipFill>
          <a:blip r:embed="rId6"/>
          <a:stretch>
            <a:fillRect/>
          </a:stretch>
        </p:blipFill>
        <p:spPr>
          <a:xfrm>
            <a:off x="3508919" y="3575487"/>
            <a:ext cx="260787" cy="260787"/>
          </a:xfrm>
          <a:prstGeom prst="rect">
            <a:avLst/>
          </a:prstGeom>
        </p:spPr>
      </p:pic>
      <p:sp>
        <p:nvSpPr>
          <p:cNvPr id="33" name="Text 25"/>
          <p:cNvSpPr txBox="1"/>
          <p:nvPr/>
        </p:nvSpPr>
        <p:spPr>
          <a:xfrm>
            <a:off x="4023360" y="3383280"/>
            <a:ext cx="1783080" cy="438912"/>
          </a:xfrm>
          <a:prstGeom prst="rect">
            <a:avLst/>
          </a:prstGeom>
          <a:noFill/>
          <a:ln/>
        </p:spPr>
        <p:txBody>
          <a:bodyPr wrap="square" lIns="0" tIns="0" rIns="0" bIns="0" rtlCol="0" anchor="ctr"/>
          <a:lstStyle/>
          <a:p>
            <a:pPr indent="0" marL="0">
              <a:buNone/>
            </a:pPr>
            <a:r>
              <a:rPr lang="en-US" sz="1150" b="1" dirty="0">
                <a:solidFill>
                  <a:schemeClr val="tx1"/>
                </a:solidFill>
              </a:rPr>
              <a:t>Progressive Web App</a:t>
            </a:r>
            <a:endParaRPr lang="en-US" sz="1150" dirty="0"/>
          </a:p>
        </p:txBody>
      </p:sp>
      <p:sp>
        <p:nvSpPr>
          <p:cNvPr id="34" name="Text 26"/>
          <p:cNvSpPr txBox="1"/>
          <p:nvPr/>
        </p:nvSpPr>
        <p:spPr>
          <a:xfrm>
            <a:off x="4023360" y="3794760"/>
            <a:ext cx="1783080" cy="411480"/>
          </a:xfrm>
          <a:prstGeom prst="rect">
            <a:avLst/>
          </a:prstGeom>
          <a:noFill/>
          <a:ln/>
        </p:spPr>
        <p:txBody>
          <a:bodyPr wrap="square" lIns="0" tIns="0" rIns="0" bIns="0" rtlCol="0" anchor="t"/>
          <a:lstStyle/>
          <a:p>
            <a:pPr indent="0" marL="0">
              <a:buNone/>
            </a:pPr>
            <a:r>
              <a:rPr lang="en-US" sz="950" dirty="0">
                <a:solidFill>
                  <a:schemeClr val="tx1"/>
                </a:solidFill>
              </a:rPr>
              <a:t>Installable; offline copy of essentials</a:t>
            </a:r>
            <a:endParaRPr lang="en-US" sz="950" dirty="0"/>
          </a:p>
        </p:txBody>
      </p:sp>
      <p:sp>
        <p:nvSpPr>
          <p:cNvPr id="35" name="Text 27"/>
          <p:cNvSpPr txBox="1"/>
          <p:nvPr/>
        </p:nvSpPr>
        <p:spPr>
          <a:xfrm>
            <a:off x="457200" y="4315968"/>
            <a:ext cx="5440680" cy="274320"/>
          </a:xfrm>
          <a:prstGeom prst="rect">
            <a:avLst/>
          </a:prstGeom>
          <a:noFill/>
          <a:ln/>
        </p:spPr>
        <p:txBody>
          <a:bodyPr wrap="square" lIns="0" tIns="0" rIns="0" bIns="0" rtlCol="0" anchor="ctr"/>
          <a:lstStyle/>
          <a:p>
            <a:pPr indent="0" marL="0">
              <a:buNone/>
            </a:pPr>
            <a:r>
              <a:rPr lang="en-US" sz="1050" b="1" dirty="0">
                <a:solidFill>
                  <a:schemeClr val="accent1"/>
                </a:solidFill>
              </a:rPr>
              <a:t>All six modules: </a:t>
            </a:r>
            <a:pPr indent="0" marL="0">
              <a:buNone/>
            </a:pPr>
            <a:r>
              <a:rPr lang="en-US" sz="1050" dirty="0">
                <a:solidFill>
                  <a:schemeClr val="accent1"/>
                </a:solidFill>
              </a:rPr>
              <a:t>Completed and running on live data</a:t>
            </a:r>
            <a:endParaRPr lang="en-US" sz="1050" dirty="0"/>
          </a:p>
        </p:txBody>
      </p:sp>
      <p:sp>
        <p:nvSpPr>
          <p:cNvPr id="36" name="Card"/>
          <p:cNvSpPr/>
          <p:nvPr/>
        </p:nvSpPr>
        <p:spPr>
          <a:xfrm>
            <a:off x="6172200" y="1097280"/>
            <a:ext cx="2514600" cy="3337560"/>
          </a:xfrm>
          <a:prstGeom prst="roundRect">
            <a:avLst>
              <a:gd name="adj" fmla="val 2909"/>
            </a:avLst>
          </a:prstGeom>
          <a:solidFill>
            <a:srgbClr val="FEF3C7"/>
          </a:solidFill>
          <a:ln/>
        </p:spPr>
      </p:sp>
      <p:sp>
        <p:nvSpPr>
          <p:cNvPr id="37" name="Text 29"/>
          <p:cNvSpPr txBox="1"/>
          <p:nvPr/>
        </p:nvSpPr>
        <p:spPr>
          <a:xfrm>
            <a:off x="6355080" y="1234440"/>
            <a:ext cx="2194560" cy="365760"/>
          </a:xfrm>
          <a:prstGeom prst="rect">
            <a:avLst/>
          </a:prstGeom>
          <a:noFill/>
          <a:ln/>
        </p:spPr>
        <p:txBody>
          <a:bodyPr wrap="square" lIns="0" tIns="0" rIns="0" bIns="0" rtlCol="0" anchor="ctr"/>
          <a:lstStyle/>
          <a:p>
            <a:pPr indent="0" marL="0">
              <a:buNone/>
            </a:pPr>
            <a:r>
              <a:rPr lang="en-US" sz="1500" b="1" dirty="0">
                <a:solidFill>
                  <a:srgbClr val="7C4A03"/>
                </a:solidFill>
              </a:rPr>
              <a:t>Still open</a:t>
            </a:r>
            <a:endParaRPr lang="en-US" sz="1500" dirty="0"/>
          </a:p>
        </p:txBody>
      </p:sp>
      <p:sp>
        <p:nvSpPr>
          <p:cNvPr id="38" name="Text 30"/>
          <p:cNvSpPr txBox="1"/>
          <p:nvPr/>
        </p:nvSpPr>
        <p:spPr>
          <a:xfrm>
            <a:off x="6355080" y="1691640"/>
            <a:ext cx="2194560" cy="2560320"/>
          </a:xfrm>
          <a:prstGeom prst="rect">
            <a:avLst/>
          </a:prstGeom>
          <a:noFill/>
          <a:ln/>
        </p:spPr>
        <p:txBody>
          <a:bodyPr wrap="square" lIns="0" tIns="0" rIns="0" bIns="0" rtlCol="0" anchor="t"/>
          <a:lstStyle/>
          <a:p>
            <a:pPr indent="0" marL="0">
              <a:buNone/>
            </a:pPr>
            <a:r>
              <a:rPr lang="en-US" sz="1100" b="1" dirty="0">
                <a:solidFill>
                  <a:schemeClr val="tx1"/>
                </a:solidFill>
              </a:rPr>
              <a:t>ISO/IEC 25010 evaluation</a:t>
            </a:r>
            <a:endParaRPr lang="en-US" sz="1100" dirty="0"/>
          </a:p>
          <a:p>
            <a:pPr indent="0" marL="0">
              <a:buNone/>
            </a:pPr>
            <a:r>
              <a:rPr lang="en-US" sz="1100" dirty="0">
                <a:solidFill>
                  <a:schemeClr val="tx1"/>
                </a:solidFill>
              </a:rPr>
              <a:t>Survey with IT evaluators, 3 October</a:t>
            </a:r>
            <a:endParaRPr lang="en-US" sz="1100" dirty="0"/>
          </a:p>
          <a:p>
            <a:pPr indent="0" marL="0">
              <a:buNone/>
            </a:pPr>
            <a:r>
              <a:rPr lang="en-US" sz="600" dirty="0">
                <a:solidFill>
                  <a:schemeClr val="tx1"/>
                </a:solidFill>
              </a:rPr>
              <a:t> </a:t>
            </a:r>
            <a:endParaRPr lang="en-US" sz="1100" dirty="0"/>
          </a:p>
          <a:p>
            <a:pPr indent="0" marL="0">
              <a:buNone/>
            </a:pPr>
            <a:r>
              <a:rPr lang="en-US" sz="1100" b="1" dirty="0">
                <a:solidFill>
                  <a:schemeClr val="tx1"/>
                </a:solidFill>
              </a:rPr>
              <a:t>Training and hand-over</a:t>
            </a:r>
            <a:endParaRPr lang="en-US" sz="1100" dirty="0"/>
          </a:p>
          <a:p>
            <a:pPr indent="0" marL="0">
              <a:buNone/>
            </a:pPr>
            <a:r>
              <a:rPr lang="en-US" sz="1100" dirty="0">
                <a:solidFill>
                  <a:schemeClr val="tx1"/>
                </a:solidFill>
              </a:rPr>
              <a:t>Owner and tenants; user manual handed over</a:t>
            </a:r>
            <a:endParaRPr lang="en-US" sz="1100" dirty="0"/>
          </a:p>
          <a:p>
            <a:pPr indent="0" marL="0">
              <a:buNone/>
            </a:pPr>
            <a:r>
              <a:rPr lang="en-US" sz="600" dirty="0">
                <a:solidFill>
                  <a:schemeClr val="tx1"/>
                </a:solidFill>
              </a:rPr>
              <a:t> </a:t>
            </a:r>
            <a:endParaRPr lang="en-US" sz="1100" dirty="0"/>
          </a:p>
          <a:p>
            <a:pPr indent="0" marL="0">
              <a:buNone/>
            </a:pPr>
            <a:r>
              <a:rPr lang="en-US" sz="1100" i="1" dirty="0">
                <a:solidFill>
                  <a:srgbClr val="7C4A03"/>
                </a:solidFill>
              </a:rPr>
              <a:t>Neither is code. Both need people.</a:t>
            </a:r>
            <a:endParaRPr lang="en-US" sz="11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B7280"/>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6583680" cy="685800"/>
          </a:xfrm>
          <a:prstGeom prst="rect">
            <a:avLst/>
          </a:prstGeom>
          <a:noFill/>
          <a:ln/>
        </p:spPr>
        <p:txBody>
          <a:bodyPr wrap="square" lIns="0" tIns="0" rIns="0" bIns="0" rtlCol="0" anchor="ctr"/>
          <a:lstStyle/>
          <a:p>
            <a:pPr algn="l" indent="0" marL="0">
              <a:buNone/>
            </a:pPr>
            <a:r>
              <a:rPr lang="en-US" sz="2800" b="1" dirty="0">
                <a:solidFill>
                  <a:schemeClr val="tx1"/>
                </a:solidFill>
                <a:latin typeface="Cambria" pitchFamily="34" charset="0"/>
                <a:ea typeface="Cambria" pitchFamily="34" charset="-122"/>
                <a:cs typeface="Cambria" pitchFamily="34" charset="-120"/>
              </a:rPr>
              <a:t>Features: the owner's side</a:t>
            </a:r>
            <a:endParaRPr lang="en-US" sz="2800" dirty="0"/>
          </a:p>
        </p:txBody>
      </p:sp>
      <p:sp>
        <p:nvSpPr>
          <p:cNvPr id="3" name="Presenter tag"/>
          <p:cNvSpPr/>
          <p:nvPr/>
        </p:nvSpPr>
        <p:spPr>
          <a:xfrm>
            <a:off x="7178040" y="429768"/>
            <a:ext cx="1508760" cy="365760"/>
          </a:xfrm>
          <a:prstGeom prst="roundRect">
            <a:avLst>
              <a:gd name="adj" fmla="val 50000"/>
            </a:avLst>
          </a:prstGeom>
          <a:solidFill>
            <a:schemeClr val="accent2"/>
          </a:solidFill>
          <a:ln/>
        </p:spPr>
      </p:sp>
      <p:sp>
        <p:nvSpPr>
          <p:cNvPr id="4" name="Presenter name"/>
          <p:cNvSpPr txBox="1"/>
          <p:nvPr/>
        </p:nvSpPr>
        <p:spPr>
          <a:xfrm>
            <a:off x="7178040" y="429768"/>
            <a:ext cx="1508760" cy="365760"/>
          </a:xfrm>
          <a:prstGeom prst="rect">
            <a:avLst/>
          </a:prstGeom>
          <a:noFill/>
          <a:ln/>
        </p:spPr>
        <p:txBody>
          <a:bodyPr wrap="square" lIns="0" tIns="0" rIns="0" bIns="0" rtlCol="0" anchor="ctr"/>
          <a:lstStyle/>
          <a:p>
            <a:pPr algn="ctr" indent="0" marL="0">
              <a:buNone/>
            </a:pPr>
            <a:r>
              <a:rPr lang="en-US" sz="800" dirty="0">
                <a:solidFill>
                  <a:srgbClr val="7C4A03"/>
                </a:solidFill>
              </a:rPr>
              <a:t>PRESENTER  </a:t>
            </a:r>
            <a:pPr algn="ctr" indent="0" marL="0">
              <a:buNone/>
            </a:pPr>
            <a:r>
              <a:rPr lang="en-US" sz="1200" b="1" dirty="0">
                <a:solidFill>
                  <a:schemeClr val="tx1"/>
                </a:solidFill>
              </a:rPr>
              <a:t>Vince</a:t>
            </a:r>
            <a:endParaRPr lang="en-US" sz="800" dirty="0"/>
          </a:p>
        </p:txBody>
      </p:sp>
      <p:sp>
        <p:nvSpPr>
          <p:cNvPr id="5" name="Card"/>
          <p:cNvSpPr/>
          <p:nvPr/>
        </p:nvSpPr>
        <p:spPr>
          <a:xfrm>
            <a:off x="457200" y="1097280"/>
            <a:ext cx="4023360" cy="1600200"/>
          </a:xfrm>
          <a:prstGeom prst="roundRect">
            <a:avLst>
              <a:gd name="adj" fmla="val 4571"/>
            </a:avLst>
          </a:prstGeom>
          <a:solidFill>
            <a:srgbClr val="EAF4EE"/>
          </a:solidFill>
          <a:ln/>
        </p:spPr>
      </p:sp>
      <p:sp>
        <p:nvSpPr>
          <p:cNvPr id="6" name="Hex FaBookOpen"/>
          <p:cNvSpPr/>
          <p:nvPr/>
        </p:nvSpPr>
        <p:spPr>
          <a:xfrm>
            <a:off x="640080" y="1325880"/>
            <a:ext cx="640080" cy="563270"/>
          </a:xfrm>
          <a:prstGeom prst="hexagon">
            <a:avLst/>
          </a:prstGeom>
          <a:solidFill>
            <a:srgbClr val="17603F"/>
          </a:solidFill>
          <a:ln/>
        </p:spPr>
      </p:sp>
      <p:pic>
        <p:nvPicPr>
          <p:cNvPr id="7" name="Icon FaBookOpen" descr="preencoded.png">    </p:cNvPr>
          <p:cNvPicPr>
            <a:picLocks noChangeAspect="1"/>
          </p:cNvPicPr>
          <p:nvPr/>
        </p:nvPicPr>
        <p:blipFill>
          <a:blip r:embed="rId1"/>
          <a:stretch>
            <a:fillRect/>
          </a:stretch>
        </p:blipFill>
        <p:spPr>
          <a:xfrm>
            <a:off x="812902" y="1460297"/>
            <a:ext cx="294437" cy="294437"/>
          </a:xfrm>
          <a:prstGeom prst="rect">
            <a:avLst/>
          </a:prstGeom>
        </p:spPr>
      </p:pic>
      <p:sp>
        <p:nvSpPr>
          <p:cNvPr id="8" name="Text 5"/>
          <p:cNvSpPr txBox="1"/>
          <p:nvPr/>
        </p:nvSpPr>
        <p:spPr>
          <a:xfrm>
            <a:off x="1463040" y="1261872"/>
            <a:ext cx="2880360" cy="365760"/>
          </a:xfrm>
          <a:prstGeom prst="rect">
            <a:avLst/>
          </a:prstGeom>
          <a:noFill/>
          <a:ln/>
        </p:spPr>
        <p:txBody>
          <a:bodyPr wrap="square" lIns="0" tIns="0" rIns="0" bIns="0" rtlCol="0" anchor="ctr"/>
          <a:lstStyle/>
          <a:p>
            <a:pPr indent="0" marL="0">
              <a:buNone/>
            </a:pPr>
            <a:r>
              <a:rPr lang="en-US" sz="1350" b="1" dirty="0">
                <a:solidFill>
                  <a:schemeClr val="tx1"/>
                </a:solidFill>
              </a:rPr>
              <a:t>Monthly Income &amp; Monthly Expenses</a:t>
            </a:r>
            <a:endParaRPr lang="en-US" sz="1350" dirty="0"/>
          </a:p>
        </p:txBody>
      </p:sp>
      <p:sp>
        <p:nvSpPr>
          <p:cNvPr id="9" name="Text 6"/>
          <p:cNvSpPr txBox="1"/>
          <p:nvPr/>
        </p:nvSpPr>
        <p:spPr>
          <a:xfrm>
            <a:off x="1463040" y="1645920"/>
            <a:ext cx="2880360" cy="960120"/>
          </a:xfrm>
          <a:prstGeom prst="rect">
            <a:avLst/>
          </a:prstGeom>
          <a:noFill/>
          <a:ln/>
        </p:spPr>
        <p:txBody>
          <a:bodyPr wrap="square" lIns="0" tIns="0" rIns="0" bIns="0" rtlCol="0" anchor="t"/>
          <a:lstStyle/>
          <a:p>
            <a:pPr indent="0" marL="0">
              <a:buNone/>
            </a:pPr>
            <a:r>
              <a:rPr lang="en-US" sz="1100" dirty="0">
                <a:solidFill>
                  <a:schemeClr val="tx1"/>
                </a:solidFill>
              </a:rPr>
              <a:t>Named after her two workbook sheets and laid out the same way. Income is filed under the month the rent is for.</a:t>
            </a:r>
            <a:endParaRPr lang="en-US" sz="1100" dirty="0"/>
          </a:p>
        </p:txBody>
      </p:sp>
      <p:sp>
        <p:nvSpPr>
          <p:cNvPr id="10" name="Card"/>
          <p:cNvSpPr/>
          <p:nvPr/>
        </p:nvSpPr>
        <p:spPr>
          <a:xfrm>
            <a:off x="4663440" y="1097280"/>
            <a:ext cx="4023360" cy="1600200"/>
          </a:xfrm>
          <a:prstGeom prst="roundRect">
            <a:avLst>
              <a:gd name="adj" fmla="val 4571"/>
            </a:avLst>
          </a:prstGeom>
          <a:solidFill>
            <a:srgbClr val="EAF4EE"/>
          </a:solidFill>
          <a:ln/>
        </p:spPr>
      </p:sp>
      <p:sp>
        <p:nvSpPr>
          <p:cNvPr id="11" name="Hex FaTint"/>
          <p:cNvSpPr/>
          <p:nvPr/>
        </p:nvSpPr>
        <p:spPr>
          <a:xfrm>
            <a:off x="4846320" y="1325880"/>
            <a:ext cx="640080" cy="563270"/>
          </a:xfrm>
          <a:prstGeom prst="hexagon">
            <a:avLst/>
          </a:prstGeom>
          <a:solidFill>
            <a:srgbClr val="17603F"/>
          </a:solidFill>
          <a:ln/>
        </p:spPr>
      </p:sp>
      <p:pic>
        <p:nvPicPr>
          <p:cNvPr id="12" name="Icon FaTint" descr="preencoded.png">    </p:cNvPr>
          <p:cNvPicPr>
            <a:picLocks noChangeAspect="1"/>
          </p:cNvPicPr>
          <p:nvPr/>
        </p:nvPicPr>
        <p:blipFill>
          <a:blip r:embed="rId2"/>
          <a:stretch>
            <a:fillRect/>
          </a:stretch>
        </p:blipFill>
        <p:spPr>
          <a:xfrm>
            <a:off x="5019142" y="1460297"/>
            <a:ext cx="294437" cy="294437"/>
          </a:xfrm>
          <a:prstGeom prst="rect">
            <a:avLst/>
          </a:prstGeom>
        </p:spPr>
      </p:pic>
      <p:sp>
        <p:nvSpPr>
          <p:cNvPr id="13" name="Text 9"/>
          <p:cNvSpPr txBox="1"/>
          <p:nvPr/>
        </p:nvSpPr>
        <p:spPr>
          <a:xfrm>
            <a:off x="5669280" y="1261872"/>
            <a:ext cx="2880360" cy="365760"/>
          </a:xfrm>
          <a:prstGeom prst="rect">
            <a:avLst/>
          </a:prstGeom>
          <a:noFill/>
          <a:ln/>
        </p:spPr>
        <p:txBody>
          <a:bodyPr wrap="square" lIns="0" tIns="0" rIns="0" bIns="0" rtlCol="0" anchor="ctr"/>
          <a:lstStyle/>
          <a:p>
            <a:pPr indent="0" marL="0">
              <a:buNone/>
            </a:pPr>
            <a:r>
              <a:rPr lang="en-US" sz="1350" b="1" dirty="0">
                <a:solidFill>
                  <a:schemeClr val="tx1"/>
                </a:solidFill>
              </a:rPr>
              <a:t>Bills: rent + water</a:t>
            </a:r>
            <a:endParaRPr lang="en-US" sz="1350" dirty="0"/>
          </a:p>
        </p:txBody>
      </p:sp>
      <p:sp>
        <p:nvSpPr>
          <p:cNvPr id="14" name="Text 10"/>
          <p:cNvSpPr txBox="1"/>
          <p:nvPr/>
        </p:nvSpPr>
        <p:spPr>
          <a:xfrm>
            <a:off x="5669280" y="1645920"/>
            <a:ext cx="2880360" cy="960120"/>
          </a:xfrm>
          <a:prstGeom prst="rect">
            <a:avLst/>
          </a:prstGeom>
          <a:noFill/>
          <a:ln/>
        </p:spPr>
        <p:txBody>
          <a:bodyPr wrap="square" lIns="0" tIns="0" rIns="0" bIns="0" rtlCol="0" anchor="t"/>
          <a:lstStyle/>
          <a:p>
            <a:pPr indent="0" marL="0">
              <a:buNone/>
            </a:pPr>
            <a:r>
              <a:rPr lang="en-US" sz="1100" dirty="0">
                <a:solidFill>
                  <a:schemeClr val="tx1"/>
                </a:solidFill>
              </a:rPr>
              <a:t>Water = occupants × ₱200 (rate editable in settings), computed, never typed. Linda units kept out of grand totals, as in her book.</a:t>
            </a:r>
            <a:endParaRPr lang="en-US" sz="1100" dirty="0"/>
          </a:p>
        </p:txBody>
      </p:sp>
      <p:sp>
        <p:nvSpPr>
          <p:cNvPr id="15" name="Card"/>
          <p:cNvSpPr/>
          <p:nvPr/>
        </p:nvSpPr>
        <p:spPr>
          <a:xfrm>
            <a:off x="457200" y="2834640"/>
            <a:ext cx="4023360" cy="1600200"/>
          </a:xfrm>
          <a:prstGeom prst="roundRect">
            <a:avLst>
              <a:gd name="adj" fmla="val 4571"/>
            </a:avLst>
          </a:prstGeom>
          <a:solidFill>
            <a:srgbClr val="EAF4EE"/>
          </a:solidFill>
          <a:ln/>
        </p:spPr>
      </p:sp>
      <p:sp>
        <p:nvSpPr>
          <p:cNvPr id="16" name="Hex FaReceipt"/>
          <p:cNvSpPr/>
          <p:nvPr/>
        </p:nvSpPr>
        <p:spPr>
          <a:xfrm>
            <a:off x="640080" y="3063240"/>
            <a:ext cx="640080" cy="563270"/>
          </a:xfrm>
          <a:prstGeom prst="hexagon">
            <a:avLst/>
          </a:prstGeom>
          <a:solidFill>
            <a:srgbClr val="17603F"/>
          </a:solidFill>
          <a:ln/>
        </p:spPr>
      </p:sp>
      <p:pic>
        <p:nvPicPr>
          <p:cNvPr id="17" name="Icon FaReceipt" descr="preencoded.png">    </p:cNvPr>
          <p:cNvPicPr>
            <a:picLocks noChangeAspect="1"/>
          </p:cNvPicPr>
          <p:nvPr/>
        </p:nvPicPr>
        <p:blipFill>
          <a:blip r:embed="rId3"/>
          <a:stretch>
            <a:fillRect/>
          </a:stretch>
        </p:blipFill>
        <p:spPr>
          <a:xfrm>
            <a:off x="812902" y="3197657"/>
            <a:ext cx="294437" cy="294437"/>
          </a:xfrm>
          <a:prstGeom prst="rect">
            <a:avLst/>
          </a:prstGeom>
        </p:spPr>
      </p:pic>
      <p:sp>
        <p:nvSpPr>
          <p:cNvPr id="18" name="Text 13"/>
          <p:cNvSpPr txBox="1"/>
          <p:nvPr/>
        </p:nvSpPr>
        <p:spPr>
          <a:xfrm>
            <a:off x="1463040" y="2999232"/>
            <a:ext cx="2880360" cy="365760"/>
          </a:xfrm>
          <a:prstGeom prst="rect">
            <a:avLst/>
          </a:prstGeom>
          <a:noFill/>
          <a:ln/>
        </p:spPr>
        <p:txBody>
          <a:bodyPr wrap="square" lIns="0" tIns="0" rIns="0" bIns="0" rtlCol="0" anchor="ctr"/>
          <a:lstStyle/>
          <a:p>
            <a:pPr indent="0" marL="0">
              <a:buNone/>
            </a:pPr>
            <a:r>
              <a:rPr lang="en-US" sz="1350" b="1" dirty="0">
                <a:solidFill>
                  <a:schemeClr val="tx1"/>
                </a:solidFill>
              </a:rPr>
              <a:t>Receipts &amp; GCash verification</a:t>
            </a:r>
            <a:endParaRPr lang="en-US" sz="1350" dirty="0"/>
          </a:p>
        </p:txBody>
      </p:sp>
      <p:sp>
        <p:nvSpPr>
          <p:cNvPr id="19" name="Text 14"/>
          <p:cNvSpPr txBox="1"/>
          <p:nvPr/>
        </p:nvSpPr>
        <p:spPr>
          <a:xfrm>
            <a:off x="1463040" y="3383280"/>
            <a:ext cx="2880360" cy="960120"/>
          </a:xfrm>
          <a:prstGeom prst="rect">
            <a:avLst/>
          </a:prstGeom>
          <a:noFill/>
          <a:ln/>
        </p:spPr>
        <p:txBody>
          <a:bodyPr wrap="square" lIns="0" tIns="0" rIns="0" bIns="0" rtlCol="0" anchor="t"/>
          <a:lstStyle/>
          <a:p>
            <a:pPr indent="0" marL="0">
              <a:buNone/>
            </a:pPr>
            <a:r>
              <a:rPr lang="en-US" sz="1100" dirty="0">
                <a:solidFill>
                  <a:schemeClr val="tx1"/>
                </a:solidFill>
              </a:rPr>
              <a:t>Cash recorded with her acknowledgement receipt; the same receipt is refused twice. GCash waits in Pending Verification until she approves.</a:t>
            </a:r>
            <a:endParaRPr lang="en-US" sz="1100" dirty="0"/>
          </a:p>
        </p:txBody>
      </p:sp>
      <p:sp>
        <p:nvSpPr>
          <p:cNvPr id="20" name="Card"/>
          <p:cNvSpPr/>
          <p:nvPr/>
        </p:nvSpPr>
        <p:spPr>
          <a:xfrm>
            <a:off x="4663440" y="2834640"/>
            <a:ext cx="4023360" cy="1600200"/>
          </a:xfrm>
          <a:prstGeom prst="roundRect">
            <a:avLst>
              <a:gd name="adj" fmla="val 4571"/>
            </a:avLst>
          </a:prstGeom>
          <a:solidFill>
            <a:srgbClr val="EAF4EE"/>
          </a:solidFill>
          <a:ln/>
        </p:spPr>
      </p:sp>
      <p:sp>
        <p:nvSpPr>
          <p:cNvPr id="21" name="Hex FaFileExcel"/>
          <p:cNvSpPr/>
          <p:nvPr/>
        </p:nvSpPr>
        <p:spPr>
          <a:xfrm>
            <a:off x="4846320" y="3063240"/>
            <a:ext cx="640080" cy="563270"/>
          </a:xfrm>
          <a:prstGeom prst="hexagon">
            <a:avLst/>
          </a:prstGeom>
          <a:solidFill>
            <a:srgbClr val="17603F"/>
          </a:solidFill>
          <a:ln/>
        </p:spPr>
      </p:sp>
      <p:pic>
        <p:nvPicPr>
          <p:cNvPr id="22" name="Icon FaFileExcel" descr="preencoded.png">    </p:cNvPr>
          <p:cNvPicPr>
            <a:picLocks noChangeAspect="1"/>
          </p:cNvPicPr>
          <p:nvPr/>
        </p:nvPicPr>
        <p:blipFill>
          <a:blip r:embed="rId4"/>
          <a:stretch>
            <a:fillRect/>
          </a:stretch>
        </p:blipFill>
        <p:spPr>
          <a:xfrm>
            <a:off x="5019142" y="3197657"/>
            <a:ext cx="294437" cy="294437"/>
          </a:xfrm>
          <a:prstGeom prst="rect">
            <a:avLst/>
          </a:prstGeom>
        </p:spPr>
      </p:pic>
      <p:sp>
        <p:nvSpPr>
          <p:cNvPr id="23" name="Text 17"/>
          <p:cNvSpPr txBox="1"/>
          <p:nvPr/>
        </p:nvSpPr>
        <p:spPr>
          <a:xfrm>
            <a:off x="5669280" y="2999232"/>
            <a:ext cx="2880360" cy="365760"/>
          </a:xfrm>
          <a:prstGeom prst="rect">
            <a:avLst/>
          </a:prstGeom>
          <a:noFill/>
          <a:ln/>
        </p:spPr>
        <p:txBody>
          <a:bodyPr wrap="square" lIns="0" tIns="0" rIns="0" bIns="0" rtlCol="0" anchor="ctr"/>
          <a:lstStyle/>
          <a:p>
            <a:pPr indent="0" marL="0">
              <a:buNone/>
            </a:pPr>
            <a:r>
              <a:rPr lang="en-US" sz="1350" b="1" dirty="0">
                <a:solidFill>
                  <a:schemeClr val="tx1"/>
                </a:solidFill>
              </a:rPr>
              <a:t>Excel downloads</a:t>
            </a:r>
            <a:endParaRPr lang="en-US" sz="1350" dirty="0"/>
          </a:p>
        </p:txBody>
      </p:sp>
      <p:sp>
        <p:nvSpPr>
          <p:cNvPr id="24" name="Text 18"/>
          <p:cNvSpPr txBox="1"/>
          <p:nvPr/>
        </p:nvSpPr>
        <p:spPr>
          <a:xfrm>
            <a:off x="5669280" y="3383280"/>
            <a:ext cx="2880360" cy="960120"/>
          </a:xfrm>
          <a:prstGeom prst="rect">
            <a:avLst/>
          </a:prstGeom>
          <a:noFill/>
          <a:ln/>
        </p:spPr>
        <p:txBody>
          <a:bodyPr wrap="square" lIns="0" tIns="0" rIns="0" bIns="0" rtlCol="0" anchor="t"/>
          <a:lstStyle/>
          <a:p>
            <a:pPr indent="0" marL="0">
              <a:buNone/>
            </a:pPr>
            <a:r>
              <a:rPr lang="en-US" sz="1100" dirty="0">
                <a:solidFill>
                  <a:schemeClr val="tx1"/>
                </a:solidFill>
              </a:rPr>
              <a:t>Both ledgers export in her own format. New this week: download one month, a whole year, or everything.</a:t>
            </a:r>
            <a:endParaRPr lang="en-US" sz="11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B7280"/>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6583680" cy="685800"/>
          </a:xfrm>
          <a:prstGeom prst="rect">
            <a:avLst/>
          </a:prstGeom>
          <a:noFill/>
          <a:ln/>
        </p:spPr>
        <p:txBody>
          <a:bodyPr wrap="square" lIns="0" tIns="0" rIns="0" bIns="0" rtlCol="0" anchor="ctr"/>
          <a:lstStyle/>
          <a:p>
            <a:pPr algn="l" indent="0" marL="0">
              <a:buNone/>
            </a:pPr>
            <a:r>
              <a:rPr lang="en-US" sz="2800" b="1" dirty="0">
                <a:solidFill>
                  <a:schemeClr val="tx1"/>
                </a:solidFill>
                <a:latin typeface="Cambria" pitchFamily="34" charset="0"/>
                <a:ea typeface="Cambria" pitchFamily="34" charset="-122"/>
                <a:cs typeface="Cambria" pitchFamily="34" charset="-120"/>
              </a:rPr>
              <a:t>Features: tenants and the public</a:t>
            </a:r>
            <a:endParaRPr lang="en-US" sz="2800" dirty="0"/>
          </a:p>
        </p:txBody>
      </p:sp>
      <p:sp>
        <p:nvSpPr>
          <p:cNvPr id="3" name="Presenter tag"/>
          <p:cNvSpPr/>
          <p:nvPr/>
        </p:nvSpPr>
        <p:spPr>
          <a:xfrm>
            <a:off x="7178040" y="429768"/>
            <a:ext cx="1508760" cy="365760"/>
          </a:xfrm>
          <a:prstGeom prst="roundRect">
            <a:avLst>
              <a:gd name="adj" fmla="val 50000"/>
            </a:avLst>
          </a:prstGeom>
          <a:solidFill>
            <a:schemeClr val="accent2"/>
          </a:solidFill>
          <a:ln/>
        </p:spPr>
      </p:sp>
      <p:sp>
        <p:nvSpPr>
          <p:cNvPr id="4" name="Presenter name"/>
          <p:cNvSpPr txBox="1"/>
          <p:nvPr/>
        </p:nvSpPr>
        <p:spPr>
          <a:xfrm>
            <a:off x="7178040" y="429768"/>
            <a:ext cx="1508760" cy="365760"/>
          </a:xfrm>
          <a:prstGeom prst="rect">
            <a:avLst/>
          </a:prstGeom>
          <a:noFill/>
          <a:ln/>
        </p:spPr>
        <p:txBody>
          <a:bodyPr wrap="square" lIns="0" tIns="0" rIns="0" bIns="0" rtlCol="0" anchor="ctr"/>
          <a:lstStyle/>
          <a:p>
            <a:pPr algn="ctr" indent="0" marL="0">
              <a:buNone/>
            </a:pPr>
            <a:r>
              <a:rPr lang="en-US" sz="800" dirty="0">
                <a:solidFill>
                  <a:srgbClr val="7C4A03"/>
                </a:solidFill>
              </a:rPr>
              <a:t>PRESENTER  </a:t>
            </a:r>
            <a:pPr algn="ctr" indent="0" marL="0">
              <a:buNone/>
            </a:pPr>
            <a:r>
              <a:rPr lang="en-US" sz="1200" b="1" dirty="0">
                <a:solidFill>
                  <a:schemeClr val="tx1"/>
                </a:solidFill>
              </a:rPr>
              <a:t>Vince</a:t>
            </a:r>
            <a:endParaRPr lang="en-US" sz="800" dirty="0"/>
          </a:p>
        </p:txBody>
      </p:sp>
      <p:sp>
        <p:nvSpPr>
          <p:cNvPr id="5" name="Hex FaUser"/>
          <p:cNvSpPr/>
          <p:nvPr/>
        </p:nvSpPr>
        <p:spPr>
          <a:xfrm>
            <a:off x="457200" y="1097280"/>
            <a:ext cx="548640" cy="482803"/>
          </a:xfrm>
          <a:prstGeom prst="hexagon">
            <a:avLst/>
          </a:prstGeom>
          <a:solidFill>
            <a:srgbClr val="17603F"/>
          </a:solidFill>
          <a:ln/>
        </p:spPr>
      </p:sp>
      <p:pic>
        <p:nvPicPr>
          <p:cNvPr id="6" name="Icon FaUser" descr="preencoded.png">    </p:cNvPr>
          <p:cNvPicPr>
            <a:picLocks noChangeAspect="1"/>
          </p:cNvPicPr>
          <p:nvPr/>
        </p:nvPicPr>
        <p:blipFill>
          <a:blip r:embed="rId1"/>
          <a:stretch>
            <a:fillRect/>
          </a:stretch>
        </p:blipFill>
        <p:spPr>
          <a:xfrm>
            <a:off x="605333" y="1212494"/>
            <a:ext cx="252374" cy="252374"/>
          </a:xfrm>
          <a:prstGeom prst="rect">
            <a:avLst/>
          </a:prstGeom>
        </p:spPr>
      </p:pic>
      <p:sp>
        <p:nvSpPr>
          <p:cNvPr id="7" name="Text 4"/>
          <p:cNvSpPr txBox="1"/>
          <p:nvPr/>
        </p:nvSpPr>
        <p:spPr>
          <a:xfrm>
            <a:off x="1143000" y="1097280"/>
            <a:ext cx="3108960" cy="484632"/>
          </a:xfrm>
          <a:prstGeom prst="rect">
            <a:avLst/>
          </a:prstGeom>
          <a:noFill/>
          <a:ln/>
        </p:spPr>
        <p:txBody>
          <a:bodyPr wrap="square" lIns="0" tIns="0" rIns="0" bIns="0" rtlCol="0" anchor="ctr"/>
          <a:lstStyle/>
          <a:p>
            <a:pPr indent="0" marL="0">
              <a:buNone/>
            </a:pPr>
            <a:r>
              <a:rPr lang="en-US" sz="1600" b="1" dirty="0">
                <a:solidFill>
                  <a:schemeClr val="accent1"/>
                </a:solidFill>
              </a:rPr>
              <a:t>Tenant portal</a:t>
            </a:r>
            <a:endParaRPr lang="en-US" sz="1600" dirty="0"/>
          </a:p>
        </p:txBody>
      </p:sp>
      <p:sp>
        <p:nvSpPr>
          <p:cNvPr id="8" name="Text 5"/>
          <p:cNvSpPr txBox="1"/>
          <p:nvPr/>
        </p:nvSpPr>
        <p:spPr>
          <a:xfrm>
            <a:off x="457200" y="1737360"/>
            <a:ext cx="3840480" cy="160020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chemeClr val="tx1"/>
                </a:solidFill>
              </a:rPr>
              <a:t>Rent month by month, with one sentence on how far payments reach</a:t>
            </a:r>
            <a:endParaRPr lang="en-US" sz="1200" dirty="0"/>
          </a:p>
          <a:p>
            <a:pPr marL="342900" indent="-342900">
              <a:spcAft>
                <a:spcPts val="500"/>
              </a:spcAft>
              <a:buSzPct val="100000"/>
              <a:buChar char="•"/>
            </a:pPr>
            <a:r>
              <a:rPr lang="en-US" sz="1200" dirty="0">
                <a:solidFill>
                  <a:schemeClr val="tx1"/>
                </a:solidFill>
              </a:rPr>
              <a:t>Repair requests with a photo, followed in a thread</a:t>
            </a:r>
            <a:endParaRPr lang="en-US" sz="1200" dirty="0"/>
          </a:p>
          <a:p>
            <a:pPr marL="342900" indent="-342900">
              <a:spcAft>
                <a:spcPts val="500"/>
              </a:spcAft>
              <a:buSzPct val="100000"/>
              <a:buChar char="•"/>
            </a:pPr>
            <a:r>
              <a:rPr lang="en-US" sz="1200" dirty="0">
                <a:solidFill>
                  <a:schemeClr val="tx1"/>
                </a:solidFill>
              </a:rPr>
              <a:t>Notifications when a payment or repair changes</a:t>
            </a:r>
            <a:endParaRPr lang="en-US" sz="1200" dirty="0"/>
          </a:p>
          <a:p>
            <a:pPr marL="342900" indent="-342900">
              <a:spcAft>
                <a:spcPts val="500"/>
              </a:spcAft>
              <a:buSzPct val="100000"/>
              <a:buChar char="•"/>
            </a:pPr>
            <a:r>
              <a:rPr lang="en-US" sz="1200" dirty="0">
                <a:solidFill>
                  <a:schemeClr val="tx1"/>
                </a:solidFill>
              </a:rPr>
              <a:t>Pay through GCash</a:t>
            </a:r>
            <a:endParaRPr lang="en-US" sz="1200" dirty="0"/>
          </a:p>
        </p:txBody>
      </p:sp>
      <p:sp>
        <p:nvSpPr>
          <p:cNvPr id="9" name="Hex FaGlobeAsia"/>
          <p:cNvSpPr/>
          <p:nvPr/>
        </p:nvSpPr>
        <p:spPr>
          <a:xfrm>
            <a:off x="4846320" y="1097280"/>
            <a:ext cx="548640" cy="482803"/>
          </a:xfrm>
          <a:prstGeom prst="hexagon">
            <a:avLst/>
          </a:prstGeom>
          <a:solidFill>
            <a:srgbClr val="17603F"/>
          </a:solidFill>
          <a:ln/>
        </p:spPr>
      </p:sp>
      <p:pic>
        <p:nvPicPr>
          <p:cNvPr id="10" name="Icon FaGlobeAsia" descr="preencoded.png">    </p:cNvPr>
          <p:cNvPicPr>
            <a:picLocks noChangeAspect="1"/>
          </p:cNvPicPr>
          <p:nvPr/>
        </p:nvPicPr>
        <p:blipFill>
          <a:blip r:embed="rId2"/>
          <a:stretch>
            <a:fillRect/>
          </a:stretch>
        </p:blipFill>
        <p:spPr>
          <a:xfrm>
            <a:off x="4994453" y="1212494"/>
            <a:ext cx="252374" cy="252374"/>
          </a:xfrm>
          <a:prstGeom prst="rect">
            <a:avLst/>
          </a:prstGeom>
        </p:spPr>
      </p:pic>
      <p:sp>
        <p:nvSpPr>
          <p:cNvPr id="11" name="Text 7"/>
          <p:cNvSpPr txBox="1"/>
          <p:nvPr/>
        </p:nvSpPr>
        <p:spPr>
          <a:xfrm>
            <a:off x="5532120" y="1097280"/>
            <a:ext cx="3108960" cy="484632"/>
          </a:xfrm>
          <a:prstGeom prst="rect">
            <a:avLst/>
          </a:prstGeom>
          <a:noFill/>
          <a:ln/>
        </p:spPr>
        <p:txBody>
          <a:bodyPr wrap="square" lIns="0" tIns="0" rIns="0" bIns="0" rtlCol="0" anchor="ctr"/>
          <a:lstStyle/>
          <a:p>
            <a:pPr indent="0" marL="0">
              <a:buNone/>
            </a:pPr>
            <a:r>
              <a:rPr lang="en-US" sz="1600" b="1" dirty="0">
                <a:solidFill>
                  <a:schemeClr val="accent1"/>
                </a:solidFill>
              </a:rPr>
              <a:t>Public website</a:t>
            </a:r>
            <a:endParaRPr lang="en-US" sz="1600" dirty="0"/>
          </a:p>
        </p:txBody>
      </p:sp>
      <p:sp>
        <p:nvSpPr>
          <p:cNvPr id="12" name="Text 8"/>
          <p:cNvSpPr txBox="1"/>
          <p:nvPr/>
        </p:nvSpPr>
        <p:spPr>
          <a:xfrm>
            <a:off x="4846320" y="1737360"/>
            <a:ext cx="3840480" cy="160020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chemeClr val="tx1"/>
                </a:solidFill>
              </a:rPr>
              <a:t>All 33 units with live rates</a:t>
            </a:r>
            <a:endParaRPr lang="en-US" sz="1200" dirty="0"/>
          </a:p>
          <a:p>
            <a:pPr marL="342900" indent="-342900">
              <a:spcAft>
                <a:spcPts val="500"/>
              </a:spcAft>
              <a:buSzPct val="100000"/>
              <a:buChar char="•"/>
            </a:pPr>
            <a:r>
              <a:rPr lang="en-US" sz="1200" dirty="0">
                <a:solidFill>
                  <a:schemeClr val="tx1"/>
                </a:solidFill>
              </a:rPr>
              <a:t>Never shows a tenant's name (checked every run)</a:t>
            </a:r>
            <a:endParaRPr lang="en-US" sz="1200" dirty="0"/>
          </a:p>
          <a:p>
            <a:pPr marL="342900" indent="-342900">
              <a:spcAft>
                <a:spcPts val="500"/>
              </a:spcAft>
              <a:buSzPct val="100000"/>
              <a:buChar char="•"/>
            </a:pPr>
            <a:r>
              <a:rPr lang="en-US" sz="1200" dirty="0">
                <a:solidFill>
                  <a:schemeClr val="tx1"/>
                </a:solidFill>
              </a:rPr>
              <a:t>Enquire about a unit with no account</a:t>
            </a:r>
            <a:endParaRPr lang="en-US" sz="1200" dirty="0"/>
          </a:p>
          <a:p>
            <a:pPr marL="342900" indent="-342900">
              <a:spcAft>
                <a:spcPts val="500"/>
              </a:spcAft>
              <a:buSzPct val="100000"/>
              <a:buChar char="•"/>
            </a:pPr>
            <a:r>
              <a:rPr lang="en-US" sz="1200" dirty="0">
                <a:solidFill>
                  <a:schemeClr val="tx1"/>
                </a:solidFill>
              </a:rPr>
              <a:t>Private link and reference code to read the owner's reply</a:t>
            </a:r>
            <a:endParaRPr lang="en-US" sz="1200" dirty="0"/>
          </a:p>
        </p:txBody>
      </p:sp>
      <p:sp>
        <p:nvSpPr>
          <p:cNvPr id="13" name="Card"/>
          <p:cNvSpPr/>
          <p:nvPr/>
        </p:nvSpPr>
        <p:spPr>
          <a:xfrm>
            <a:off x="457200" y="3520440"/>
            <a:ext cx="8229600" cy="1051560"/>
          </a:xfrm>
          <a:prstGeom prst="roundRect">
            <a:avLst>
              <a:gd name="adj" fmla="val 6957"/>
            </a:avLst>
          </a:prstGeom>
          <a:solidFill>
            <a:srgbClr val="EAF4EE"/>
          </a:solidFill>
          <a:ln/>
        </p:spPr>
      </p:sp>
      <p:sp>
        <p:nvSpPr>
          <p:cNvPr id="14" name="Text 10"/>
          <p:cNvSpPr txBox="1"/>
          <p:nvPr/>
        </p:nvSpPr>
        <p:spPr>
          <a:xfrm>
            <a:off x="640080" y="3584448"/>
            <a:ext cx="3657600" cy="274320"/>
          </a:xfrm>
          <a:prstGeom prst="rect">
            <a:avLst/>
          </a:prstGeom>
          <a:noFill/>
          <a:ln/>
        </p:spPr>
        <p:txBody>
          <a:bodyPr wrap="square" lIns="0" tIns="0" rIns="0" bIns="0" rtlCol="0" anchor="ctr"/>
          <a:lstStyle/>
          <a:p>
            <a:pPr indent="0" marL="0">
              <a:buNone/>
            </a:pPr>
            <a:r>
              <a:rPr lang="en-US" sz="1000" b="1" dirty="0">
                <a:solidFill>
                  <a:schemeClr val="tx1"/>
                </a:solidFill>
              </a:rPr>
              <a:t>What a tenant sees: the last 12 months</a:t>
            </a:r>
            <a:endParaRPr lang="en-US" sz="1000" dirty="0"/>
          </a:p>
        </p:txBody>
      </p:sp>
      <p:sp>
        <p:nvSpPr>
          <p:cNvPr id="15" name="Shape 11"/>
          <p:cNvSpPr/>
          <p:nvPr/>
        </p:nvSpPr>
        <p:spPr>
          <a:xfrm>
            <a:off x="640080" y="3904488"/>
            <a:ext cx="329184" cy="365760"/>
          </a:xfrm>
          <a:prstGeom prst="roundRect">
            <a:avLst>
              <a:gd name="adj" fmla="val 13889"/>
            </a:avLst>
          </a:prstGeom>
          <a:solidFill>
            <a:srgbClr val="17603F"/>
          </a:solidFill>
          <a:ln/>
        </p:spPr>
      </p:sp>
      <p:sp>
        <p:nvSpPr>
          <p:cNvPr id="16" name="Text 12"/>
          <p:cNvSpPr txBox="1"/>
          <p:nvPr/>
        </p:nvSpPr>
        <p:spPr>
          <a:xfrm>
            <a:off x="640080" y="4279392"/>
            <a:ext cx="329184" cy="201168"/>
          </a:xfrm>
          <a:prstGeom prst="rect">
            <a:avLst/>
          </a:prstGeom>
          <a:noFill/>
          <a:ln/>
        </p:spPr>
        <p:txBody>
          <a:bodyPr wrap="square" lIns="0" tIns="0" rIns="0" bIns="0" rtlCol="0" anchor="ctr"/>
          <a:lstStyle/>
          <a:p>
            <a:pPr algn="ctr" indent="0" marL="0">
              <a:buNone/>
            </a:pPr>
            <a:r>
              <a:rPr lang="en-US" sz="800" dirty="0">
                <a:solidFill>
                  <a:srgbClr val="6B7280"/>
                </a:solidFill>
              </a:rPr>
              <a:t>N</a:t>
            </a:r>
            <a:endParaRPr lang="en-US" sz="800" dirty="0"/>
          </a:p>
        </p:txBody>
      </p:sp>
      <p:sp>
        <p:nvSpPr>
          <p:cNvPr id="17" name="Shape 13"/>
          <p:cNvSpPr/>
          <p:nvPr/>
        </p:nvSpPr>
        <p:spPr>
          <a:xfrm>
            <a:off x="1042416" y="3904488"/>
            <a:ext cx="329184" cy="365760"/>
          </a:xfrm>
          <a:prstGeom prst="roundRect">
            <a:avLst>
              <a:gd name="adj" fmla="val 13889"/>
            </a:avLst>
          </a:prstGeom>
          <a:solidFill>
            <a:srgbClr val="17603F"/>
          </a:solidFill>
          <a:ln/>
        </p:spPr>
      </p:sp>
      <p:sp>
        <p:nvSpPr>
          <p:cNvPr id="18" name="Text 14"/>
          <p:cNvSpPr txBox="1"/>
          <p:nvPr/>
        </p:nvSpPr>
        <p:spPr>
          <a:xfrm>
            <a:off x="1042416" y="4279392"/>
            <a:ext cx="329184" cy="201168"/>
          </a:xfrm>
          <a:prstGeom prst="rect">
            <a:avLst/>
          </a:prstGeom>
          <a:noFill/>
          <a:ln/>
        </p:spPr>
        <p:txBody>
          <a:bodyPr wrap="square" lIns="0" tIns="0" rIns="0" bIns="0" rtlCol="0" anchor="ctr"/>
          <a:lstStyle/>
          <a:p>
            <a:pPr algn="ctr" indent="0" marL="0">
              <a:buNone/>
            </a:pPr>
            <a:r>
              <a:rPr lang="en-US" sz="800" dirty="0">
                <a:solidFill>
                  <a:srgbClr val="6B7280"/>
                </a:solidFill>
              </a:rPr>
              <a:t>D</a:t>
            </a:r>
            <a:endParaRPr lang="en-US" sz="800" dirty="0"/>
          </a:p>
        </p:txBody>
      </p:sp>
      <p:sp>
        <p:nvSpPr>
          <p:cNvPr id="19" name="Shape 15"/>
          <p:cNvSpPr/>
          <p:nvPr/>
        </p:nvSpPr>
        <p:spPr>
          <a:xfrm>
            <a:off x="1444752" y="3904488"/>
            <a:ext cx="329184" cy="365760"/>
          </a:xfrm>
          <a:prstGeom prst="roundRect">
            <a:avLst>
              <a:gd name="adj" fmla="val 13889"/>
            </a:avLst>
          </a:prstGeom>
          <a:solidFill>
            <a:srgbClr val="17603F"/>
          </a:solidFill>
          <a:ln/>
        </p:spPr>
      </p:sp>
      <p:sp>
        <p:nvSpPr>
          <p:cNvPr id="20" name="Text 16"/>
          <p:cNvSpPr txBox="1"/>
          <p:nvPr/>
        </p:nvSpPr>
        <p:spPr>
          <a:xfrm>
            <a:off x="1444752" y="4279392"/>
            <a:ext cx="329184" cy="201168"/>
          </a:xfrm>
          <a:prstGeom prst="rect">
            <a:avLst/>
          </a:prstGeom>
          <a:noFill/>
          <a:ln/>
        </p:spPr>
        <p:txBody>
          <a:bodyPr wrap="square" lIns="0" tIns="0" rIns="0" bIns="0" rtlCol="0" anchor="ctr"/>
          <a:lstStyle/>
          <a:p>
            <a:pPr algn="ctr" indent="0" marL="0">
              <a:buNone/>
            </a:pPr>
            <a:r>
              <a:rPr lang="en-US" sz="800" dirty="0">
                <a:solidFill>
                  <a:srgbClr val="6B7280"/>
                </a:solidFill>
              </a:rPr>
              <a:t>J</a:t>
            </a:r>
            <a:endParaRPr lang="en-US" sz="800" dirty="0"/>
          </a:p>
        </p:txBody>
      </p:sp>
      <p:sp>
        <p:nvSpPr>
          <p:cNvPr id="21" name="Shape 17"/>
          <p:cNvSpPr/>
          <p:nvPr/>
        </p:nvSpPr>
        <p:spPr>
          <a:xfrm>
            <a:off x="1847088" y="3904488"/>
            <a:ext cx="329184" cy="365760"/>
          </a:xfrm>
          <a:prstGeom prst="roundRect">
            <a:avLst>
              <a:gd name="adj" fmla="val 13889"/>
            </a:avLst>
          </a:prstGeom>
          <a:solidFill>
            <a:srgbClr val="17603F"/>
          </a:solidFill>
          <a:ln/>
        </p:spPr>
      </p:sp>
      <p:sp>
        <p:nvSpPr>
          <p:cNvPr id="22" name="Text 18"/>
          <p:cNvSpPr txBox="1"/>
          <p:nvPr/>
        </p:nvSpPr>
        <p:spPr>
          <a:xfrm>
            <a:off x="1847088" y="4279392"/>
            <a:ext cx="329184" cy="201168"/>
          </a:xfrm>
          <a:prstGeom prst="rect">
            <a:avLst/>
          </a:prstGeom>
          <a:noFill/>
          <a:ln/>
        </p:spPr>
        <p:txBody>
          <a:bodyPr wrap="square" lIns="0" tIns="0" rIns="0" bIns="0" rtlCol="0" anchor="ctr"/>
          <a:lstStyle/>
          <a:p>
            <a:pPr algn="ctr" indent="0" marL="0">
              <a:buNone/>
            </a:pPr>
            <a:r>
              <a:rPr lang="en-US" sz="800" dirty="0">
                <a:solidFill>
                  <a:srgbClr val="6B7280"/>
                </a:solidFill>
              </a:rPr>
              <a:t>F</a:t>
            </a:r>
            <a:endParaRPr lang="en-US" sz="800" dirty="0"/>
          </a:p>
        </p:txBody>
      </p:sp>
      <p:sp>
        <p:nvSpPr>
          <p:cNvPr id="23" name="Shape 19"/>
          <p:cNvSpPr/>
          <p:nvPr/>
        </p:nvSpPr>
        <p:spPr>
          <a:xfrm>
            <a:off x="2249424" y="3904488"/>
            <a:ext cx="329184" cy="365760"/>
          </a:xfrm>
          <a:prstGeom prst="roundRect">
            <a:avLst>
              <a:gd name="adj" fmla="val 13889"/>
            </a:avLst>
          </a:prstGeom>
          <a:solidFill>
            <a:srgbClr val="17603F"/>
          </a:solidFill>
          <a:ln/>
        </p:spPr>
      </p:sp>
      <p:sp>
        <p:nvSpPr>
          <p:cNvPr id="24" name="Text 20"/>
          <p:cNvSpPr txBox="1"/>
          <p:nvPr/>
        </p:nvSpPr>
        <p:spPr>
          <a:xfrm>
            <a:off x="2249424" y="4279392"/>
            <a:ext cx="329184" cy="201168"/>
          </a:xfrm>
          <a:prstGeom prst="rect">
            <a:avLst/>
          </a:prstGeom>
          <a:noFill/>
          <a:ln/>
        </p:spPr>
        <p:txBody>
          <a:bodyPr wrap="square" lIns="0" tIns="0" rIns="0" bIns="0" rtlCol="0" anchor="ctr"/>
          <a:lstStyle/>
          <a:p>
            <a:pPr algn="ctr" indent="0" marL="0">
              <a:buNone/>
            </a:pPr>
            <a:r>
              <a:rPr lang="en-US" sz="800" dirty="0">
                <a:solidFill>
                  <a:srgbClr val="6B7280"/>
                </a:solidFill>
              </a:rPr>
              <a:t>M</a:t>
            </a:r>
            <a:endParaRPr lang="en-US" sz="800" dirty="0"/>
          </a:p>
        </p:txBody>
      </p:sp>
      <p:sp>
        <p:nvSpPr>
          <p:cNvPr id="25" name="Shape 21"/>
          <p:cNvSpPr/>
          <p:nvPr/>
        </p:nvSpPr>
        <p:spPr>
          <a:xfrm>
            <a:off x="2651760" y="3904488"/>
            <a:ext cx="329184" cy="365760"/>
          </a:xfrm>
          <a:prstGeom prst="roundRect">
            <a:avLst>
              <a:gd name="adj" fmla="val 13889"/>
            </a:avLst>
          </a:prstGeom>
          <a:solidFill>
            <a:srgbClr val="C9D3CC"/>
          </a:solidFill>
          <a:ln/>
        </p:spPr>
      </p:sp>
      <p:sp>
        <p:nvSpPr>
          <p:cNvPr id="26" name="Text 22"/>
          <p:cNvSpPr txBox="1"/>
          <p:nvPr/>
        </p:nvSpPr>
        <p:spPr>
          <a:xfrm>
            <a:off x="2651760" y="4279392"/>
            <a:ext cx="329184" cy="201168"/>
          </a:xfrm>
          <a:prstGeom prst="rect">
            <a:avLst/>
          </a:prstGeom>
          <a:noFill/>
          <a:ln/>
        </p:spPr>
        <p:txBody>
          <a:bodyPr wrap="square" lIns="0" tIns="0" rIns="0" bIns="0" rtlCol="0" anchor="ctr"/>
          <a:lstStyle/>
          <a:p>
            <a:pPr algn="ctr" indent="0" marL="0">
              <a:buNone/>
            </a:pPr>
            <a:r>
              <a:rPr lang="en-US" sz="800" dirty="0">
                <a:solidFill>
                  <a:srgbClr val="6B7280"/>
                </a:solidFill>
              </a:rPr>
              <a:t>A</a:t>
            </a:r>
            <a:endParaRPr lang="en-US" sz="800" dirty="0"/>
          </a:p>
        </p:txBody>
      </p:sp>
      <p:sp>
        <p:nvSpPr>
          <p:cNvPr id="27" name="Shape 23"/>
          <p:cNvSpPr/>
          <p:nvPr/>
        </p:nvSpPr>
        <p:spPr>
          <a:xfrm>
            <a:off x="3054096" y="3904488"/>
            <a:ext cx="329184" cy="365760"/>
          </a:xfrm>
          <a:prstGeom prst="roundRect">
            <a:avLst>
              <a:gd name="adj" fmla="val 13889"/>
            </a:avLst>
          </a:prstGeom>
          <a:solidFill>
            <a:srgbClr val="17603F"/>
          </a:solidFill>
          <a:ln/>
        </p:spPr>
      </p:sp>
      <p:sp>
        <p:nvSpPr>
          <p:cNvPr id="28" name="Text 24"/>
          <p:cNvSpPr txBox="1"/>
          <p:nvPr/>
        </p:nvSpPr>
        <p:spPr>
          <a:xfrm>
            <a:off x="3054096" y="4279392"/>
            <a:ext cx="329184" cy="201168"/>
          </a:xfrm>
          <a:prstGeom prst="rect">
            <a:avLst/>
          </a:prstGeom>
          <a:noFill/>
          <a:ln/>
        </p:spPr>
        <p:txBody>
          <a:bodyPr wrap="square" lIns="0" tIns="0" rIns="0" bIns="0" rtlCol="0" anchor="ctr"/>
          <a:lstStyle/>
          <a:p>
            <a:pPr algn="ctr" indent="0" marL="0">
              <a:buNone/>
            </a:pPr>
            <a:r>
              <a:rPr lang="en-US" sz="800" dirty="0">
                <a:solidFill>
                  <a:srgbClr val="6B7280"/>
                </a:solidFill>
              </a:rPr>
              <a:t>M</a:t>
            </a:r>
            <a:endParaRPr lang="en-US" sz="800" dirty="0"/>
          </a:p>
        </p:txBody>
      </p:sp>
      <p:sp>
        <p:nvSpPr>
          <p:cNvPr id="29" name="Shape 25"/>
          <p:cNvSpPr/>
          <p:nvPr/>
        </p:nvSpPr>
        <p:spPr>
          <a:xfrm>
            <a:off x="3456432" y="3904488"/>
            <a:ext cx="329184" cy="365760"/>
          </a:xfrm>
          <a:prstGeom prst="roundRect">
            <a:avLst>
              <a:gd name="adj" fmla="val 13889"/>
            </a:avLst>
          </a:prstGeom>
          <a:solidFill>
            <a:srgbClr val="17603F"/>
          </a:solidFill>
          <a:ln/>
        </p:spPr>
      </p:sp>
      <p:sp>
        <p:nvSpPr>
          <p:cNvPr id="30" name="Text 26"/>
          <p:cNvSpPr txBox="1"/>
          <p:nvPr/>
        </p:nvSpPr>
        <p:spPr>
          <a:xfrm>
            <a:off x="3456432" y="4279392"/>
            <a:ext cx="329184" cy="201168"/>
          </a:xfrm>
          <a:prstGeom prst="rect">
            <a:avLst/>
          </a:prstGeom>
          <a:noFill/>
          <a:ln/>
        </p:spPr>
        <p:txBody>
          <a:bodyPr wrap="square" lIns="0" tIns="0" rIns="0" bIns="0" rtlCol="0" anchor="ctr"/>
          <a:lstStyle/>
          <a:p>
            <a:pPr algn="ctr" indent="0" marL="0">
              <a:buNone/>
            </a:pPr>
            <a:r>
              <a:rPr lang="en-US" sz="800" dirty="0">
                <a:solidFill>
                  <a:srgbClr val="6B7280"/>
                </a:solidFill>
              </a:rPr>
              <a:t>J</a:t>
            </a:r>
            <a:endParaRPr lang="en-US" sz="800" dirty="0"/>
          </a:p>
        </p:txBody>
      </p:sp>
      <p:sp>
        <p:nvSpPr>
          <p:cNvPr id="31" name="Shape 27"/>
          <p:cNvSpPr/>
          <p:nvPr/>
        </p:nvSpPr>
        <p:spPr>
          <a:xfrm>
            <a:off x="3858768" y="3904488"/>
            <a:ext cx="329184" cy="365760"/>
          </a:xfrm>
          <a:prstGeom prst="roundRect">
            <a:avLst>
              <a:gd name="adj" fmla="val 13889"/>
            </a:avLst>
          </a:prstGeom>
          <a:solidFill>
            <a:srgbClr val="17603F"/>
          </a:solidFill>
          <a:ln/>
        </p:spPr>
      </p:sp>
      <p:sp>
        <p:nvSpPr>
          <p:cNvPr id="32" name="Text 28"/>
          <p:cNvSpPr txBox="1"/>
          <p:nvPr/>
        </p:nvSpPr>
        <p:spPr>
          <a:xfrm>
            <a:off x="3858768" y="4279392"/>
            <a:ext cx="329184" cy="201168"/>
          </a:xfrm>
          <a:prstGeom prst="rect">
            <a:avLst/>
          </a:prstGeom>
          <a:noFill/>
          <a:ln/>
        </p:spPr>
        <p:txBody>
          <a:bodyPr wrap="square" lIns="0" tIns="0" rIns="0" bIns="0" rtlCol="0" anchor="ctr"/>
          <a:lstStyle/>
          <a:p>
            <a:pPr algn="ctr" indent="0" marL="0">
              <a:buNone/>
            </a:pPr>
            <a:r>
              <a:rPr lang="en-US" sz="800" dirty="0">
                <a:solidFill>
                  <a:srgbClr val="6B7280"/>
                </a:solidFill>
              </a:rPr>
              <a:t>J</a:t>
            </a:r>
            <a:endParaRPr lang="en-US" sz="800" dirty="0"/>
          </a:p>
        </p:txBody>
      </p:sp>
      <p:sp>
        <p:nvSpPr>
          <p:cNvPr id="33" name="Shape 29"/>
          <p:cNvSpPr/>
          <p:nvPr/>
        </p:nvSpPr>
        <p:spPr>
          <a:xfrm>
            <a:off x="4261104" y="3904488"/>
            <a:ext cx="329184" cy="365760"/>
          </a:xfrm>
          <a:prstGeom prst="roundRect">
            <a:avLst>
              <a:gd name="adj" fmla="val 13889"/>
            </a:avLst>
          </a:prstGeom>
          <a:solidFill>
            <a:srgbClr val="17603F"/>
          </a:solidFill>
          <a:ln/>
        </p:spPr>
      </p:sp>
      <p:sp>
        <p:nvSpPr>
          <p:cNvPr id="34" name="Text 30"/>
          <p:cNvSpPr txBox="1"/>
          <p:nvPr/>
        </p:nvSpPr>
        <p:spPr>
          <a:xfrm>
            <a:off x="4261104" y="4279392"/>
            <a:ext cx="329184" cy="201168"/>
          </a:xfrm>
          <a:prstGeom prst="rect">
            <a:avLst/>
          </a:prstGeom>
          <a:noFill/>
          <a:ln/>
        </p:spPr>
        <p:txBody>
          <a:bodyPr wrap="square" lIns="0" tIns="0" rIns="0" bIns="0" rtlCol="0" anchor="ctr"/>
          <a:lstStyle/>
          <a:p>
            <a:pPr algn="ctr" indent="0" marL="0">
              <a:buNone/>
            </a:pPr>
            <a:r>
              <a:rPr lang="en-US" sz="800" dirty="0">
                <a:solidFill>
                  <a:srgbClr val="6B7280"/>
                </a:solidFill>
              </a:rPr>
              <a:t>A</a:t>
            </a:r>
            <a:endParaRPr lang="en-US" sz="800" dirty="0"/>
          </a:p>
        </p:txBody>
      </p:sp>
      <p:sp>
        <p:nvSpPr>
          <p:cNvPr id="35" name="Shape 31"/>
          <p:cNvSpPr/>
          <p:nvPr/>
        </p:nvSpPr>
        <p:spPr>
          <a:xfrm>
            <a:off x="4663440" y="3904488"/>
            <a:ext cx="329184" cy="365760"/>
          </a:xfrm>
          <a:prstGeom prst="roundRect">
            <a:avLst>
              <a:gd name="adj" fmla="val 13889"/>
            </a:avLst>
          </a:prstGeom>
          <a:solidFill>
            <a:srgbClr val="17603F"/>
          </a:solidFill>
          <a:ln/>
        </p:spPr>
      </p:sp>
      <p:sp>
        <p:nvSpPr>
          <p:cNvPr id="36" name="Text 32"/>
          <p:cNvSpPr txBox="1"/>
          <p:nvPr/>
        </p:nvSpPr>
        <p:spPr>
          <a:xfrm>
            <a:off x="4663440" y="4279392"/>
            <a:ext cx="329184" cy="201168"/>
          </a:xfrm>
          <a:prstGeom prst="rect">
            <a:avLst/>
          </a:prstGeom>
          <a:noFill/>
          <a:ln/>
        </p:spPr>
        <p:txBody>
          <a:bodyPr wrap="square" lIns="0" tIns="0" rIns="0" bIns="0" rtlCol="0" anchor="ctr"/>
          <a:lstStyle/>
          <a:p>
            <a:pPr algn="ctr" indent="0" marL="0">
              <a:buNone/>
            </a:pPr>
            <a:r>
              <a:rPr lang="en-US" sz="800" dirty="0">
                <a:solidFill>
                  <a:srgbClr val="6B7280"/>
                </a:solidFill>
              </a:rPr>
              <a:t>S</a:t>
            </a:r>
            <a:endParaRPr lang="en-US" sz="800" dirty="0"/>
          </a:p>
        </p:txBody>
      </p:sp>
      <p:sp>
        <p:nvSpPr>
          <p:cNvPr id="37" name="Shape 33"/>
          <p:cNvSpPr/>
          <p:nvPr/>
        </p:nvSpPr>
        <p:spPr>
          <a:xfrm>
            <a:off x="5065776" y="3904488"/>
            <a:ext cx="329184" cy="365760"/>
          </a:xfrm>
          <a:prstGeom prst="roundRect">
            <a:avLst>
              <a:gd name="adj" fmla="val 13889"/>
            </a:avLst>
          </a:prstGeom>
          <a:solidFill>
            <a:srgbClr val="F59E0B"/>
          </a:solidFill>
          <a:ln/>
        </p:spPr>
      </p:sp>
      <p:sp>
        <p:nvSpPr>
          <p:cNvPr id="38" name="Text 34"/>
          <p:cNvSpPr txBox="1"/>
          <p:nvPr/>
        </p:nvSpPr>
        <p:spPr>
          <a:xfrm>
            <a:off x="5065776" y="4279392"/>
            <a:ext cx="329184" cy="201168"/>
          </a:xfrm>
          <a:prstGeom prst="rect">
            <a:avLst/>
          </a:prstGeom>
          <a:noFill/>
          <a:ln/>
        </p:spPr>
        <p:txBody>
          <a:bodyPr wrap="square" lIns="0" tIns="0" rIns="0" bIns="0" rtlCol="0" anchor="ctr"/>
          <a:lstStyle/>
          <a:p>
            <a:pPr algn="ctr" indent="0" marL="0">
              <a:buNone/>
            </a:pPr>
            <a:r>
              <a:rPr lang="en-US" sz="800" dirty="0">
                <a:solidFill>
                  <a:srgbClr val="6B7280"/>
                </a:solidFill>
              </a:rPr>
              <a:t>O</a:t>
            </a:r>
            <a:endParaRPr lang="en-US" sz="800" dirty="0"/>
          </a:p>
        </p:txBody>
      </p:sp>
      <p:sp>
        <p:nvSpPr>
          <p:cNvPr id="39" name="Shape 35"/>
          <p:cNvSpPr/>
          <p:nvPr/>
        </p:nvSpPr>
        <p:spPr>
          <a:xfrm>
            <a:off x="5715000" y="3986784"/>
            <a:ext cx="182880" cy="182880"/>
          </a:xfrm>
          <a:prstGeom prst="roundRect">
            <a:avLst>
              <a:gd name="adj" fmla="val 20000"/>
            </a:avLst>
          </a:prstGeom>
          <a:solidFill>
            <a:srgbClr val="17603F"/>
          </a:solidFill>
          <a:ln/>
        </p:spPr>
      </p:sp>
      <p:sp>
        <p:nvSpPr>
          <p:cNvPr id="40" name="Text 36"/>
          <p:cNvSpPr txBox="1"/>
          <p:nvPr/>
        </p:nvSpPr>
        <p:spPr>
          <a:xfrm>
            <a:off x="5952744" y="3941064"/>
            <a:ext cx="731520" cy="274320"/>
          </a:xfrm>
          <a:prstGeom prst="rect">
            <a:avLst/>
          </a:prstGeom>
          <a:noFill/>
          <a:ln/>
        </p:spPr>
        <p:txBody>
          <a:bodyPr wrap="square" lIns="0" tIns="0" rIns="0" bIns="0" rtlCol="0" anchor="ctr"/>
          <a:lstStyle/>
          <a:p>
            <a:pPr indent="0" marL="0">
              <a:buNone/>
            </a:pPr>
            <a:r>
              <a:rPr lang="en-US" sz="950" dirty="0">
                <a:solidFill>
                  <a:schemeClr val="tx1"/>
                </a:solidFill>
              </a:rPr>
              <a:t>Paid</a:t>
            </a:r>
            <a:endParaRPr lang="en-US" sz="950" dirty="0"/>
          </a:p>
        </p:txBody>
      </p:sp>
      <p:sp>
        <p:nvSpPr>
          <p:cNvPr id="41" name="Shape 37"/>
          <p:cNvSpPr/>
          <p:nvPr/>
        </p:nvSpPr>
        <p:spPr>
          <a:xfrm>
            <a:off x="6675120" y="3986784"/>
            <a:ext cx="182880" cy="182880"/>
          </a:xfrm>
          <a:prstGeom prst="roundRect">
            <a:avLst>
              <a:gd name="adj" fmla="val 20000"/>
            </a:avLst>
          </a:prstGeom>
          <a:solidFill>
            <a:srgbClr val="F59E0B"/>
          </a:solidFill>
          <a:ln/>
        </p:spPr>
      </p:sp>
      <p:sp>
        <p:nvSpPr>
          <p:cNvPr id="42" name="Text 38"/>
          <p:cNvSpPr txBox="1"/>
          <p:nvPr/>
        </p:nvSpPr>
        <p:spPr>
          <a:xfrm>
            <a:off x="6912864" y="3941064"/>
            <a:ext cx="731520" cy="274320"/>
          </a:xfrm>
          <a:prstGeom prst="rect">
            <a:avLst/>
          </a:prstGeom>
          <a:noFill/>
          <a:ln/>
        </p:spPr>
        <p:txBody>
          <a:bodyPr wrap="square" lIns="0" tIns="0" rIns="0" bIns="0" rtlCol="0" anchor="ctr"/>
          <a:lstStyle/>
          <a:p>
            <a:pPr indent="0" marL="0">
              <a:buNone/>
            </a:pPr>
            <a:r>
              <a:rPr lang="en-US" sz="950" dirty="0">
                <a:solidFill>
                  <a:schemeClr val="tx1"/>
                </a:solidFill>
              </a:rPr>
              <a:t>Due</a:t>
            </a:r>
            <a:endParaRPr lang="en-US" sz="950" dirty="0"/>
          </a:p>
        </p:txBody>
      </p:sp>
      <p:sp>
        <p:nvSpPr>
          <p:cNvPr id="43" name="Shape 39"/>
          <p:cNvSpPr/>
          <p:nvPr/>
        </p:nvSpPr>
        <p:spPr>
          <a:xfrm>
            <a:off x="7635240" y="3986784"/>
            <a:ext cx="182880" cy="182880"/>
          </a:xfrm>
          <a:prstGeom prst="roundRect">
            <a:avLst>
              <a:gd name="adj" fmla="val 20000"/>
            </a:avLst>
          </a:prstGeom>
          <a:solidFill>
            <a:srgbClr val="C9D3CC"/>
          </a:solidFill>
          <a:ln/>
        </p:spPr>
      </p:sp>
      <p:sp>
        <p:nvSpPr>
          <p:cNvPr id="44" name="Text 40"/>
          <p:cNvSpPr txBox="1"/>
          <p:nvPr/>
        </p:nvSpPr>
        <p:spPr>
          <a:xfrm>
            <a:off x="7872984" y="3941064"/>
            <a:ext cx="731520" cy="274320"/>
          </a:xfrm>
          <a:prstGeom prst="rect">
            <a:avLst/>
          </a:prstGeom>
          <a:noFill/>
          <a:ln/>
        </p:spPr>
        <p:txBody>
          <a:bodyPr wrap="square" lIns="0" tIns="0" rIns="0" bIns="0" rtlCol="0" anchor="ctr"/>
          <a:lstStyle/>
          <a:p>
            <a:pPr indent="0" marL="0">
              <a:buNone/>
            </a:pPr>
            <a:r>
              <a:rPr lang="en-US" sz="950" dirty="0">
                <a:solidFill>
                  <a:schemeClr val="tx1"/>
                </a:solidFill>
              </a:rPr>
              <a:t>Not entered</a:t>
            </a:r>
            <a:endParaRPr lang="en-US" sz="950" dirty="0"/>
          </a:p>
        </p:txBody>
      </p:sp>
      <p:sp>
        <p:nvSpPr>
          <p:cNvPr id="45" name="Text 41"/>
          <p:cNvSpPr txBox="1"/>
          <p:nvPr/>
        </p:nvSpPr>
        <p:spPr>
          <a:xfrm>
            <a:off x="5715000" y="4251960"/>
            <a:ext cx="2834640" cy="228600"/>
          </a:xfrm>
          <a:prstGeom prst="rect">
            <a:avLst/>
          </a:prstGeom>
          <a:noFill/>
          <a:ln/>
        </p:spPr>
        <p:txBody>
          <a:bodyPr wrap="square" lIns="0" tIns="0" rIns="0" bIns="0" rtlCol="0" anchor="ctr"/>
          <a:lstStyle/>
          <a:p>
            <a:pPr indent="0" marL="0">
              <a:buNone/>
            </a:pPr>
            <a:r>
              <a:rPr lang="en-US" sz="800" i="1" dirty="0">
                <a:solidFill>
                  <a:srgbClr val="6B7280"/>
                </a:solidFill>
              </a:rPr>
              <a:t>Illustration only, not a real tenant's record</a:t>
            </a:r>
            <a:endParaRPr lang="en-US" sz="8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B7280"/>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6583680" cy="685800"/>
          </a:xfrm>
          <a:prstGeom prst="rect">
            <a:avLst/>
          </a:prstGeom>
          <a:noFill/>
          <a:ln/>
        </p:spPr>
        <p:txBody>
          <a:bodyPr wrap="square" lIns="0" tIns="0" rIns="0" bIns="0" rtlCol="0" anchor="ctr"/>
          <a:lstStyle/>
          <a:p>
            <a:pPr algn="l" indent="0" marL="0">
              <a:buNone/>
            </a:pPr>
            <a:r>
              <a:rPr lang="en-US" sz="2800" b="1" dirty="0">
                <a:solidFill>
                  <a:schemeClr val="tx1"/>
                </a:solidFill>
                <a:latin typeface="Cambria" pitchFamily="34" charset="0"/>
                <a:ea typeface="Cambria" pitchFamily="34" charset="-122"/>
                <a:cs typeface="Cambria" pitchFamily="34" charset="-120"/>
              </a:rPr>
              <a:t>Interface progress</a:t>
            </a:r>
            <a:endParaRPr lang="en-US" sz="2800" dirty="0"/>
          </a:p>
        </p:txBody>
      </p:sp>
      <p:sp>
        <p:nvSpPr>
          <p:cNvPr id="3" name="Presenter tag"/>
          <p:cNvSpPr/>
          <p:nvPr/>
        </p:nvSpPr>
        <p:spPr>
          <a:xfrm>
            <a:off x="7178040" y="429768"/>
            <a:ext cx="1508760" cy="365760"/>
          </a:xfrm>
          <a:prstGeom prst="roundRect">
            <a:avLst>
              <a:gd name="adj" fmla="val 50000"/>
            </a:avLst>
          </a:prstGeom>
          <a:solidFill>
            <a:schemeClr val="accent2"/>
          </a:solidFill>
          <a:ln/>
        </p:spPr>
      </p:sp>
      <p:sp>
        <p:nvSpPr>
          <p:cNvPr id="4" name="Presenter name"/>
          <p:cNvSpPr txBox="1"/>
          <p:nvPr/>
        </p:nvSpPr>
        <p:spPr>
          <a:xfrm>
            <a:off x="7178040" y="429768"/>
            <a:ext cx="1508760" cy="365760"/>
          </a:xfrm>
          <a:prstGeom prst="rect">
            <a:avLst/>
          </a:prstGeom>
          <a:noFill/>
          <a:ln/>
        </p:spPr>
        <p:txBody>
          <a:bodyPr wrap="square" lIns="0" tIns="0" rIns="0" bIns="0" rtlCol="0" anchor="ctr"/>
          <a:lstStyle/>
          <a:p>
            <a:pPr algn="ctr" indent="0" marL="0">
              <a:buNone/>
            </a:pPr>
            <a:r>
              <a:rPr lang="en-US" sz="800" dirty="0">
                <a:solidFill>
                  <a:srgbClr val="7C4A03"/>
                </a:solidFill>
              </a:rPr>
              <a:t>PRESENTER  </a:t>
            </a:r>
            <a:pPr algn="ctr" indent="0" marL="0">
              <a:buNone/>
            </a:pPr>
            <a:r>
              <a:rPr lang="en-US" sz="1200" b="1" dirty="0">
                <a:solidFill>
                  <a:schemeClr val="tx1"/>
                </a:solidFill>
              </a:rPr>
              <a:t>Kiel</a:t>
            </a:r>
            <a:endParaRPr lang="en-US" sz="800" dirty="0"/>
          </a:p>
        </p:txBody>
      </p:sp>
      <p:sp>
        <p:nvSpPr>
          <p:cNvPr id="5" name="Phone"/>
          <p:cNvSpPr/>
          <p:nvPr/>
        </p:nvSpPr>
        <p:spPr>
          <a:xfrm>
            <a:off x="731520" y="1051560"/>
            <a:ext cx="1874520" cy="3291840"/>
          </a:xfrm>
          <a:prstGeom prst="roundRect">
            <a:avLst>
              <a:gd name="adj" fmla="val 12195"/>
            </a:avLst>
          </a:prstGeom>
          <a:solidFill>
            <a:srgbClr val="18261E"/>
          </a:solidFill>
          <a:ln/>
        </p:spPr>
      </p:sp>
      <p:sp>
        <p:nvSpPr>
          <p:cNvPr id="6" name="Screen"/>
          <p:cNvSpPr/>
          <p:nvPr/>
        </p:nvSpPr>
        <p:spPr>
          <a:xfrm>
            <a:off x="841248" y="1188720"/>
            <a:ext cx="1655064" cy="3017520"/>
          </a:xfrm>
          <a:prstGeom prst="roundRect">
            <a:avLst>
              <a:gd name="adj" fmla="val 8287"/>
            </a:avLst>
          </a:prstGeom>
          <a:solidFill>
            <a:srgbClr val="F4F7F5"/>
          </a:solidFill>
          <a:ln/>
        </p:spPr>
      </p:sp>
      <p:sp>
        <p:nvSpPr>
          <p:cNvPr id="7" name="Shape 5"/>
          <p:cNvSpPr/>
          <p:nvPr/>
        </p:nvSpPr>
        <p:spPr>
          <a:xfrm>
            <a:off x="841248" y="1325880"/>
            <a:ext cx="1655064" cy="347472"/>
          </a:xfrm>
          <a:prstGeom prst="rect">
            <a:avLst/>
          </a:prstGeom>
          <a:solidFill>
            <a:srgbClr val="17603F"/>
          </a:solidFill>
          <a:ln/>
        </p:spPr>
      </p:sp>
      <p:sp>
        <p:nvSpPr>
          <p:cNvPr id="8" name="Text 6"/>
          <p:cNvSpPr txBox="1"/>
          <p:nvPr/>
        </p:nvSpPr>
        <p:spPr>
          <a:xfrm>
            <a:off x="960120" y="1325880"/>
            <a:ext cx="1097280" cy="347472"/>
          </a:xfrm>
          <a:prstGeom prst="rect">
            <a:avLst/>
          </a:prstGeom>
          <a:noFill/>
          <a:ln/>
        </p:spPr>
        <p:txBody>
          <a:bodyPr wrap="square" lIns="0" tIns="0" rIns="0" bIns="0" rtlCol="0" anchor="ctr"/>
          <a:lstStyle/>
          <a:p>
            <a:pPr indent="0" marL="0">
              <a:buNone/>
            </a:pPr>
            <a:r>
              <a:rPr lang="en-US" sz="1000" b="1" dirty="0">
                <a:solidFill>
                  <a:srgbClr val="FFFFFF"/>
                </a:solidFill>
              </a:rPr>
              <a:t>Hivelet</a:t>
            </a:r>
            <a:endParaRPr lang="en-US" sz="1000" dirty="0"/>
          </a:p>
        </p:txBody>
      </p:sp>
      <p:sp>
        <p:nvSpPr>
          <p:cNvPr id="9" name="Shape 7"/>
          <p:cNvSpPr/>
          <p:nvPr/>
        </p:nvSpPr>
        <p:spPr>
          <a:xfrm>
            <a:off x="932688" y="1783080"/>
            <a:ext cx="1472184" cy="512064"/>
          </a:xfrm>
          <a:prstGeom prst="roundRect">
            <a:avLst>
              <a:gd name="adj" fmla="val 10714"/>
            </a:avLst>
          </a:prstGeom>
          <a:solidFill>
            <a:srgbClr val="FFFFFF"/>
          </a:solidFill>
          <a:ln w="9525">
            <a:solidFill>
              <a:srgbClr val="D9E3DC"/>
            </a:solidFill>
            <a:prstDash val="solid"/>
          </a:ln>
        </p:spPr>
      </p:sp>
      <p:sp>
        <p:nvSpPr>
          <p:cNvPr id="10" name="Shape 8"/>
          <p:cNvSpPr/>
          <p:nvPr/>
        </p:nvSpPr>
        <p:spPr>
          <a:xfrm>
            <a:off x="1024128" y="1874520"/>
            <a:ext cx="822960" cy="91440"/>
          </a:xfrm>
          <a:prstGeom prst="rect">
            <a:avLst/>
          </a:prstGeom>
          <a:solidFill>
            <a:srgbClr val="9DB5A6"/>
          </a:solidFill>
          <a:ln/>
        </p:spPr>
      </p:sp>
      <p:sp>
        <p:nvSpPr>
          <p:cNvPr id="11" name="Shape 9"/>
          <p:cNvSpPr/>
          <p:nvPr/>
        </p:nvSpPr>
        <p:spPr>
          <a:xfrm>
            <a:off x="1024128" y="2057400"/>
            <a:ext cx="1188720" cy="73152"/>
          </a:xfrm>
          <a:prstGeom prst="rect">
            <a:avLst/>
          </a:prstGeom>
          <a:solidFill>
            <a:srgbClr val="D5DED8"/>
          </a:solidFill>
          <a:ln/>
        </p:spPr>
      </p:sp>
      <p:sp>
        <p:nvSpPr>
          <p:cNvPr id="12" name="Shape 10"/>
          <p:cNvSpPr/>
          <p:nvPr/>
        </p:nvSpPr>
        <p:spPr>
          <a:xfrm>
            <a:off x="1993392" y="1856232"/>
            <a:ext cx="329184" cy="146304"/>
          </a:xfrm>
          <a:prstGeom prst="roundRect">
            <a:avLst>
              <a:gd name="adj" fmla="val 50000"/>
            </a:avLst>
          </a:prstGeom>
          <a:solidFill>
            <a:srgbClr val="17603F"/>
          </a:solidFill>
          <a:ln/>
        </p:spPr>
      </p:sp>
      <p:sp>
        <p:nvSpPr>
          <p:cNvPr id="13" name="Shape 11"/>
          <p:cNvSpPr/>
          <p:nvPr/>
        </p:nvSpPr>
        <p:spPr>
          <a:xfrm>
            <a:off x="932688" y="2386584"/>
            <a:ext cx="1472184" cy="512064"/>
          </a:xfrm>
          <a:prstGeom prst="roundRect">
            <a:avLst>
              <a:gd name="adj" fmla="val 10714"/>
            </a:avLst>
          </a:prstGeom>
          <a:solidFill>
            <a:srgbClr val="FFFFFF"/>
          </a:solidFill>
          <a:ln w="9525">
            <a:solidFill>
              <a:srgbClr val="D9E3DC"/>
            </a:solidFill>
            <a:prstDash val="solid"/>
          </a:ln>
        </p:spPr>
      </p:sp>
      <p:sp>
        <p:nvSpPr>
          <p:cNvPr id="14" name="Shape 12"/>
          <p:cNvSpPr/>
          <p:nvPr/>
        </p:nvSpPr>
        <p:spPr>
          <a:xfrm>
            <a:off x="1024128" y="2478024"/>
            <a:ext cx="822960" cy="91440"/>
          </a:xfrm>
          <a:prstGeom prst="rect">
            <a:avLst/>
          </a:prstGeom>
          <a:solidFill>
            <a:srgbClr val="9DB5A6"/>
          </a:solidFill>
          <a:ln/>
        </p:spPr>
      </p:sp>
      <p:sp>
        <p:nvSpPr>
          <p:cNvPr id="15" name="Shape 13"/>
          <p:cNvSpPr/>
          <p:nvPr/>
        </p:nvSpPr>
        <p:spPr>
          <a:xfrm>
            <a:off x="1024128" y="2660904"/>
            <a:ext cx="1188720" cy="73152"/>
          </a:xfrm>
          <a:prstGeom prst="rect">
            <a:avLst/>
          </a:prstGeom>
          <a:solidFill>
            <a:srgbClr val="D5DED8"/>
          </a:solidFill>
          <a:ln/>
        </p:spPr>
      </p:sp>
      <p:sp>
        <p:nvSpPr>
          <p:cNvPr id="16" name="Shape 14"/>
          <p:cNvSpPr/>
          <p:nvPr/>
        </p:nvSpPr>
        <p:spPr>
          <a:xfrm>
            <a:off x="1993392" y="2459736"/>
            <a:ext cx="329184" cy="146304"/>
          </a:xfrm>
          <a:prstGeom prst="roundRect">
            <a:avLst>
              <a:gd name="adj" fmla="val 50000"/>
            </a:avLst>
          </a:prstGeom>
          <a:solidFill>
            <a:srgbClr val="F59E0B"/>
          </a:solidFill>
          <a:ln/>
        </p:spPr>
      </p:sp>
      <p:sp>
        <p:nvSpPr>
          <p:cNvPr id="17" name="Shape 15"/>
          <p:cNvSpPr/>
          <p:nvPr/>
        </p:nvSpPr>
        <p:spPr>
          <a:xfrm>
            <a:off x="932688" y="2990088"/>
            <a:ext cx="1472184" cy="512064"/>
          </a:xfrm>
          <a:prstGeom prst="roundRect">
            <a:avLst>
              <a:gd name="adj" fmla="val 10714"/>
            </a:avLst>
          </a:prstGeom>
          <a:solidFill>
            <a:srgbClr val="FFFFFF"/>
          </a:solidFill>
          <a:ln w="9525">
            <a:solidFill>
              <a:srgbClr val="D9E3DC"/>
            </a:solidFill>
            <a:prstDash val="solid"/>
          </a:ln>
        </p:spPr>
      </p:sp>
      <p:sp>
        <p:nvSpPr>
          <p:cNvPr id="18" name="Shape 16"/>
          <p:cNvSpPr/>
          <p:nvPr/>
        </p:nvSpPr>
        <p:spPr>
          <a:xfrm>
            <a:off x="1024128" y="3081528"/>
            <a:ext cx="822960" cy="91440"/>
          </a:xfrm>
          <a:prstGeom prst="rect">
            <a:avLst/>
          </a:prstGeom>
          <a:solidFill>
            <a:srgbClr val="9DB5A6"/>
          </a:solidFill>
          <a:ln/>
        </p:spPr>
      </p:sp>
      <p:sp>
        <p:nvSpPr>
          <p:cNvPr id="19" name="Shape 17"/>
          <p:cNvSpPr/>
          <p:nvPr/>
        </p:nvSpPr>
        <p:spPr>
          <a:xfrm>
            <a:off x="1024128" y="3264408"/>
            <a:ext cx="1188720" cy="73152"/>
          </a:xfrm>
          <a:prstGeom prst="rect">
            <a:avLst/>
          </a:prstGeom>
          <a:solidFill>
            <a:srgbClr val="D5DED8"/>
          </a:solidFill>
          <a:ln/>
        </p:spPr>
      </p:sp>
      <p:sp>
        <p:nvSpPr>
          <p:cNvPr id="20" name="Shape 18"/>
          <p:cNvSpPr/>
          <p:nvPr/>
        </p:nvSpPr>
        <p:spPr>
          <a:xfrm>
            <a:off x="1993392" y="3063240"/>
            <a:ext cx="329184" cy="146304"/>
          </a:xfrm>
          <a:prstGeom prst="roundRect">
            <a:avLst>
              <a:gd name="adj" fmla="val 50000"/>
            </a:avLst>
          </a:prstGeom>
          <a:solidFill>
            <a:srgbClr val="17603F"/>
          </a:solidFill>
          <a:ln/>
        </p:spPr>
      </p:sp>
      <p:sp>
        <p:nvSpPr>
          <p:cNvPr id="21" name="Shape 19"/>
          <p:cNvSpPr/>
          <p:nvPr/>
        </p:nvSpPr>
        <p:spPr>
          <a:xfrm>
            <a:off x="932688" y="3593592"/>
            <a:ext cx="1472184" cy="512064"/>
          </a:xfrm>
          <a:prstGeom prst="roundRect">
            <a:avLst>
              <a:gd name="adj" fmla="val 10714"/>
            </a:avLst>
          </a:prstGeom>
          <a:solidFill>
            <a:srgbClr val="FFFFFF"/>
          </a:solidFill>
          <a:ln w="9525">
            <a:solidFill>
              <a:srgbClr val="D9E3DC"/>
            </a:solidFill>
            <a:prstDash val="solid"/>
          </a:ln>
        </p:spPr>
      </p:sp>
      <p:sp>
        <p:nvSpPr>
          <p:cNvPr id="22" name="Shape 20"/>
          <p:cNvSpPr/>
          <p:nvPr/>
        </p:nvSpPr>
        <p:spPr>
          <a:xfrm>
            <a:off x="1024128" y="3685032"/>
            <a:ext cx="822960" cy="91440"/>
          </a:xfrm>
          <a:prstGeom prst="rect">
            <a:avLst/>
          </a:prstGeom>
          <a:solidFill>
            <a:srgbClr val="9DB5A6"/>
          </a:solidFill>
          <a:ln/>
        </p:spPr>
      </p:sp>
      <p:sp>
        <p:nvSpPr>
          <p:cNvPr id="23" name="Shape 21"/>
          <p:cNvSpPr/>
          <p:nvPr/>
        </p:nvSpPr>
        <p:spPr>
          <a:xfrm>
            <a:off x="1024128" y="3867912"/>
            <a:ext cx="1188720" cy="73152"/>
          </a:xfrm>
          <a:prstGeom prst="rect">
            <a:avLst/>
          </a:prstGeom>
          <a:solidFill>
            <a:srgbClr val="D5DED8"/>
          </a:solidFill>
          <a:ln/>
        </p:spPr>
      </p:sp>
      <p:sp>
        <p:nvSpPr>
          <p:cNvPr id="24" name="Shape 22"/>
          <p:cNvSpPr/>
          <p:nvPr/>
        </p:nvSpPr>
        <p:spPr>
          <a:xfrm>
            <a:off x="1993392" y="3666744"/>
            <a:ext cx="329184" cy="146304"/>
          </a:xfrm>
          <a:prstGeom prst="roundRect">
            <a:avLst>
              <a:gd name="adj" fmla="val 50000"/>
            </a:avLst>
          </a:prstGeom>
          <a:solidFill>
            <a:srgbClr val="17603F"/>
          </a:solidFill>
          <a:ln/>
        </p:spPr>
      </p:sp>
      <p:sp>
        <p:nvSpPr>
          <p:cNvPr id="25" name="Text 23"/>
          <p:cNvSpPr txBox="1"/>
          <p:nvPr/>
        </p:nvSpPr>
        <p:spPr>
          <a:xfrm>
            <a:off x="457200" y="4407408"/>
            <a:ext cx="2423160" cy="201168"/>
          </a:xfrm>
          <a:prstGeom prst="rect">
            <a:avLst/>
          </a:prstGeom>
          <a:noFill/>
          <a:ln/>
        </p:spPr>
        <p:txBody>
          <a:bodyPr wrap="square" lIns="0" tIns="0" rIns="0" bIns="0" rtlCol="0" anchor="ctr"/>
          <a:lstStyle/>
          <a:p>
            <a:pPr algn="ctr" indent="0" marL="0">
              <a:buNone/>
            </a:pPr>
            <a:r>
              <a:rPr lang="en-US" sz="850" i="1" dirty="0">
                <a:solidFill>
                  <a:srgbClr val="6B7280"/>
                </a:solidFill>
              </a:rPr>
              <a:t>Tables become cards on a phone</a:t>
            </a:r>
            <a:endParaRPr lang="en-US" sz="850" dirty="0"/>
          </a:p>
        </p:txBody>
      </p:sp>
      <p:sp>
        <p:nvSpPr>
          <p:cNvPr id="26" name="Hex FaThLarge"/>
          <p:cNvSpPr/>
          <p:nvPr/>
        </p:nvSpPr>
        <p:spPr>
          <a:xfrm>
            <a:off x="3246120" y="1088136"/>
            <a:ext cx="502920" cy="442570"/>
          </a:xfrm>
          <a:prstGeom prst="hexagon">
            <a:avLst/>
          </a:prstGeom>
          <a:solidFill>
            <a:srgbClr val="17603F"/>
          </a:solidFill>
          <a:ln/>
        </p:spPr>
      </p:sp>
      <p:pic>
        <p:nvPicPr>
          <p:cNvPr id="27" name="Icon FaThLarge" descr="preencoded.png">    </p:cNvPr>
          <p:cNvPicPr>
            <a:picLocks noChangeAspect="1"/>
          </p:cNvPicPr>
          <p:nvPr/>
        </p:nvPicPr>
        <p:blipFill>
          <a:blip r:embed="rId1"/>
          <a:stretch>
            <a:fillRect/>
          </a:stretch>
        </p:blipFill>
        <p:spPr>
          <a:xfrm>
            <a:off x="3381908" y="1193749"/>
            <a:ext cx="231343" cy="231343"/>
          </a:xfrm>
          <a:prstGeom prst="rect">
            <a:avLst/>
          </a:prstGeom>
        </p:spPr>
      </p:pic>
      <p:sp>
        <p:nvSpPr>
          <p:cNvPr id="28" name="Text 25"/>
          <p:cNvSpPr txBox="1"/>
          <p:nvPr/>
        </p:nvSpPr>
        <p:spPr>
          <a:xfrm>
            <a:off x="3931920" y="1051560"/>
            <a:ext cx="4754880" cy="621792"/>
          </a:xfrm>
          <a:prstGeom prst="rect">
            <a:avLst/>
          </a:prstGeom>
          <a:noFill/>
          <a:ln/>
        </p:spPr>
        <p:txBody>
          <a:bodyPr wrap="square" lIns="0" tIns="0" rIns="0" bIns="0" rtlCol="0" anchor="ctr"/>
          <a:lstStyle/>
          <a:p>
            <a:pPr indent="0" marL="0">
              <a:buNone/>
            </a:pPr>
            <a:r>
              <a:rPr lang="en-US" sz="1300" b="1" dirty="0">
                <a:solidFill>
                  <a:schemeClr val="tx1"/>
                </a:solidFill>
              </a:rPr>
              <a:t>Rebuilt for phones</a:t>
            </a:r>
            <a:endParaRPr lang="en-US" sz="1300" dirty="0"/>
          </a:p>
          <a:p>
            <a:pPr indent="0" marL="0">
              <a:buNone/>
            </a:pPr>
            <a:r>
              <a:rPr lang="en-US" sz="1050" dirty="0">
                <a:solidFill>
                  <a:schemeClr val="tx1"/>
                </a:solidFill>
              </a:rPr>
              <a:t>Cards instead of wide tables, no overlapping toolbars, every dialog has a way out</a:t>
            </a:r>
            <a:endParaRPr lang="en-US" sz="1300" dirty="0"/>
          </a:p>
        </p:txBody>
      </p:sp>
      <p:sp>
        <p:nvSpPr>
          <p:cNvPr id="29" name="Hex FaMoon"/>
          <p:cNvSpPr/>
          <p:nvPr/>
        </p:nvSpPr>
        <p:spPr>
          <a:xfrm>
            <a:off x="3246120" y="1801368"/>
            <a:ext cx="502920" cy="442570"/>
          </a:xfrm>
          <a:prstGeom prst="hexagon">
            <a:avLst/>
          </a:prstGeom>
          <a:solidFill>
            <a:srgbClr val="17603F"/>
          </a:solidFill>
          <a:ln/>
        </p:spPr>
      </p:sp>
      <p:pic>
        <p:nvPicPr>
          <p:cNvPr id="30" name="Icon FaMoon" descr="preencoded.png">    </p:cNvPr>
          <p:cNvPicPr>
            <a:picLocks noChangeAspect="1"/>
          </p:cNvPicPr>
          <p:nvPr/>
        </p:nvPicPr>
        <p:blipFill>
          <a:blip r:embed="rId2"/>
          <a:stretch>
            <a:fillRect/>
          </a:stretch>
        </p:blipFill>
        <p:spPr>
          <a:xfrm>
            <a:off x="3381908" y="1906981"/>
            <a:ext cx="231343" cy="231343"/>
          </a:xfrm>
          <a:prstGeom prst="rect">
            <a:avLst/>
          </a:prstGeom>
        </p:spPr>
      </p:pic>
      <p:sp>
        <p:nvSpPr>
          <p:cNvPr id="31" name="Text 27"/>
          <p:cNvSpPr txBox="1"/>
          <p:nvPr/>
        </p:nvSpPr>
        <p:spPr>
          <a:xfrm>
            <a:off x="3931920" y="1764792"/>
            <a:ext cx="4754880" cy="621792"/>
          </a:xfrm>
          <a:prstGeom prst="rect">
            <a:avLst/>
          </a:prstGeom>
          <a:noFill/>
          <a:ln/>
        </p:spPr>
        <p:txBody>
          <a:bodyPr wrap="square" lIns="0" tIns="0" rIns="0" bIns="0" rtlCol="0" anchor="ctr"/>
          <a:lstStyle/>
          <a:p>
            <a:pPr indent="0" marL="0">
              <a:buNone/>
            </a:pPr>
            <a:r>
              <a:rPr lang="en-US" sz="1300" b="1" dirty="0">
                <a:solidFill>
                  <a:schemeClr val="tx1"/>
                </a:solidFill>
              </a:rPr>
              <a:t>Full dark mode</a:t>
            </a:r>
            <a:endParaRPr lang="en-US" sz="1300" dirty="0"/>
          </a:p>
          <a:p>
            <a:pPr indent="0" marL="0">
              <a:buNone/>
            </a:pPr>
            <a:r>
              <a:rPr lang="en-US" sz="1050" dirty="0">
                <a:solidFill>
                  <a:schemeClr val="tx1"/>
                </a:solidFill>
              </a:rPr>
              <a:t>Switch in the account menu; sun/moon on public pages</a:t>
            </a:r>
            <a:endParaRPr lang="en-US" sz="1300" dirty="0"/>
          </a:p>
        </p:txBody>
      </p:sp>
      <p:sp>
        <p:nvSpPr>
          <p:cNvPr id="32" name="Hex FaSyncAlt"/>
          <p:cNvSpPr/>
          <p:nvPr/>
        </p:nvSpPr>
        <p:spPr>
          <a:xfrm>
            <a:off x="3246120" y="2514600"/>
            <a:ext cx="502920" cy="442570"/>
          </a:xfrm>
          <a:prstGeom prst="hexagon">
            <a:avLst/>
          </a:prstGeom>
          <a:solidFill>
            <a:srgbClr val="17603F"/>
          </a:solidFill>
          <a:ln/>
        </p:spPr>
      </p:sp>
      <p:pic>
        <p:nvPicPr>
          <p:cNvPr id="33" name="Icon FaSyncAlt" descr="preencoded.png">    </p:cNvPr>
          <p:cNvPicPr>
            <a:picLocks noChangeAspect="1"/>
          </p:cNvPicPr>
          <p:nvPr/>
        </p:nvPicPr>
        <p:blipFill>
          <a:blip r:embed="rId3"/>
          <a:stretch>
            <a:fillRect/>
          </a:stretch>
        </p:blipFill>
        <p:spPr>
          <a:xfrm>
            <a:off x="3381908" y="2620213"/>
            <a:ext cx="231343" cy="231343"/>
          </a:xfrm>
          <a:prstGeom prst="rect">
            <a:avLst/>
          </a:prstGeom>
        </p:spPr>
      </p:pic>
      <p:sp>
        <p:nvSpPr>
          <p:cNvPr id="34" name="Text 29"/>
          <p:cNvSpPr txBox="1"/>
          <p:nvPr/>
        </p:nvSpPr>
        <p:spPr>
          <a:xfrm>
            <a:off x="3931920" y="2478024"/>
            <a:ext cx="4754880" cy="621792"/>
          </a:xfrm>
          <a:prstGeom prst="rect">
            <a:avLst/>
          </a:prstGeom>
          <a:noFill/>
          <a:ln/>
        </p:spPr>
        <p:txBody>
          <a:bodyPr wrap="square" lIns="0" tIns="0" rIns="0" bIns="0" rtlCol="0" anchor="ctr"/>
          <a:lstStyle/>
          <a:p>
            <a:pPr indent="0" marL="0">
              <a:buNone/>
            </a:pPr>
            <a:r>
              <a:rPr lang="en-US" sz="1300" b="1" dirty="0">
                <a:solidFill>
                  <a:schemeClr val="tx1"/>
                </a:solidFill>
              </a:rPr>
              <a:t>Pull-to-refresh</a:t>
            </a:r>
            <a:endParaRPr lang="en-US" sz="1300" dirty="0"/>
          </a:p>
          <a:p>
            <a:pPr indent="0" marL="0">
              <a:buNone/>
            </a:pPr>
            <a:r>
              <a:rPr lang="en-US" sz="1050" dirty="0">
                <a:solidFill>
                  <a:schemeClr val="tx1"/>
                </a:solidFill>
              </a:rPr>
              <a:t>In the installed app, like a native one</a:t>
            </a:r>
            <a:endParaRPr lang="en-US" sz="1300" dirty="0"/>
          </a:p>
        </p:txBody>
      </p:sp>
      <p:sp>
        <p:nvSpPr>
          <p:cNvPr id="35" name="Hex FaFilter"/>
          <p:cNvSpPr/>
          <p:nvPr/>
        </p:nvSpPr>
        <p:spPr>
          <a:xfrm>
            <a:off x="3246120" y="3227832"/>
            <a:ext cx="502920" cy="442570"/>
          </a:xfrm>
          <a:prstGeom prst="hexagon">
            <a:avLst/>
          </a:prstGeom>
          <a:solidFill>
            <a:srgbClr val="17603F"/>
          </a:solidFill>
          <a:ln/>
        </p:spPr>
      </p:sp>
      <p:pic>
        <p:nvPicPr>
          <p:cNvPr id="36" name="Icon FaFilter" descr="preencoded.png">    </p:cNvPr>
          <p:cNvPicPr>
            <a:picLocks noChangeAspect="1"/>
          </p:cNvPicPr>
          <p:nvPr/>
        </p:nvPicPr>
        <p:blipFill>
          <a:blip r:embed="rId4"/>
          <a:stretch>
            <a:fillRect/>
          </a:stretch>
        </p:blipFill>
        <p:spPr>
          <a:xfrm>
            <a:off x="3381908" y="3333445"/>
            <a:ext cx="231343" cy="231343"/>
          </a:xfrm>
          <a:prstGeom prst="rect">
            <a:avLst/>
          </a:prstGeom>
        </p:spPr>
      </p:pic>
      <p:sp>
        <p:nvSpPr>
          <p:cNvPr id="37" name="Text 31"/>
          <p:cNvSpPr txBox="1"/>
          <p:nvPr/>
        </p:nvSpPr>
        <p:spPr>
          <a:xfrm>
            <a:off x="3931920" y="3191256"/>
            <a:ext cx="4754880" cy="621792"/>
          </a:xfrm>
          <a:prstGeom prst="rect">
            <a:avLst/>
          </a:prstGeom>
          <a:noFill/>
          <a:ln/>
        </p:spPr>
        <p:txBody>
          <a:bodyPr wrap="square" lIns="0" tIns="0" rIns="0" bIns="0" rtlCol="0" anchor="ctr"/>
          <a:lstStyle/>
          <a:p>
            <a:pPr indent="0" marL="0">
              <a:buNone/>
            </a:pPr>
            <a:r>
              <a:rPr lang="en-US" sz="1300" b="1" dirty="0">
                <a:solidFill>
                  <a:schemeClr val="tx1"/>
                </a:solidFill>
              </a:rPr>
              <a:t>Filters and sorting</a:t>
            </a:r>
            <a:endParaRPr lang="en-US" sz="1300" dirty="0"/>
          </a:p>
          <a:p>
            <a:pPr indent="0" marL="0">
              <a:buNone/>
            </a:pPr>
            <a:r>
              <a:rPr lang="en-US" sz="1050" dirty="0">
                <a:solidFill>
                  <a:schemeClr val="tx1"/>
                </a:solidFill>
              </a:rPr>
              <a:t>On eight list screens</a:t>
            </a:r>
            <a:endParaRPr lang="en-US" sz="1300" dirty="0"/>
          </a:p>
        </p:txBody>
      </p:sp>
      <p:sp>
        <p:nvSpPr>
          <p:cNvPr id="38" name="Hex FaWifi"/>
          <p:cNvSpPr/>
          <p:nvPr/>
        </p:nvSpPr>
        <p:spPr>
          <a:xfrm>
            <a:off x="3246120" y="3941064"/>
            <a:ext cx="502920" cy="442570"/>
          </a:xfrm>
          <a:prstGeom prst="hexagon">
            <a:avLst/>
          </a:prstGeom>
          <a:solidFill>
            <a:srgbClr val="17603F"/>
          </a:solidFill>
          <a:ln/>
        </p:spPr>
      </p:sp>
      <p:pic>
        <p:nvPicPr>
          <p:cNvPr id="39" name="Icon FaWifi" descr="preencoded.png">    </p:cNvPr>
          <p:cNvPicPr>
            <a:picLocks noChangeAspect="1"/>
          </p:cNvPicPr>
          <p:nvPr/>
        </p:nvPicPr>
        <p:blipFill>
          <a:blip r:embed="rId5"/>
          <a:stretch>
            <a:fillRect/>
          </a:stretch>
        </p:blipFill>
        <p:spPr>
          <a:xfrm>
            <a:off x="3381908" y="4046677"/>
            <a:ext cx="231343" cy="231343"/>
          </a:xfrm>
          <a:prstGeom prst="rect">
            <a:avLst/>
          </a:prstGeom>
        </p:spPr>
      </p:pic>
      <p:sp>
        <p:nvSpPr>
          <p:cNvPr id="40" name="Text 33"/>
          <p:cNvSpPr txBox="1"/>
          <p:nvPr/>
        </p:nvSpPr>
        <p:spPr>
          <a:xfrm>
            <a:off x="3931920" y="3904488"/>
            <a:ext cx="4754880" cy="621792"/>
          </a:xfrm>
          <a:prstGeom prst="rect">
            <a:avLst/>
          </a:prstGeom>
          <a:noFill/>
          <a:ln/>
        </p:spPr>
        <p:txBody>
          <a:bodyPr wrap="square" lIns="0" tIns="0" rIns="0" bIns="0" rtlCol="0" anchor="ctr"/>
          <a:lstStyle/>
          <a:p>
            <a:pPr indent="0" marL="0">
              <a:buNone/>
            </a:pPr>
            <a:r>
              <a:rPr lang="en-US" sz="1300" b="1" dirty="0">
                <a:solidFill>
                  <a:schemeClr val="tx1"/>
                </a:solidFill>
              </a:rPr>
              <a:t>Offline essentials</a:t>
            </a:r>
            <a:endParaRPr lang="en-US" sz="1300" dirty="0"/>
          </a:p>
          <a:p>
            <a:pPr indent="0" marL="0">
              <a:buNone/>
            </a:pPr>
            <a:r>
              <a:rPr lang="en-US" sz="1050" dirty="0">
                <a:solidFill>
                  <a:schemeClr val="tx1"/>
                </a:solidFill>
              </a:rPr>
              <a:t>Last-loaded figures readable with no signal; paying and recording stay online</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B7280"/>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6583680" cy="685800"/>
          </a:xfrm>
          <a:prstGeom prst="rect">
            <a:avLst/>
          </a:prstGeom>
          <a:noFill/>
          <a:ln/>
        </p:spPr>
        <p:txBody>
          <a:bodyPr wrap="square" lIns="0" tIns="0" rIns="0" bIns="0" rtlCol="0" anchor="ctr"/>
          <a:lstStyle/>
          <a:p>
            <a:pPr algn="l" indent="0" marL="0">
              <a:buNone/>
            </a:pPr>
            <a:r>
              <a:rPr lang="en-US" sz="2800" b="1" dirty="0">
                <a:solidFill>
                  <a:schemeClr val="tx1"/>
                </a:solidFill>
                <a:latin typeface="Cambria" pitchFamily="34" charset="0"/>
                <a:ea typeface="Cambria" pitchFamily="34" charset="-122"/>
                <a:cs typeface="Cambria" pitchFamily="34" charset="-120"/>
              </a:rPr>
              <a:t>Testing day: tenant acceptance</a:t>
            </a:r>
            <a:endParaRPr lang="en-US" sz="2800" dirty="0"/>
          </a:p>
        </p:txBody>
      </p:sp>
      <p:sp>
        <p:nvSpPr>
          <p:cNvPr id="3" name="Presenter tag"/>
          <p:cNvSpPr/>
          <p:nvPr/>
        </p:nvSpPr>
        <p:spPr>
          <a:xfrm>
            <a:off x="7178040" y="429768"/>
            <a:ext cx="1508760" cy="365760"/>
          </a:xfrm>
          <a:prstGeom prst="roundRect">
            <a:avLst>
              <a:gd name="adj" fmla="val 50000"/>
            </a:avLst>
          </a:prstGeom>
          <a:solidFill>
            <a:schemeClr val="accent2"/>
          </a:solidFill>
          <a:ln/>
        </p:spPr>
      </p:sp>
      <p:sp>
        <p:nvSpPr>
          <p:cNvPr id="4" name="Presenter name"/>
          <p:cNvSpPr txBox="1"/>
          <p:nvPr/>
        </p:nvSpPr>
        <p:spPr>
          <a:xfrm>
            <a:off x="7178040" y="429768"/>
            <a:ext cx="1508760" cy="365760"/>
          </a:xfrm>
          <a:prstGeom prst="rect">
            <a:avLst/>
          </a:prstGeom>
          <a:noFill/>
          <a:ln/>
        </p:spPr>
        <p:txBody>
          <a:bodyPr wrap="square" lIns="0" tIns="0" rIns="0" bIns="0" rtlCol="0" anchor="ctr"/>
          <a:lstStyle/>
          <a:p>
            <a:pPr algn="ctr" indent="0" marL="0">
              <a:buNone/>
            </a:pPr>
            <a:r>
              <a:rPr lang="en-US" sz="800" dirty="0">
                <a:solidFill>
                  <a:srgbClr val="7C4A03"/>
                </a:solidFill>
              </a:rPr>
              <a:t>PRESENTER  </a:t>
            </a:r>
            <a:pPr algn="ctr" indent="0" marL="0">
              <a:buNone/>
            </a:pPr>
            <a:r>
              <a:rPr lang="en-US" sz="1200" b="1" dirty="0">
                <a:solidFill>
                  <a:schemeClr val="tx1"/>
                </a:solidFill>
              </a:rPr>
              <a:t>Kiel</a:t>
            </a:r>
            <a:endParaRPr lang="en-US" sz="800" dirty="0"/>
          </a:p>
        </p:txBody>
      </p:sp>
      <p:sp>
        <p:nvSpPr>
          <p:cNvPr id="5" name="Card"/>
          <p:cNvSpPr/>
          <p:nvPr/>
        </p:nvSpPr>
        <p:spPr>
          <a:xfrm>
            <a:off x="457200" y="1097280"/>
            <a:ext cx="2743200" cy="3474720"/>
          </a:xfrm>
          <a:prstGeom prst="roundRect">
            <a:avLst>
              <a:gd name="adj" fmla="val 2667"/>
            </a:avLst>
          </a:prstGeom>
          <a:solidFill>
            <a:srgbClr val="17603F"/>
          </a:solidFill>
          <a:ln/>
        </p:spPr>
      </p:sp>
      <p:sp>
        <p:nvSpPr>
          <p:cNvPr id="6" name="Text 4"/>
          <p:cNvSpPr txBox="1"/>
          <p:nvPr/>
        </p:nvSpPr>
        <p:spPr>
          <a:xfrm>
            <a:off x="640080" y="1234440"/>
            <a:ext cx="2377440" cy="914400"/>
          </a:xfrm>
          <a:prstGeom prst="rect">
            <a:avLst/>
          </a:prstGeom>
          <a:noFill/>
          <a:ln/>
        </p:spPr>
        <p:txBody>
          <a:bodyPr wrap="square" lIns="0" tIns="0" rIns="0" bIns="0" rtlCol="0" anchor="ctr"/>
          <a:lstStyle/>
          <a:p>
            <a:pPr indent="0" marL="0">
              <a:buNone/>
            </a:pPr>
            <a:r>
              <a:rPr lang="en-US" sz="5800" b="1" dirty="0">
                <a:solidFill>
                  <a:srgbClr val="FFFFFF"/>
                </a:solidFill>
                <a:latin typeface="Cambria" pitchFamily="34" charset="0"/>
                <a:ea typeface="Cambria" pitchFamily="34" charset="-122"/>
                <a:cs typeface="Cambria" pitchFamily="34" charset="-120"/>
              </a:rPr>
              <a:t>91%</a:t>
            </a:r>
            <a:endParaRPr lang="en-US" sz="5800" dirty="0"/>
          </a:p>
        </p:txBody>
      </p:sp>
      <p:sp>
        <p:nvSpPr>
          <p:cNvPr id="7" name="Text 5"/>
          <p:cNvSpPr txBox="1"/>
          <p:nvPr/>
        </p:nvSpPr>
        <p:spPr>
          <a:xfrm>
            <a:off x="640080" y="2148840"/>
            <a:ext cx="2377440" cy="594360"/>
          </a:xfrm>
          <a:prstGeom prst="rect">
            <a:avLst/>
          </a:prstGeom>
          <a:noFill/>
          <a:ln/>
        </p:spPr>
        <p:txBody>
          <a:bodyPr wrap="square" lIns="0" tIns="0" rIns="0" bIns="0" rtlCol="0" anchor="t"/>
          <a:lstStyle/>
          <a:p>
            <a:pPr indent="0" marL="0">
              <a:buNone/>
            </a:pPr>
            <a:r>
              <a:rPr lang="en-US" sz="1200" dirty="0">
                <a:solidFill>
                  <a:srgbClr val="D5EADC"/>
                </a:solidFill>
              </a:rPr>
              <a:t>of 34 tenant task attempts completed without help (30 Sep)</a:t>
            </a:r>
            <a:endParaRPr lang="en-US" sz="1200" dirty="0"/>
          </a:p>
        </p:txBody>
      </p:sp>
      <p:sp>
        <p:nvSpPr>
          <p:cNvPr id="8" name="Text 6"/>
          <p:cNvSpPr txBox="1"/>
          <p:nvPr/>
        </p:nvSpPr>
        <p:spPr>
          <a:xfrm>
            <a:off x="640080" y="2834640"/>
            <a:ext cx="548640" cy="457200"/>
          </a:xfrm>
          <a:prstGeom prst="rect">
            <a:avLst/>
          </a:prstGeom>
          <a:noFill/>
          <a:ln/>
        </p:spPr>
        <p:txBody>
          <a:bodyPr wrap="square" lIns="0" tIns="0" rIns="0" bIns="0" rtlCol="0" anchor="ctr"/>
          <a:lstStyle/>
          <a:p>
            <a:pPr indent="0" marL="0">
              <a:buNone/>
            </a:pPr>
            <a:r>
              <a:rPr lang="en-US" sz="2200" b="1" dirty="0">
                <a:solidFill>
                  <a:srgbClr val="F59E0B"/>
                </a:solidFill>
              </a:rPr>
              <a:t>31</a:t>
            </a:r>
            <a:endParaRPr lang="en-US" sz="2200" dirty="0"/>
          </a:p>
        </p:txBody>
      </p:sp>
      <p:sp>
        <p:nvSpPr>
          <p:cNvPr id="9" name="Text 7"/>
          <p:cNvSpPr txBox="1"/>
          <p:nvPr/>
        </p:nvSpPr>
        <p:spPr>
          <a:xfrm>
            <a:off x="1234440" y="2834640"/>
            <a:ext cx="1828800" cy="457200"/>
          </a:xfrm>
          <a:prstGeom prst="rect">
            <a:avLst/>
          </a:prstGeom>
          <a:noFill/>
          <a:ln/>
        </p:spPr>
        <p:txBody>
          <a:bodyPr wrap="square" lIns="0" tIns="0" rIns="0" bIns="0" rtlCol="0" anchor="ctr"/>
          <a:lstStyle/>
          <a:p>
            <a:pPr indent="0" marL="0">
              <a:buNone/>
            </a:pPr>
            <a:r>
              <a:rPr lang="en-US" sz="1200" dirty="0">
                <a:solidFill>
                  <a:srgbClr val="FFFFFF"/>
                </a:solidFill>
              </a:rPr>
              <a:t>without help</a:t>
            </a:r>
            <a:endParaRPr lang="en-US" sz="1200" dirty="0"/>
          </a:p>
        </p:txBody>
      </p:sp>
      <p:sp>
        <p:nvSpPr>
          <p:cNvPr id="10" name="Text 8"/>
          <p:cNvSpPr txBox="1"/>
          <p:nvPr/>
        </p:nvSpPr>
        <p:spPr>
          <a:xfrm>
            <a:off x="640080" y="3383280"/>
            <a:ext cx="548640" cy="457200"/>
          </a:xfrm>
          <a:prstGeom prst="rect">
            <a:avLst/>
          </a:prstGeom>
          <a:noFill/>
          <a:ln/>
        </p:spPr>
        <p:txBody>
          <a:bodyPr wrap="square" lIns="0" tIns="0" rIns="0" bIns="0" rtlCol="0" anchor="ctr"/>
          <a:lstStyle/>
          <a:p>
            <a:pPr indent="0" marL="0">
              <a:buNone/>
            </a:pPr>
            <a:r>
              <a:rPr lang="en-US" sz="2200" b="1" dirty="0">
                <a:solidFill>
                  <a:srgbClr val="F59E0B"/>
                </a:solidFill>
              </a:rPr>
              <a:t>3</a:t>
            </a:r>
            <a:endParaRPr lang="en-US" sz="2200" dirty="0"/>
          </a:p>
        </p:txBody>
      </p:sp>
      <p:sp>
        <p:nvSpPr>
          <p:cNvPr id="11" name="Text 9"/>
          <p:cNvSpPr txBox="1"/>
          <p:nvPr/>
        </p:nvSpPr>
        <p:spPr>
          <a:xfrm>
            <a:off x="1234440" y="3383280"/>
            <a:ext cx="1828800" cy="457200"/>
          </a:xfrm>
          <a:prstGeom prst="rect">
            <a:avLst/>
          </a:prstGeom>
          <a:noFill/>
          <a:ln/>
        </p:spPr>
        <p:txBody>
          <a:bodyPr wrap="square" lIns="0" tIns="0" rIns="0" bIns="0" rtlCol="0" anchor="ctr"/>
          <a:lstStyle/>
          <a:p>
            <a:pPr indent="0" marL="0">
              <a:buNone/>
            </a:pPr>
            <a:r>
              <a:rPr lang="en-US" sz="1200" dirty="0">
                <a:solidFill>
                  <a:srgbClr val="FFFFFF"/>
                </a:solidFill>
              </a:rPr>
              <a:t>with help</a:t>
            </a:r>
            <a:endParaRPr lang="en-US" sz="1200" dirty="0"/>
          </a:p>
        </p:txBody>
      </p:sp>
      <p:sp>
        <p:nvSpPr>
          <p:cNvPr id="12" name="Text 10"/>
          <p:cNvSpPr txBox="1"/>
          <p:nvPr/>
        </p:nvSpPr>
        <p:spPr>
          <a:xfrm>
            <a:off x="640080" y="3931920"/>
            <a:ext cx="548640" cy="457200"/>
          </a:xfrm>
          <a:prstGeom prst="rect">
            <a:avLst/>
          </a:prstGeom>
          <a:noFill/>
          <a:ln/>
        </p:spPr>
        <p:txBody>
          <a:bodyPr wrap="square" lIns="0" tIns="0" rIns="0" bIns="0" rtlCol="0" anchor="ctr"/>
          <a:lstStyle/>
          <a:p>
            <a:pPr indent="0" marL="0">
              <a:buNone/>
            </a:pPr>
            <a:r>
              <a:rPr lang="en-US" sz="2200" b="1" dirty="0">
                <a:solidFill>
                  <a:srgbClr val="F59E0B"/>
                </a:solidFill>
              </a:rPr>
              <a:t>0</a:t>
            </a:r>
            <a:endParaRPr lang="en-US" sz="2200" dirty="0"/>
          </a:p>
        </p:txBody>
      </p:sp>
      <p:sp>
        <p:nvSpPr>
          <p:cNvPr id="13" name="Text 11"/>
          <p:cNvSpPr txBox="1"/>
          <p:nvPr/>
        </p:nvSpPr>
        <p:spPr>
          <a:xfrm>
            <a:off x="1234440" y="3931920"/>
            <a:ext cx="1828800" cy="457200"/>
          </a:xfrm>
          <a:prstGeom prst="rect">
            <a:avLst/>
          </a:prstGeom>
          <a:noFill/>
          <a:ln/>
        </p:spPr>
        <p:txBody>
          <a:bodyPr wrap="square" lIns="0" tIns="0" rIns="0" bIns="0" rtlCol="0" anchor="ctr"/>
          <a:lstStyle/>
          <a:p>
            <a:pPr indent="0" marL="0">
              <a:buNone/>
            </a:pPr>
            <a:r>
              <a:rPr lang="en-US" sz="1200" dirty="0">
                <a:solidFill>
                  <a:srgbClr val="FFFFFF"/>
                </a:solidFill>
              </a:rPr>
              <a:t>not completed</a:t>
            </a:r>
            <a:endParaRPr lang="en-US" sz="1200" dirty="0"/>
          </a:p>
        </p:txBody>
      </p:sp>
      <p:graphicFrame>
        <p:nvGraphicFramePr>
          <p:cNvPr id="14" name="Chart 0" descr=""/>
          <p:cNvGraphicFramePr/>
          <p:nvPr/>
        </p:nvGraphicFramePr>
        <p:xfrm>
          <a:off x="3429000" y="1051560"/>
          <a:ext cx="5257800" cy="3154680"/>
        </p:xfrm>
        <a:graphic xmlns:a="http://schemas.openxmlformats.org/drawingml/2006/main">
          <a:graphicData uri="http://schemas.openxmlformats.org/drawingml/2006/chart">
            <c:chart xmlns:c="http://schemas.openxmlformats.org/drawingml/2006/chart" r:id="rId1"/>
          </a:graphicData>
        </a:graphic>
      </p:graphicFrame>
      <p:sp>
        <p:nvSpPr>
          <p:cNvPr id="15" name="Text 12"/>
          <p:cNvSpPr txBox="1"/>
          <p:nvPr/>
        </p:nvSpPr>
        <p:spPr>
          <a:xfrm>
            <a:off x="3429000" y="4224528"/>
            <a:ext cx="5257800" cy="347472"/>
          </a:xfrm>
          <a:prstGeom prst="rect">
            <a:avLst/>
          </a:prstGeom>
          <a:noFill/>
          <a:ln/>
        </p:spPr>
        <p:txBody>
          <a:bodyPr wrap="square" lIns="0" tIns="0" rIns="0" bIns="0" rtlCol="0" anchor="ctr"/>
          <a:lstStyle/>
          <a:p>
            <a:pPr indent="0" marL="0">
              <a:buNone/>
            </a:pPr>
            <a:r>
              <a:rPr lang="en-US" sz="1050" b="1" dirty="0">
                <a:solidFill>
                  <a:schemeClr val="tx1"/>
                </a:solidFill>
              </a:rPr>
              <a:t>Public site checks: </a:t>
            </a:r>
            <a:pPr indent="0" marL="0">
              <a:buNone/>
            </a:pPr>
            <a:r>
              <a:rPr lang="en-US" sz="1050" dirty="0">
                <a:solidFill>
                  <a:schemeClr val="tx1"/>
                </a:solidFill>
              </a:rPr>
              <a:t>9 of 9 passed.  </a:t>
            </a:r>
            <a:pPr indent="0" marL="0">
              <a:buNone/>
            </a:pPr>
            <a:r>
              <a:rPr lang="en-US" sz="1050" i="1" dirty="0">
                <a:solidFill>
                  <a:schemeClr val="tx1"/>
                </a:solidFill>
              </a:rPr>
              <a:t>Help was needed only at first sign-in and finding the balance.</a:t>
            </a:r>
            <a:endParaRPr lang="en-US" sz="105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B7280"/>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6583680" cy="685800"/>
          </a:xfrm>
          <a:prstGeom prst="rect">
            <a:avLst/>
          </a:prstGeom>
          <a:noFill/>
          <a:ln/>
        </p:spPr>
        <p:txBody>
          <a:bodyPr wrap="square" lIns="0" tIns="0" rIns="0" bIns="0" rtlCol="0" anchor="ctr"/>
          <a:lstStyle/>
          <a:p>
            <a:pPr algn="l" indent="0" marL="0">
              <a:buNone/>
            </a:pPr>
            <a:r>
              <a:rPr lang="en-US" sz="2800" b="1" dirty="0">
                <a:solidFill>
                  <a:schemeClr val="tx1"/>
                </a:solidFill>
                <a:latin typeface="Cambria" pitchFamily="34" charset="0"/>
                <a:ea typeface="Cambria" pitchFamily="34" charset="-122"/>
                <a:cs typeface="Cambria" pitchFamily="34" charset="-120"/>
              </a:rPr>
              <a:t>System test results</a:t>
            </a:r>
            <a:endParaRPr lang="en-US" sz="2800" dirty="0"/>
          </a:p>
        </p:txBody>
      </p:sp>
      <p:sp>
        <p:nvSpPr>
          <p:cNvPr id="3" name="Presenter tag"/>
          <p:cNvSpPr/>
          <p:nvPr/>
        </p:nvSpPr>
        <p:spPr>
          <a:xfrm>
            <a:off x="7178040" y="429768"/>
            <a:ext cx="1508760" cy="365760"/>
          </a:xfrm>
          <a:prstGeom prst="roundRect">
            <a:avLst>
              <a:gd name="adj" fmla="val 50000"/>
            </a:avLst>
          </a:prstGeom>
          <a:solidFill>
            <a:schemeClr val="accent2"/>
          </a:solidFill>
          <a:ln/>
        </p:spPr>
      </p:sp>
      <p:sp>
        <p:nvSpPr>
          <p:cNvPr id="4" name="Presenter name"/>
          <p:cNvSpPr txBox="1"/>
          <p:nvPr/>
        </p:nvSpPr>
        <p:spPr>
          <a:xfrm>
            <a:off x="7178040" y="429768"/>
            <a:ext cx="1508760" cy="365760"/>
          </a:xfrm>
          <a:prstGeom prst="rect">
            <a:avLst/>
          </a:prstGeom>
          <a:noFill/>
          <a:ln/>
        </p:spPr>
        <p:txBody>
          <a:bodyPr wrap="square" lIns="0" tIns="0" rIns="0" bIns="0" rtlCol="0" anchor="ctr"/>
          <a:lstStyle/>
          <a:p>
            <a:pPr algn="ctr" indent="0" marL="0">
              <a:buNone/>
            </a:pPr>
            <a:r>
              <a:rPr lang="en-US" sz="800" dirty="0">
                <a:solidFill>
                  <a:srgbClr val="7C4A03"/>
                </a:solidFill>
              </a:rPr>
              <a:t>PRESENTER  </a:t>
            </a:r>
            <a:pPr algn="ctr" indent="0" marL="0">
              <a:buNone/>
            </a:pPr>
            <a:r>
              <a:rPr lang="en-US" sz="1200" b="1" dirty="0">
                <a:solidFill>
                  <a:schemeClr val="tx1"/>
                </a:solidFill>
              </a:rPr>
              <a:t>Eljohn</a:t>
            </a:r>
            <a:endParaRPr lang="en-US" sz="800" dirty="0"/>
          </a:p>
        </p:txBody>
      </p:sp>
      <p:sp>
        <p:nvSpPr>
          <p:cNvPr id="5" name="Card"/>
          <p:cNvSpPr/>
          <p:nvPr/>
        </p:nvSpPr>
        <p:spPr>
          <a:xfrm>
            <a:off x="457200" y="1097280"/>
            <a:ext cx="2651760" cy="1600200"/>
          </a:xfrm>
          <a:prstGeom prst="roundRect">
            <a:avLst>
              <a:gd name="adj" fmla="val 4571"/>
            </a:avLst>
          </a:prstGeom>
          <a:solidFill>
            <a:srgbClr val="EAF4EE"/>
          </a:solidFill>
          <a:ln/>
        </p:spPr>
      </p:sp>
      <p:sp>
        <p:nvSpPr>
          <p:cNvPr id="6" name="Hex FaTachometerAlt"/>
          <p:cNvSpPr/>
          <p:nvPr/>
        </p:nvSpPr>
        <p:spPr>
          <a:xfrm>
            <a:off x="621792" y="1280160"/>
            <a:ext cx="502920" cy="442570"/>
          </a:xfrm>
          <a:prstGeom prst="hexagon">
            <a:avLst/>
          </a:prstGeom>
          <a:solidFill>
            <a:srgbClr val="17603F"/>
          </a:solidFill>
          <a:ln/>
        </p:spPr>
      </p:sp>
      <p:pic>
        <p:nvPicPr>
          <p:cNvPr id="7" name="Icon FaTachometerAlt" descr="preencoded.png">    </p:cNvPr>
          <p:cNvPicPr>
            <a:picLocks noChangeAspect="1"/>
          </p:cNvPicPr>
          <p:nvPr/>
        </p:nvPicPr>
        <p:blipFill>
          <a:blip r:embed="rId1"/>
          <a:stretch>
            <a:fillRect/>
          </a:stretch>
        </p:blipFill>
        <p:spPr>
          <a:xfrm>
            <a:off x="757580" y="1385773"/>
            <a:ext cx="231343" cy="231343"/>
          </a:xfrm>
          <a:prstGeom prst="rect">
            <a:avLst/>
          </a:prstGeom>
        </p:spPr>
      </p:pic>
      <p:sp>
        <p:nvSpPr>
          <p:cNvPr id="8" name="Text 5"/>
          <p:cNvSpPr txBox="1"/>
          <p:nvPr/>
        </p:nvSpPr>
        <p:spPr>
          <a:xfrm>
            <a:off x="1234440" y="1234440"/>
            <a:ext cx="1783080" cy="566928"/>
          </a:xfrm>
          <a:prstGeom prst="rect">
            <a:avLst/>
          </a:prstGeom>
          <a:noFill/>
          <a:ln/>
        </p:spPr>
        <p:txBody>
          <a:bodyPr wrap="square" lIns="0" tIns="0" rIns="0" bIns="0" rtlCol="0" anchor="ctr"/>
          <a:lstStyle/>
          <a:p>
            <a:pPr indent="0" marL="0">
              <a:buNone/>
            </a:pPr>
            <a:r>
              <a:rPr lang="en-US" sz="2600" b="1" dirty="0">
                <a:solidFill>
                  <a:schemeClr val="accent1"/>
                </a:solidFill>
                <a:latin typeface="Cambria" pitchFamily="34" charset="0"/>
                <a:ea typeface="Cambria" pitchFamily="34" charset="-122"/>
                <a:cs typeface="Cambria" pitchFamily="34" charset="-120"/>
              </a:rPr>
              <a:t>≈ 3 s</a:t>
            </a:r>
            <a:endParaRPr lang="en-US" sz="2600" dirty="0"/>
          </a:p>
        </p:txBody>
      </p:sp>
      <p:sp>
        <p:nvSpPr>
          <p:cNvPr id="9" name="Text 6"/>
          <p:cNvSpPr txBox="1"/>
          <p:nvPr/>
        </p:nvSpPr>
        <p:spPr>
          <a:xfrm>
            <a:off x="640080" y="1901952"/>
            <a:ext cx="2331720" cy="731520"/>
          </a:xfrm>
          <a:prstGeom prst="rect">
            <a:avLst/>
          </a:prstGeom>
          <a:noFill/>
          <a:ln/>
        </p:spPr>
        <p:txBody>
          <a:bodyPr wrap="square" lIns="0" tIns="0" rIns="0" bIns="0" rtlCol="0" anchor="t"/>
          <a:lstStyle/>
          <a:p>
            <a:pPr indent="0" marL="0">
              <a:buNone/>
            </a:pPr>
            <a:r>
              <a:rPr lang="en-US" sz="1050" dirty="0">
                <a:solidFill>
                  <a:schemeClr val="tx1"/>
                </a:solidFill>
              </a:rPr>
              <a:t>slowest page load timed, laptop and phone (most under 2.5 s)</a:t>
            </a:r>
            <a:endParaRPr lang="en-US" sz="1050" dirty="0"/>
          </a:p>
        </p:txBody>
      </p:sp>
      <p:sp>
        <p:nvSpPr>
          <p:cNvPr id="10" name="Card"/>
          <p:cNvSpPr/>
          <p:nvPr/>
        </p:nvSpPr>
        <p:spPr>
          <a:xfrm>
            <a:off x="3246120" y="1097280"/>
            <a:ext cx="2651760" cy="1600200"/>
          </a:xfrm>
          <a:prstGeom prst="roundRect">
            <a:avLst>
              <a:gd name="adj" fmla="val 4571"/>
            </a:avLst>
          </a:prstGeom>
          <a:solidFill>
            <a:srgbClr val="EAF4EE"/>
          </a:solidFill>
          <a:ln/>
        </p:spPr>
      </p:sp>
      <p:sp>
        <p:nvSpPr>
          <p:cNvPr id="11" name="Hex FaChartLine"/>
          <p:cNvSpPr/>
          <p:nvPr/>
        </p:nvSpPr>
        <p:spPr>
          <a:xfrm>
            <a:off x="3410712" y="1280160"/>
            <a:ext cx="502920" cy="442570"/>
          </a:xfrm>
          <a:prstGeom prst="hexagon">
            <a:avLst/>
          </a:prstGeom>
          <a:solidFill>
            <a:srgbClr val="17603F"/>
          </a:solidFill>
          <a:ln/>
        </p:spPr>
      </p:sp>
      <p:pic>
        <p:nvPicPr>
          <p:cNvPr id="12" name="Icon FaChartLine" descr="preencoded.png">    </p:cNvPr>
          <p:cNvPicPr>
            <a:picLocks noChangeAspect="1"/>
          </p:cNvPicPr>
          <p:nvPr/>
        </p:nvPicPr>
        <p:blipFill>
          <a:blip r:embed="rId2"/>
          <a:stretch>
            <a:fillRect/>
          </a:stretch>
        </p:blipFill>
        <p:spPr>
          <a:xfrm>
            <a:off x="3546500" y="1385773"/>
            <a:ext cx="231343" cy="231343"/>
          </a:xfrm>
          <a:prstGeom prst="rect">
            <a:avLst/>
          </a:prstGeom>
        </p:spPr>
      </p:pic>
      <p:sp>
        <p:nvSpPr>
          <p:cNvPr id="13" name="Text 9"/>
          <p:cNvSpPr txBox="1"/>
          <p:nvPr/>
        </p:nvSpPr>
        <p:spPr>
          <a:xfrm>
            <a:off x="4023360" y="1234440"/>
            <a:ext cx="1783080" cy="566928"/>
          </a:xfrm>
          <a:prstGeom prst="rect">
            <a:avLst/>
          </a:prstGeom>
          <a:noFill/>
          <a:ln/>
        </p:spPr>
        <p:txBody>
          <a:bodyPr wrap="square" lIns="0" tIns="0" rIns="0" bIns="0" rtlCol="0" anchor="ctr"/>
          <a:lstStyle/>
          <a:p>
            <a:pPr indent="0" marL="0">
              <a:buNone/>
            </a:pPr>
            <a:r>
              <a:rPr lang="en-US" sz="2600" b="1" dirty="0">
                <a:solidFill>
                  <a:schemeClr val="accent1"/>
                </a:solidFill>
                <a:latin typeface="Cambria" pitchFamily="34" charset="0"/>
                <a:ea typeface="Cambria" pitchFamily="34" charset="-122"/>
                <a:cs typeface="Cambria" pitchFamily="34" charset="-120"/>
              </a:rPr>
              <a:t>85–88</a:t>
            </a:r>
            <a:endParaRPr lang="en-US" sz="2600" dirty="0"/>
          </a:p>
        </p:txBody>
      </p:sp>
      <p:sp>
        <p:nvSpPr>
          <p:cNvPr id="14" name="Text 10"/>
          <p:cNvSpPr txBox="1"/>
          <p:nvPr/>
        </p:nvSpPr>
        <p:spPr>
          <a:xfrm>
            <a:off x="3429000" y="1901952"/>
            <a:ext cx="2331720" cy="731520"/>
          </a:xfrm>
          <a:prstGeom prst="rect">
            <a:avLst/>
          </a:prstGeom>
          <a:noFill/>
          <a:ln/>
        </p:spPr>
        <p:txBody>
          <a:bodyPr wrap="square" lIns="0" tIns="0" rIns="0" bIns="0" rtlCol="0" anchor="t"/>
          <a:lstStyle/>
          <a:p>
            <a:pPr indent="0" marL="0">
              <a:buNone/>
            </a:pPr>
            <a:r>
              <a:rPr lang="en-US" sz="1050" dirty="0">
                <a:solidFill>
                  <a:schemeClr val="tx1"/>
                </a:solidFill>
              </a:rPr>
              <a:t>PageSpeed performance on mobile; 100 for accessibility, best practices, SEO</a:t>
            </a:r>
            <a:endParaRPr lang="en-US" sz="1050" dirty="0"/>
          </a:p>
        </p:txBody>
      </p:sp>
      <p:sp>
        <p:nvSpPr>
          <p:cNvPr id="15" name="Card"/>
          <p:cNvSpPr/>
          <p:nvPr/>
        </p:nvSpPr>
        <p:spPr>
          <a:xfrm>
            <a:off x="6035040" y="1097280"/>
            <a:ext cx="2651760" cy="1600200"/>
          </a:xfrm>
          <a:prstGeom prst="roundRect">
            <a:avLst>
              <a:gd name="adj" fmla="val 4571"/>
            </a:avLst>
          </a:prstGeom>
          <a:solidFill>
            <a:srgbClr val="EAF4EE"/>
          </a:solidFill>
          <a:ln/>
        </p:spPr>
      </p:sp>
      <p:sp>
        <p:nvSpPr>
          <p:cNvPr id="16" name="Hex FaShieldAlt"/>
          <p:cNvSpPr/>
          <p:nvPr/>
        </p:nvSpPr>
        <p:spPr>
          <a:xfrm>
            <a:off x="6199632" y="1280160"/>
            <a:ext cx="502920" cy="442570"/>
          </a:xfrm>
          <a:prstGeom prst="hexagon">
            <a:avLst/>
          </a:prstGeom>
          <a:solidFill>
            <a:srgbClr val="17603F"/>
          </a:solidFill>
          <a:ln/>
        </p:spPr>
      </p:sp>
      <p:pic>
        <p:nvPicPr>
          <p:cNvPr id="17" name="Icon FaShieldAlt" descr="preencoded.png">    </p:cNvPr>
          <p:cNvPicPr>
            <a:picLocks noChangeAspect="1"/>
          </p:cNvPicPr>
          <p:nvPr/>
        </p:nvPicPr>
        <p:blipFill>
          <a:blip r:embed="rId3"/>
          <a:stretch>
            <a:fillRect/>
          </a:stretch>
        </p:blipFill>
        <p:spPr>
          <a:xfrm>
            <a:off x="6335420" y="1385773"/>
            <a:ext cx="231343" cy="231343"/>
          </a:xfrm>
          <a:prstGeom prst="rect">
            <a:avLst/>
          </a:prstGeom>
        </p:spPr>
      </p:pic>
      <p:sp>
        <p:nvSpPr>
          <p:cNvPr id="18" name="Text 13"/>
          <p:cNvSpPr txBox="1"/>
          <p:nvPr/>
        </p:nvSpPr>
        <p:spPr>
          <a:xfrm>
            <a:off x="6812280" y="1234440"/>
            <a:ext cx="1783080" cy="566928"/>
          </a:xfrm>
          <a:prstGeom prst="rect">
            <a:avLst/>
          </a:prstGeom>
          <a:noFill/>
          <a:ln/>
        </p:spPr>
        <p:txBody>
          <a:bodyPr wrap="square" lIns="0" tIns="0" rIns="0" bIns="0" rtlCol="0" anchor="ctr"/>
          <a:lstStyle/>
          <a:p>
            <a:pPr indent="0" marL="0">
              <a:buNone/>
            </a:pPr>
            <a:r>
              <a:rPr lang="en-US" sz="2600" b="1" dirty="0">
                <a:solidFill>
                  <a:schemeClr val="accent1"/>
                </a:solidFill>
                <a:latin typeface="Cambria" pitchFamily="34" charset="0"/>
                <a:ea typeface="Cambria" pitchFamily="34" charset="-122"/>
                <a:cs typeface="Cambria" pitchFamily="34" charset="-120"/>
              </a:rPr>
              <a:t>A+ × 3</a:t>
            </a:r>
            <a:endParaRPr lang="en-US" sz="2600" dirty="0"/>
          </a:p>
        </p:txBody>
      </p:sp>
      <p:sp>
        <p:nvSpPr>
          <p:cNvPr id="19" name="Text 14"/>
          <p:cNvSpPr txBox="1"/>
          <p:nvPr/>
        </p:nvSpPr>
        <p:spPr>
          <a:xfrm>
            <a:off x="6217920" y="1901952"/>
            <a:ext cx="2331720" cy="731520"/>
          </a:xfrm>
          <a:prstGeom prst="rect">
            <a:avLst/>
          </a:prstGeom>
          <a:noFill/>
          <a:ln/>
        </p:spPr>
        <p:txBody>
          <a:bodyPr wrap="square" lIns="0" tIns="0" rIns="0" bIns="0" rtlCol="0" anchor="t"/>
          <a:lstStyle/>
          <a:p>
            <a:pPr indent="0" marL="0">
              <a:buNone/>
            </a:pPr>
            <a:r>
              <a:rPr lang="en-US" sz="1050" dirty="0">
                <a:solidFill>
                  <a:schemeClr val="tx1"/>
                </a:solidFill>
              </a:rPr>
              <a:t>Mozilla Observatory, SecurityHeaders, SSL Labs</a:t>
            </a:r>
            <a:endParaRPr lang="en-US" sz="1050" dirty="0"/>
          </a:p>
        </p:txBody>
      </p:sp>
      <p:sp>
        <p:nvSpPr>
          <p:cNvPr id="20" name="Card"/>
          <p:cNvSpPr/>
          <p:nvPr/>
        </p:nvSpPr>
        <p:spPr>
          <a:xfrm>
            <a:off x="457200" y="2834640"/>
            <a:ext cx="2651760" cy="1600200"/>
          </a:xfrm>
          <a:prstGeom prst="roundRect">
            <a:avLst>
              <a:gd name="adj" fmla="val 4571"/>
            </a:avLst>
          </a:prstGeom>
          <a:solidFill>
            <a:srgbClr val="EAF4EE"/>
          </a:solidFill>
          <a:ln/>
        </p:spPr>
      </p:sp>
      <p:sp>
        <p:nvSpPr>
          <p:cNvPr id="21" name="Hex FaUsers"/>
          <p:cNvSpPr/>
          <p:nvPr/>
        </p:nvSpPr>
        <p:spPr>
          <a:xfrm>
            <a:off x="621792" y="3017520"/>
            <a:ext cx="502920" cy="442570"/>
          </a:xfrm>
          <a:prstGeom prst="hexagon">
            <a:avLst/>
          </a:prstGeom>
          <a:solidFill>
            <a:srgbClr val="17603F"/>
          </a:solidFill>
          <a:ln/>
        </p:spPr>
      </p:sp>
      <p:pic>
        <p:nvPicPr>
          <p:cNvPr id="22" name="Icon FaUsers" descr="preencoded.png">    </p:cNvPr>
          <p:cNvPicPr>
            <a:picLocks noChangeAspect="1"/>
          </p:cNvPicPr>
          <p:nvPr/>
        </p:nvPicPr>
        <p:blipFill>
          <a:blip r:embed="rId4"/>
          <a:stretch>
            <a:fillRect/>
          </a:stretch>
        </p:blipFill>
        <p:spPr>
          <a:xfrm>
            <a:off x="757580" y="3123133"/>
            <a:ext cx="231343" cy="231343"/>
          </a:xfrm>
          <a:prstGeom prst="rect">
            <a:avLst/>
          </a:prstGeom>
        </p:spPr>
      </p:pic>
      <p:sp>
        <p:nvSpPr>
          <p:cNvPr id="23" name="Text 17"/>
          <p:cNvSpPr txBox="1"/>
          <p:nvPr/>
        </p:nvSpPr>
        <p:spPr>
          <a:xfrm>
            <a:off x="1234440" y="2971800"/>
            <a:ext cx="1783080" cy="566928"/>
          </a:xfrm>
          <a:prstGeom prst="rect">
            <a:avLst/>
          </a:prstGeom>
          <a:noFill/>
          <a:ln/>
        </p:spPr>
        <p:txBody>
          <a:bodyPr wrap="square" lIns="0" tIns="0" rIns="0" bIns="0" rtlCol="0" anchor="ctr"/>
          <a:lstStyle/>
          <a:p>
            <a:pPr indent="0" marL="0">
              <a:buNone/>
            </a:pPr>
            <a:r>
              <a:rPr lang="en-US" sz="2600" b="1" dirty="0">
                <a:solidFill>
                  <a:schemeClr val="accent1"/>
                </a:solidFill>
                <a:latin typeface="Cambria" pitchFamily="34" charset="0"/>
                <a:ea typeface="Cambria" pitchFamily="34" charset="-122"/>
                <a:cs typeface="Cambria" pitchFamily="34" charset="-120"/>
              </a:rPr>
              <a:t>0 errors</a:t>
            </a:r>
            <a:endParaRPr lang="en-US" sz="2600" dirty="0"/>
          </a:p>
        </p:txBody>
      </p:sp>
      <p:sp>
        <p:nvSpPr>
          <p:cNvPr id="24" name="Text 18"/>
          <p:cNvSpPr txBox="1"/>
          <p:nvPr/>
        </p:nvSpPr>
        <p:spPr>
          <a:xfrm>
            <a:off x="640080" y="3639312"/>
            <a:ext cx="2331720" cy="731520"/>
          </a:xfrm>
          <a:prstGeom prst="rect">
            <a:avLst/>
          </a:prstGeom>
          <a:noFill/>
          <a:ln/>
        </p:spPr>
        <p:txBody>
          <a:bodyPr wrap="square" lIns="0" tIns="0" rIns="0" bIns="0" rtlCol="0" anchor="t"/>
          <a:lstStyle/>
          <a:p>
            <a:pPr indent="0" marL="0">
              <a:buNone/>
            </a:pPr>
            <a:r>
              <a:rPr lang="en-US" sz="1050" dirty="0">
                <a:solidFill>
                  <a:schemeClr val="tx1"/>
                </a:solidFill>
              </a:rPr>
              <a:t>12 simultaneous users, 1,085 requests in 60 s on the live site</a:t>
            </a:r>
            <a:endParaRPr lang="en-US" sz="1050" dirty="0"/>
          </a:p>
        </p:txBody>
      </p:sp>
      <p:sp>
        <p:nvSpPr>
          <p:cNvPr id="25" name="Card"/>
          <p:cNvSpPr/>
          <p:nvPr/>
        </p:nvSpPr>
        <p:spPr>
          <a:xfrm>
            <a:off x="3246120" y="2834640"/>
            <a:ext cx="2651760" cy="1600200"/>
          </a:xfrm>
          <a:prstGeom prst="roundRect">
            <a:avLst>
              <a:gd name="adj" fmla="val 4571"/>
            </a:avLst>
          </a:prstGeom>
          <a:solidFill>
            <a:srgbClr val="EAF4EE"/>
          </a:solidFill>
          <a:ln/>
        </p:spPr>
      </p:sp>
      <p:sp>
        <p:nvSpPr>
          <p:cNvPr id="26" name="Hex FaCheckDouble"/>
          <p:cNvSpPr/>
          <p:nvPr/>
        </p:nvSpPr>
        <p:spPr>
          <a:xfrm>
            <a:off x="3410712" y="3017520"/>
            <a:ext cx="502920" cy="442570"/>
          </a:xfrm>
          <a:prstGeom prst="hexagon">
            <a:avLst/>
          </a:prstGeom>
          <a:solidFill>
            <a:srgbClr val="17603F"/>
          </a:solidFill>
          <a:ln/>
        </p:spPr>
      </p:sp>
      <p:pic>
        <p:nvPicPr>
          <p:cNvPr id="27" name="Icon FaCheckDouble" descr="preencoded.png">    </p:cNvPr>
          <p:cNvPicPr>
            <a:picLocks noChangeAspect="1"/>
          </p:cNvPicPr>
          <p:nvPr/>
        </p:nvPicPr>
        <p:blipFill>
          <a:blip r:embed="rId5"/>
          <a:stretch>
            <a:fillRect/>
          </a:stretch>
        </p:blipFill>
        <p:spPr>
          <a:xfrm>
            <a:off x="3546500" y="3123133"/>
            <a:ext cx="231343" cy="231343"/>
          </a:xfrm>
          <a:prstGeom prst="rect">
            <a:avLst/>
          </a:prstGeom>
        </p:spPr>
      </p:pic>
      <p:sp>
        <p:nvSpPr>
          <p:cNvPr id="28" name="Text 21"/>
          <p:cNvSpPr txBox="1"/>
          <p:nvPr/>
        </p:nvSpPr>
        <p:spPr>
          <a:xfrm>
            <a:off x="4023360" y="2971800"/>
            <a:ext cx="1783080" cy="566928"/>
          </a:xfrm>
          <a:prstGeom prst="rect">
            <a:avLst/>
          </a:prstGeom>
          <a:noFill/>
          <a:ln/>
        </p:spPr>
        <p:txBody>
          <a:bodyPr wrap="square" lIns="0" tIns="0" rIns="0" bIns="0" rtlCol="0" anchor="ctr"/>
          <a:lstStyle/>
          <a:p>
            <a:pPr indent="0" marL="0">
              <a:buNone/>
            </a:pPr>
            <a:r>
              <a:rPr lang="en-US" sz="2600" b="1" dirty="0">
                <a:solidFill>
                  <a:schemeClr val="accent1"/>
                </a:solidFill>
                <a:latin typeface="Cambria" pitchFamily="34" charset="0"/>
                <a:ea typeface="Cambria" pitchFamily="34" charset="-122"/>
                <a:cs typeface="Cambria" pitchFamily="34" charset="-120"/>
              </a:rPr>
              <a:t>78 / 78</a:t>
            </a:r>
            <a:endParaRPr lang="en-US" sz="2600" dirty="0"/>
          </a:p>
        </p:txBody>
      </p:sp>
      <p:sp>
        <p:nvSpPr>
          <p:cNvPr id="29" name="Text 22"/>
          <p:cNvSpPr txBox="1"/>
          <p:nvPr/>
        </p:nvSpPr>
        <p:spPr>
          <a:xfrm>
            <a:off x="3429000" y="3639312"/>
            <a:ext cx="2331720" cy="731520"/>
          </a:xfrm>
          <a:prstGeom prst="rect">
            <a:avLst/>
          </a:prstGeom>
          <a:noFill/>
          <a:ln/>
        </p:spPr>
        <p:txBody>
          <a:bodyPr wrap="square" lIns="0" tIns="0" rIns="0" bIns="0" rtlCol="0" anchor="t"/>
          <a:lstStyle/>
          <a:p>
            <a:pPr indent="0" marL="0">
              <a:buNone/>
            </a:pPr>
            <a:r>
              <a:rPr lang="en-US" sz="1050" dirty="0">
                <a:solidFill>
                  <a:schemeClr val="tx1"/>
                </a:solidFill>
              </a:rPr>
              <a:t>endpoint and access-control checks passed</a:t>
            </a:r>
            <a:endParaRPr lang="en-US" sz="1050" dirty="0"/>
          </a:p>
        </p:txBody>
      </p:sp>
      <p:sp>
        <p:nvSpPr>
          <p:cNvPr id="30" name="Card"/>
          <p:cNvSpPr/>
          <p:nvPr/>
        </p:nvSpPr>
        <p:spPr>
          <a:xfrm>
            <a:off x="6035040" y="2834640"/>
            <a:ext cx="2651760" cy="1600200"/>
          </a:xfrm>
          <a:prstGeom prst="roundRect">
            <a:avLst>
              <a:gd name="adj" fmla="val 4571"/>
            </a:avLst>
          </a:prstGeom>
          <a:solidFill>
            <a:srgbClr val="EAF4EE"/>
          </a:solidFill>
          <a:ln/>
        </p:spPr>
      </p:sp>
      <p:sp>
        <p:nvSpPr>
          <p:cNvPr id="31" name="Hex FaBalanceScale"/>
          <p:cNvSpPr/>
          <p:nvPr/>
        </p:nvSpPr>
        <p:spPr>
          <a:xfrm>
            <a:off x="6199632" y="3017520"/>
            <a:ext cx="502920" cy="442570"/>
          </a:xfrm>
          <a:prstGeom prst="hexagon">
            <a:avLst/>
          </a:prstGeom>
          <a:solidFill>
            <a:srgbClr val="17603F"/>
          </a:solidFill>
          <a:ln/>
        </p:spPr>
      </p:sp>
      <p:pic>
        <p:nvPicPr>
          <p:cNvPr id="32" name="Icon FaBalanceScale" descr="preencoded.png">    </p:cNvPr>
          <p:cNvPicPr>
            <a:picLocks noChangeAspect="1"/>
          </p:cNvPicPr>
          <p:nvPr/>
        </p:nvPicPr>
        <p:blipFill>
          <a:blip r:embed="rId6"/>
          <a:stretch>
            <a:fillRect/>
          </a:stretch>
        </p:blipFill>
        <p:spPr>
          <a:xfrm>
            <a:off x="6335420" y="3123133"/>
            <a:ext cx="231343" cy="231343"/>
          </a:xfrm>
          <a:prstGeom prst="rect">
            <a:avLst/>
          </a:prstGeom>
        </p:spPr>
      </p:pic>
      <p:sp>
        <p:nvSpPr>
          <p:cNvPr id="33" name="Text 25"/>
          <p:cNvSpPr txBox="1"/>
          <p:nvPr/>
        </p:nvSpPr>
        <p:spPr>
          <a:xfrm>
            <a:off x="6812280" y="2971800"/>
            <a:ext cx="1783080" cy="566928"/>
          </a:xfrm>
          <a:prstGeom prst="rect">
            <a:avLst/>
          </a:prstGeom>
          <a:noFill/>
          <a:ln/>
        </p:spPr>
        <p:txBody>
          <a:bodyPr wrap="square" lIns="0" tIns="0" rIns="0" bIns="0" rtlCol="0" anchor="ctr"/>
          <a:lstStyle/>
          <a:p>
            <a:pPr indent="0" marL="0">
              <a:buNone/>
            </a:pPr>
            <a:r>
              <a:rPr lang="en-US" sz="2600" b="1" dirty="0">
                <a:solidFill>
                  <a:schemeClr val="accent1"/>
                </a:solidFill>
                <a:latin typeface="Cambria" pitchFamily="34" charset="0"/>
                <a:ea typeface="Cambria" pitchFamily="34" charset="-122"/>
                <a:cs typeface="Cambria" pitchFamily="34" charset="-120"/>
              </a:rPr>
              <a:t>490 / 490</a:t>
            </a:r>
            <a:endParaRPr lang="en-US" sz="2600" dirty="0"/>
          </a:p>
        </p:txBody>
      </p:sp>
      <p:sp>
        <p:nvSpPr>
          <p:cNvPr id="34" name="Text 26"/>
          <p:cNvSpPr txBox="1"/>
          <p:nvPr/>
        </p:nvSpPr>
        <p:spPr>
          <a:xfrm>
            <a:off x="6217920" y="3639312"/>
            <a:ext cx="2331720" cy="731520"/>
          </a:xfrm>
          <a:prstGeom prst="rect">
            <a:avLst/>
          </a:prstGeom>
          <a:noFill/>
          <a:ln/>
        </p:spPr>
        <p:txBody>
          <a:bodyPr wrap="square" lIns="0" tIns="0" rIns="0" bIns="0" rtlCol="0" anchor="t"/>
          <a:lstStyle/>
          <a:p>
            <a:pPr indent="0" marL="0">
              <a:buNone/>
            </a:pPr>
            <a:r>
              <a:rPr lang="en-US" sz="1050" dirty="0">
                <a:solidFill>
                  <a:schemeClr val="tx1"/>
                </a:solidFill>
              </a:rPr>
              <a:t>exported reports reconciled against the database</a:t>
            </a:r>
            <a:endParaRPr lang="en-US" sz="105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B7280"/>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6583680" cy="685800"/>
          </a:xfrm>
          <a:prstGeom prst="rect">
            <a:avLst/>
          </a:prstGeom>
          <a:noFill/>
          <a:ln/>
        </p:spPr>
        <p:txBody>
          <a:bodyPr wrap="square" lIns="0" tIns="0" rIns="0" bIns="0" rtlCol="0" anchor="ctr"/>
          <a:lstStyle/>
          <a:p>
            <a:pPr algn="l" indent="0" marL="0">
              <a:buNone/>
            </a:pPr>
            <a:r>
              <a:rPr lang="en-US" sz="2800" b="1" dirty="0">
                <a:solidFill>
                  <a:schemeClr val="tx1"/>
                </a:solidFill>
                <a:latin typeface="Cambria" pitchFamily="34" charset="0"/>
                <a:ea typeface="Cambria" pitchFamily="34" charset="-122"/>
                <a:cs typeface="Cambria" pitchFamily="34" charset="-120"/>
              </a:rPr>
              <a:t>Defects fixed and next steps</a:t>
            </a:r>
            <a:endParaRPr lang="en-US" sz="2800" dirty="0"/>
          </a:p>
        </p:txBody>
      </p:sp>
      <p:sp>
        <p:nvSpPr>
          <p:cNvPr id="3" name="Presenter tag"/>
          <p:cNvSpPr/>
          <p:nvPr/>
        </p:nvSpPr>
        <p:spPr>
          <a:xfrm>
            <a:off x="7178040" y="429768"/>
            <a:ext cx="1508760" cy="365760"/>
          </a:xfrm>
          <a:prstGeom prst="roundRect">
            <a:avLst>
              <a:gd name="adj" fmla="val 50000"/>
            </a:avLst>
          </a:prstGeom>
          <a:solidFill>
            <a:schemeClr val="accent2"/>
          </a:solidFill>
          <a:ln/>
        </p:spPr>
      </p:sp>
      <p:sp>
        <p:nvSpPr>
          <p:cNvPr id="4" name="Presenter name"/>
          <p:cNvSpPr txBox="1"/>
          <p:nvPr/>
        </p:nvSpPr>
        <p:spPr>
          <a:xfrm>
            <a:off x="7178040" y="429768"/>
            <a:ext cx="1508760" cy="365760"/>
          </a:xfrm>
          <a:prstGeom prst="rect">
            <a:avLst/>
          </a:prstGeom>
          <a:noFill/>
          <a:ln/>
        </p:spPr>
        <p:txBody>
          <a:bodyPr wrap="square" lIns="0" tIns="0" rIns="0" bIns="0" rtlCol="0" anchor="ctr"/>
          <a:lstStyle/>
          <a:p>
            <a:pPr algn="ctr" indent="0" marL="0">
              <a:buNone/>
            </a:pPr>
            <a:r>
              <a:rPr lang="en-US" sz="800" dirty="0">
                <a:solidFill>
                  <a:srgbClr val="7C4A03"/>
                </a:solidFill>
              </a:rPr>
              <a:t>PRESENTER  </a:t>
            </a:r>
            <a:pPr algn="ctr" indent="0" marL="0">
              <a:buNone/>
            </a:pPr>
            <a:r>
              <a:rPr lang="en-US" sz="1200" b="1" dirty="0">
                <a:solidFill>
                  <a:schemeClr val="tx1"/>
                </a:solidFill>
              </a:rPr>
              <a:t>Eljohn</a:t>
            </a:r>
            <a:endParaRPr lang="en-US" sz="800" dirty="0"/>
          </a:p>
        </p:txBody>
      </p:sp>
      <p:sp>
        <p:nvSpPr>
          <p:cNvPr id="5" name="Text 3"/>
          <p:cNvSpPr txBox="1"/>
          <p:nvPr/>
        </p:nvSpPr>
        <p:spPr>
          <a:xfrm>
            <a:off x="457200" y="1051560"/>
            <a:ext cx="3840480" cy="365760"/>
          </a:xfrm>
          <a:prstGeom prst="rect">
            <a:avLst/>
          </a:prstGeom>
          <a:noFill/>
          <a:ln/>
        </p:spPr>
        <p:txBody>
          <a:bodyPr wrap="square" lIns="0" tIns="0" rIns="0" bIns="0" rtlCol="0" anchor="ctr"/>
          <a:lstStyle/>
          <a:p>
            <a:pPr indent="0" marL="0">
              <a:buNone/>
            </a:pPr>
            <a:r>
              <a:rPr lang="en-US" sz="1500" b="1" dirty="0">
                <a:solidFill>
                  <a:schemeClr val="accent1"/>
                </a:solidFill>
              </a:rPr>
              <a:t>Found in testing, then fixed</a:t>
            </a:r>
            <a:endParaRPr lang="en-US" sz="1500" dirty="0"/>
          </a:p>
        </p:txBody>
      </p:sp>
      <p:sp>
        <p:nvSpPr>
          <p:cNvPr id="6" name="Card"/>
          <p:cNvSpPr/>
          <p:nvPr/>
        </p:nvSpPr>
        <p:spPr>
          <a:xfrm>
            <a:off x="457200" y="1508760"/>
            <a:ext cx="3886200" cy="868680"/>
          </a:xfrm>
          <a:prstGeom prst="roundRect">
            <a:avLst>
              <a:gd name="adj" fmla="val 8421"/>
            </a:avLst>
          </a:prstGeom>
          <a:solidFill>
            <a:srgbClr val="EAF4EE"/>
          </a:solidFill>
          <a:ln/>
        </p:spPr>
      </p:sp>
      <p:sp>
        <p:nvSpPr>
          <p:cNvPr id="7" name="Hex FaBug"/>
          <p:cNvSpPr/>
          <p:nvPr/>
        </p:nvSpPr>
        <p:spPr>
          <a:xfrm>
            <a:off x="594360" y="1691640"/>
            <a:ext cx="502920" cy="442570"/>
          </a:xfrm>
          <a:prstGeom prst="hexagon">
            <a:avLst/>
          </a:prstGeom>
          <a:solidFill>
            <a:srgbClr val="F59E0B"/>
          </a:solidFill>
          <a:ln/>
        </p:spPr>
      </p:sp>
      <p:pic>
        <p:nvPicPr>
          <p:cNvPr id="8" name="Icon FaBug" descr="preencoded.png">    </p:cNvPr>
          <p:cNvPicPr>
            <a:picLocks noChangeAspect="1"/>
          </p:cNvPicPr>
          <p:nvPr/>
        </p:nvPicPr>
        <p:blipFill>
          <a:blip r:embed="rId1"/>
          <a:stretch>
            <a:fillRect/>
          </a:stretch>
        </p:blipFill>
        <p:spPr>
          <a:xfrm>
            <a:off x="730148" y="1797253"/>
            <a:ext cx="231343" cy="231343"/>
          </a:xfrm>
          <a:prstGeom prst="rect">
            <a:avLst/>
          </a:prstGeom>
        </p:spPr>
      </p:pic>
      <p:sp>
        <p:nvSpPr>
          <p:cNvPr id="9" name="Text 6"/>
          <p:cNvSpPr txBox="1"/>
          <p:nvPr/>
        </p:nvSpPr>
        <p:spPr>
          <a:xfrm>
            <a:off x="1234440" y="1581912"/>
            <a:ext cx="3017520" cy="731520"/>
          </a:xfrm>
          <a:prstGeom prst="rect">
            <a:avLst/>
          </a:prstGeom>
          <a:noFill/>
          <a:ln/>
        </p:spPr>
        <p:txBody>
          <a:bodyPr wrap="square" lIns="0" tIns="0" rIns="0" bIns="0" rtlCol="0" anchor="ctr"/>
          <a:lstStyle/>
          <a:p>
            <a:pPr indent="0" marL="0">
              <a:buNone/>
            </a:pPr>
            <a:r>
              <a:rPr lang="en-US" sz="1200" b="1" dirty="0">
                <a:solidFill>
                  <a:schemeClr val="tx1"/>
                </a:solidFill>
              </a:rPr>
              <a:t>Offline Overview showed ₱0</a:t>
            </a:r>
            <a:endParaRPr lang="en-US" sz="1200" dirty="0"/>
          </a:p>
          <a:p>
            <a:pPr indent="0" marL="0">
              <a:buNone/>
            </a:pPr>
            <a:r>
              <a:rPr lang="en-US" sz="1050" dirty="0">
                <a:solidFill>
                  <a:schemeClr val="tx1"/>
                </a:solidFill>
              </a:rPr>
              <a:t>Now shows a dash, never a false zero</a:t>
            </a:r>
            <a:endParaRPr lang="en-US" sz="1200" dirty="0"/>
          </a:p>
        </p:txBody>
      </p:sp>
      <p:sp>
        <p:nvSpPr>
          <p:cNvPr id="10" name="Card"/>
          <p:cNvSpPr/>
          <p:nvPr/>
        </p:nvSpPr>
        <p:spPr>
          <a:xfrm>
            <a:off x="457200" y="2496312"/>
            <a:ext cx="3886200" cy="868680"/>
          </a:xfrm>
          <a:prstGeom prst="roundRect">
            <a:avLst>
              <a:gd name="adj" fmla="val 8421"/>
            </a:avLst>
          </a:prstGeom>
          <a:solidFill>
            <a:srgbClr val="EAF4EE"/>
          </a:solidFill>
          <a:ln/>
        </p:spPr>
      </p:sp>
      <p:sp>
        <p:nvSpPr>
          <p:cNvPr id="11" name="Hex FaBug"/>
          <p:cNvSpPr/>
          <p:nvPr/>
        </p:nvSpPr>
        <p:spPr>
          <a:xfrm>
            <a:off x="594360" y="2679192"/>
            <a:ext cx="502920" cy="442570"/>
          </a:xfrm>
          <a:prstGeom prst="hexagon">
            <a:avLst/>
          </a:prstGeom>
          <a:solidFill>
            <a:srgbClr val="F59E0B"/>
          </a:solidFill>
          <a:ln/>
        </p:spPr>
      </p:sp>
      <p:pic>
        <p:nvPicPr>
          <p:cNvPr id="12" name="Icon FaBug" descr="preencoded.png">    </p:cNvPr>
          <p:cNvPicPr>
            <a:picLocks noChangeAspect="1"/>
          </p:cNvPicPr>
          <p:nvPr/>
        </p:nvPicPr>
        <p:blipFill>
          <a:blip r:embed="rId2"/>
          <a:stretch>
            <a:fillRect/>
          </a:stretch>
        </p:blipFill>
        <p:spPr>
          <a:xfrm>
            <a:off x="730148" y="2784805"/>
            <a:ext cx="231343" cy="231343"/>
          </a:xfrm>
          <a:prstGeom prst="rect">
            <a:avLst/>
          </a:prstGeom>
        </p:spPr>
      </p:pic>
      <p:sp>
        <p:nvSpPr>
          <p:cNvPr id="13" name="Text 9"/>
          <p:cNvSpPr txBox="1"/>
          <p:nvPr/>
        </p:nvSpPr>
        <p:spPr>
          <a:xfrm>
            <a:off x="1234440" y="2569464"/>
            <a:ext cx="3017520" cy="731520"/>
          </a:xfrm>
          <a:prstGeom prst="rect">
            <a:avLst/>
          </a:prstGeom>
          <a:noFill/>
          <a:ln/>
        </p:spPr>
        <p:txBody>
          <a:bodyPr wrap="square" lIns="0" tIns="0" rIns="0" bIns="0" rtlCol="0" anchor="ctr"/>
          <a:lstStyle/>
          <a:p>
            <a:pPr indent="0" marL="0">
              <a:buNone/>
            </a:pPr>
            <a:r>
              <a:rPr lang="en-US" sz="1200" b="1" dirty="0">
                <a:solidFill>
                  <a:schemeClr val="tx1"/>
                </a:solidFill>
              </a:rPr>
              <a:t>Late save warning on one Android phone</a:t>
            </a:r>
            <a:endParaRPr lang="en-US" sz="1200" dirty="0"/>
          </a:p>
          <a:p>
            <a:pPr indent="0" marL="0">
              <a:buNone/>
            </a:pPr>
            <a:r>
              <a:rPr lang="en-US" sz="1050" dirty="0">
                <a:solidFill>
                  <a:schemeClr val="tx1"/>
                </a:solidFill>
              </a:rPr>
              <a:t>Fixed in code; re-test on the same phone</a:t>
            </a:r>
            <a:endParaRPr lang="en-US" sz="1200" dirty="0"/>
          </a:p>
        </p:txBody>
      </p:sp>
      <p:sp>
        <p:nvSpPr>
          <p:cNvPr id="14" name="Card"/>
          <p:cNvSpPr/>
          <p:nvPr/>
        </p:nvSpPr>
        <p:spPr>
          <a:xfrm>
            <a:off x="457200" y="3483864"/>
            <a:ext cx="3886200" cy="868680"/>
          </a:xfrm>
          <a:prstGeom prst="roundRect">
            <a:avLst>
              <a:gd name="adj" fmla="val 8421"/>
            </a:avLst>
          </a:prstGeom>
          <a:solidFill>
            <a:srgbClr val="EAF4EE"/>
          </a:solidFill>
          <a:ln/>
        </p:spPr>
      </p:sp>
      <p:sp>
        <p:nvSpPr>
          <p:cNvPr id="15" name="Hex FaBug"/>
          <p:cNvSpPr/>
          <p:nvPr/>
        </p:nvSpPr>
        <p:spPr>
          <a:xfrm>
            <a:off x="594360" y="3666744"/>
            <a:ext cx="502920" cy="442570"/>
          </a:xfrm>
          <a:prstGeom prst="hexagon">
            <a:avLst/>
          </a:prstGeom>
          <a:solidFill>
            <a:srgbClr val="F59E0B"/>
          </a:solidFill>
          <a:ln/>
        </p:spPr>
      </p:sp>
      <p:pic>
        <p:nvPicPr>
          <p:cNvPr id="16" name="Icon FaBug" descr="preencoded.png">    </p:cNvPr>
          <p:cNvPicPr>
            <a:picLocks noChangeAspect="1"/>
          </p:cNvPicPr>
          <p:nvPr/>
        </p:nvPicPr>
        <p:blipFill>
          <a:blip r:embed="rId3"/>
          <a:stretch>
            <a:fillRect/>
          </a:stretch>
        </p:blipFill>
        <p:spPr>
          <a:xfrm>
            <a:off x="730148" y="3772357"/>
            <a:ext cx="231343" cy="231343"/>
          </a:xfrm>
          <a:prstGeom prst="rect">
            <a:avLst/>
          </a:prstGeom>
        </p:spPr>
      </p:pic>
      <p:sp>
        <p:nvSpPr>
          <p:cNvPr id="17" name="Text 12"/>
          <p:cNvSpPr txBox="1"/>
          <p:nvPr/>
        </p:nvSpPr>
        <p:spPr>
          <a:xfrm>
            <a:off x="1234440" y="3557016"/>
            <a:ext cx="3017520" cy="731520"/>
          </a:xfrm>
          <a:prstGeom prst="rect">
            <a:avLst/>
          </a:prstGeom>
          <a:noFill/>
          <a:ln/>
        </p:spPr>
        <p:txBody>
          <a:bodyPr wrap="square" lIns="0" tIns="0" rIns="0" bIns="0" rtlCol="0" anchor="ctr"/>
          <a:lstStyle/>
          <a:p>
            <a:pPr indent="0" marL="0">
              <a:buNone/>
            </a:pPr>
            <a:r>
              <a:rPr lang="en-US" sz="1200" b="1" dirty="0">
                <a:solidFill>
                  <a:schemeClr val="tx1"/>
                </a:solidFill>
              </a:rPr>
              <a:t>Security &amp; accessibility audit, 2 Oct</a:t>
            </a:r>
            <a:endParaRPr lang="en-US" sz="1200" dirty="0"/>
          </a:p>
          <a:p>
            <a:pPr indent="0" marL="0">
              <a:buNone/>
            </a:pPr>
            <a:r>
              <a:rPr lang="en-US" sz="1050" dirty="0">
                <a:solidFill>
                  <a:schemeClr val="tx1"/>
                </a:solidFill>
              </a:rPr>
              <a:t>Four fixes shipped the same day</a:t>
            </a:r>
            <a:endParaRPr lang="en-US" sz="1200" dirty="0"/>
          </a:p>
        </p:txBody>
      </p:sp>
      <p:sp>
        <p:nvSpPr>
          <p:cNvPr id="18" name="Text 13"/>
          <p:cNvSpPr txBox="1"/>
          <p:nvPr/>
        </p:nvSpPr>
        <p:spPr>
          <a:xfrm>
            <a:off x="4800600" y="1051560"/>
            <a:ext cx="3840480" cy="365760"/>
          </a:xfrm>
          <a:prstGeom prst="rect">
            <a:avLst/>
          </a:prstGeom>
          <a:noFill/>
          <a:ln/>
        </p:spPr>
        <p:txBody>
          <a:bodyPr wrap="square" lIns="0" tIns="0" rIns="0" bIns="0" rtlCol="0" anchor="ctr"/>
          <a:lstStyle/>
          <a:p>
            <a:pPr indent="0" marL="0">
              <a:buNone/>
            </a:pPr>
            <a:r>
              <a:rPr lang="en-US" sz="1500" b="1" dirty="0">
                <a:solidFill>
                  <a:schemeClr val="accent1"/>
                </a:solidFill>
              </a:rPr>
              <a:t>Next</a:t>
            </a:r>
            <a:endParaRPr lang="en-US" sz="1500" dirty="0"/>
          </a:p>
        </p:txBody>
      </p:sp>
      <p:sp>
        <p:nvSpPr>
          <p:cNvPr id="19" name="Shape 14"/>
          <p:cNvSpPr/>
          <p:nvPr/>
        </p:nvSpPr>
        <p:spPr>
          <a:xfrm>
            <a:off x="4956048" y="1645920"/>
            <a:ext cx="0" cy="2697480"/>
          </a:xfrm>
          <a:prstGeom prst="line">
            <a:avLst/>
          </a:prstGeom>
          <a:noFill/>
          <a:ln w="31750">
            <a:solidFill>
              <a:srgbClr val="D5EADC"/>
            </a:solidFill>
            <a:prstDash val="solid"/>
          </a:ln>
        </p:spPr>
      </p:sp>
      <p:sp>
        <p:nvSpPr>
          <p:cNvPr id="20" name="Shape 15"/>
          <p:cNvSpPr/>
          <p:nvPr/>
        </p:nvSpPr>
        <p:spPr>
          <a:xfrm>
            <a:off x="4818888" y="1572768"/>
            <a:ext cx="274320" cy="237744"/>
          </a:xfrm>
          <a:prstGeom prst="hexagon">
            <a:avLst/>
          </a:prstGeom>
          <a:solidFill>
            <a:srgbClr val="F59E0B"/>
          </a:solidFill>
          <a:ln/>
        </p:spPr>
      </p:sp>
      <p:sp>
        <p:nvSpPr>
          <p:cNvPr id="21" name="Text 16"/>
          <p:cNvSpPr txBox="1"/>
          <p:nvPr/>
        </p:nvSpPr>
        <p:spPr>
          <a:xfrm>
            <a:off x="4818888" y="1572768"/>
            <a:ext cx="274320" cy="237744"/>
          </a:xfrm>
          <a:prstGeom prst="rect">
            <a:avLst/>
          </a:prstGeom>
          <a:noFill/>
          <a:ln/>
        </p:spPr>
        <p:txBody>
          <a:bodyPr wrap="square" lIns="0" tIns="0" rIns="0" bIns="0" rtlCol="0" anchor="ctr"/>
          <a:lstStyle/>
          <a:p>
            <a:pPr algn="ctr" indent="0" marL="0">
              <a:buNone/>
            </a:pPr>
            <a:r>
              <a:rPr lang="en-US" sz="900" b="1" dirty="0">
                <a:solidFill>
                  <a:srgbClr val="18261E"/>
                </a:solidFill>
              </a:rPr>
              <a:t>1</a:t>
            </a:r>
            <a:endParaRPr lang="en-US" sz="900" dirty="0"/>
          </a:p>
        </p:txBody>
      </p:sp>
      <p:sp>
        <p:nvSpPr>
          <p:cNvPr id="22" name="Text 17"/>
          <p:cNvSpPr txBox="1"/>
          <p:nvPr/>
        </p:nvSpPr>
        <p:spPr>
          <a:xfrm>
            <a:off x="5257800" y="1508760"/>
            <a:ext cx="3429000" cy="365760"/>
          </a:xfrm>
          <a:prstGeom prst="rect">
            <a:avLst/>
          </a:prstGeom>
          <a:noFill/>
          <a:ln/>
        </p:spPr>
        <p:txBody>
          <a:bodyPr wrap="square" lIns="0" tIns="0" rIns="0" bIns="0" rtlCol="0" anchor="ctr"/>
          <a:lstStyle/>
          <a:p>
            <a:pPr indent="0" marL="0">
              <a:buNone/>
            </a:pPr>
            <a:r>
              <a:rPr lang="en-US" sz="1200" b="1" dirty="0">
                <a:solidFill>
                  <a:srgbClr val="7C4A03"/>
                </a:solidFill>
              </a:rPr>
              <a:t>3 Oct  </a:t>
            </a:r>
            <a:pPr indent="0" marL="0">
              <a:buNone/>
            </a:pPr>
            <a:r>
              <a:rPr lang="en-US" sz="1200" dirty="0">
                <a:solidFill>
                  <a:schemeClr val="tx1"/>
                </a:solidFill>
              </a:rPr>
              <a:t>ISO/IEC 25010 survey with IT evaluators</a:t>
            </a:r>
            <a:endParaRPr lang="en-US" sz="1200" dirty="0"/>
          </a:p>
        </p:txBody>
      </p:sp>
      <p:sp>
        <p:nvSpPr>
          <p:cNvPr id="23" name="Shape 18"/>
          <p:cNvSpPr/>
          <p:nvPr/>
        </p:nvSpPr>
        <p:spPr>
          <a:xfrm>
            <a:off x="4818888" y="2084832"/>
            <a:ext cx="274320" cy="237744"/>
          </a:xfrm>
          <a:prstGeom prst="hexagon">
            <a:avLst/>
          </a:prstGeom>
          <a:solidFill>
            <a:srgbClr val="17603F"/>
          </a:solidFill>
          <a:ln/>
        </p:spPr>
      </p:sp>
      <p:sp>
        <p:nvSpPr>
          <p:cNvPr id="24" name="Text 19"/>
          <p:cNvSpPr txBox="1"/>
          <p:nvPr/>
        </p:nvSpPr>
        <p:spPr>
          <a:xfrm>
            <a:off x="4818888" y="2084832"/>
            <a:ext cx="274320" cy="237744"/>
          </a:xfrm>
          <a:prstGeom prst="rect">
            <a:avLst/>
          </a:prstGeom>
          <a:noFill/>
          <a:ln/>
        </p:spPr>
        <p:txBody>
          <a:bodyPr wrap="square" lIns="0" tIns="0" rIns="0" bIns="0" rtlCol="0" anchor="ctr"/>
          <a:lstStyle/>
          <a:p>
            <a:pPr algn="ctr" indent="0" marL="0">
              <a:buNone/>
            </a:pPr>
            <a:r>
              <a:rPr lang="en-US" sz="900" b="1" dirty="0">
                <a:solidFill>
                  <a:srgbClr val="FFFFFF"/>
                </a:solidFill>
              </a:rPr>
              <a:t>2</a:t>
            </a:r>
            <a:endParaRPr lang="en-US" sz="900" dirty="0"/>
          </a:p>
        </p:txBody>
      </p:sp>
      <p:sp>
        <p:nvSpPr>
          <p:cNvPr id="25" name="Text 20"/>
          <p:cNvSpPr txBox="1"/>
          <p:nvPr/>
        </p:nvSpPr>
        <p:spPr>
          <a:xfrm>
            <a:off x="5257800" y="2020824"/>
            <a:ext cx="3429000" cy="365760"/>
          </a:xfrm>
          <a:prstGeom prst="rect">
            <a:avLst/>
          </a:prstGeom>
          <a:noFill/>
          <a:ln/>
        </p:spPr>
        <p:txBody>
          <a:bodyPr wrap="square" lIns="0" tIns="0" rIns="0" bIns="0" rtlCol="0" anchor="ctr"/>
          <a:lstStyle/>
          <a:p>
            <a:pPr indent="0" marL="0">
              <a:buNone/>
            </a:pPr>
            <a:r>
              <a:rPr lang="en-US" sz="1200" dirty="0">
                <a:solidFill>
                  <a:schemeClr val="tx1"/>
                </a:solidFill>
              </a:rPr>
              <a:t>Compute Tables 12–22 from the responses</a:t>
            </a:r>
            <a:endParaRPr lang="en-US" sz="1200" dirty="0"/>
          </a:p>
        </p:txBody>
      </p:sp>
      <p:sp>
        <p:nvSpPr>
          <p:cNvPr id="26" name="Shape 21"/>
          <p:cNvSpPr/>
          <p:nvPr/>
        </p:nvSpPr>
        <p:spPr>
          <a:xfrm>
            <a:off x="4818888" y="2596896"/>
            <a:ext cx="274320" cy="237744"/>
          </a:xfrm>
          <a:prstGeom prst="hexagon">
            <a:avLst/>
          </a:prstGeom>
          <a:solidFill>
            <a:srgbClr val="17603F"/>
          </a:solidFill>
          <a:ln/>
        </p:spPr>
      </p:sp>
      <p:sp>
        <p:nvSpPr>
          <p:cNvPr id="27" name="Text 22"/>
          <p:cNvSpPr txBox="1"/>
          <p:nvPr/>
        </p:nvSpPr>
        <p:spPr>
          <a:xfrm>
            <a:off x="4818888" y="2596896"/>
            <a:ext cx="274320" cy="237744"/>
          </a:xfrm>
          <a:prstGeom prst="rect">
            <a:avLst/>
          </a:prstGeom>
          <a:noFill/>
          <a:ln/>
        </p:spPr>
        <p:txBody>
          <a:bodyPr wrap="square" lIns="0" tIns="0" rIns="0" bIns="0" rtlCol="0" anchor="ctr"/>
          <a:lstStyle/>
          <a:p>
            <a:pPr algn="ctr" indent="0" marL="0">
              <a:buNone/>
            </a:pPr>
            <a:r>
              <a:rPr lang="en-US" sz="900" b="1" dirty="0">
                <a:solidFill>
                  <a:srgbClr val="FFFFFF"/>
                </a:solidFill>
              </a:rPr>
              <a:t>3</a:t>
            </a:r>
            <a:endParaRPr lang="en-US" sz="900" dirty="0"/>
          </a:p>
        </p:txBody>
      </p:sp>
      <p:sp>
        <p:nvSpPr>
          <p:cNvPr id="28" name="Text 23"/>
          <p:cNvSpPr txBox="1"/>
          <p:nvPr/>
        </p:nvSpPr>
        <p:spPr>
          <a:xfrm>
            <a:off x="5257800" y="2532888"/>
            <a:ext cx="3429000" cy="365760"/>
          </a:xfrm>
          <a:prstGeom prst="rect">
            <a:avLst/>
          </a:prstGeom>
          <a:noFill/>
          <a:ln/>
        </p:spPr>
        <p:txBody>
          <a:bodyPr wrap="square" lIns="0" tIns="0" rIns="0" bIns="0" rtlCol="0" anchor="ctr"/>
          <a:lstStyle/>
          <a:p>
            <a:pPr indent="0" marL="0">
              <a:buNone/>
            </a:pPr>
            <a:r>
              <a:rPr lang="en-US" sz="1200" dirty="0">
                <a:solidFill>
                  <a:schemeClr val="tx1"/>
                </a:solidFill>
              </a:rPr>
              <a:t>Screenshots for Figures 4–8</a:t>
            </a:r>
            <a:endParaRPr lang="en-US" sz="1200" dirty="0"/>
          </a:p>
        </p:txBody>
      </p:sp>
      <p:sp>
        <p:nvSpPr>
          <p:cNvPr id="29" name="Shape 24"/>
          <p:cNvSpPr/>
          <p:nvPr/>
        </p:nvSpPr>
        <p:spPr>
          <a:xfrm>
            <a:off x="4818888" y="3108960"/>
            <a:ext cx="274320" cy="237744"/>
          </a:xfrm>
          <a:prstGeom prst="hexagon">
            <a:avLst/>
          </a:prstGeom>
          <a:solidFill>
            <a:srgbClr val="17603F"/>
          </a:solidFill>
          <a:ln/>
        </p:spPr>
      </p:sp>
      <p:sp>
        <p:nvSpPr>
          <p:cNvPr id="30" name="Text 25"/>
          <p:cNvSpPr txBox="1"/>
          <p:nvPr/>
        </p:nvSpPr>
        <p:spPr>
          <a:xfrm>
            <a:off x="4818888" y="3108960"/>
            <a:ext cx="274320" cy="237744"/>
          </a:xfrm>
          <a:prstGeom prst="rect">
            <a:avLst/>
          </a:prstGeom>
          <a:noFill/>
          <a:ln/>
        </p:spPr>
        <p:txBody>
          <a:bodyPr wrap="square" lIns="0" tIns="0" rIns="0" bIns="0" rtlCol="0" anchor="ctr"/>
          <a:lstStyle/>
          <a:p>
            <a:pPr algn="ctr" indent="0" marL="0">
              <a:buNone/>
            </a:pPr>
            <a:r>
              <a:rPr lang="en-US" sz="900" b="1" dirty="0">
                <a:solidFill>
                  <a:srgbClr val="FFFFFF"/>
                </a:solidFill>
              </a:rPr>
              <a:t>4</a:t>
            </a:r>
            <a:endParaRPr lang="en-US" sz="900" dirty="0"/>
          </a:p>
        </p:txBody>
      </p:sp>
      <p:sp>
        <p:nvSpPr>
          <p:cNvPr id="31" name="Text 26"/>
          <p:cNvSpPr txBox="1"/>
          <p:nvPr/>
        </p:nvSpPr>
        <p:spPr>
          <a:xfrm>
            <a:off x="5257800" y="3044952"/>
            <a:ext cx="3429000" cy="365760"/>
          </a:xfrm>
          <a:prstGeom prst="rect">
            <a:avLst/>
          </a:prstGeom>
          <a:noFill/>
          <a:ln/>
        </p:spPr>
        <p:txBody>
          <a:bodyPr wrap="square" lIns="0" tIns="0" rIns="0" bIns="0" rtlCol="0" anchor="ctr"/>
          <a:lstStyle/>
          <a:p>
            <a:pPr indent="0" marL="0">
              <a:buNone/>
            </a:pPr>
            <a:r>
              <a:rPr lang="en-US" sz="1200" dirty="0">
                <a:solidFill>
                  <a:schemeClr val="tx1"/>
                </a:solidFill>
              </a:rPr>
              <a:t>Owner's last question (Table 5)</a:t>
            </a:r>
            <a:endParaRPr lang="en-US" sz="1200" dirty="0"/>
          </a:p>
        </p:txBody>
      </p:sp>
      <p:sp>
        <p:nvSpPr>
          <p:cNvPr id="32" name="Shape 27"/>
          <p:cNvSpPr/>
          <p:nvPr/>
        </p:nvSpPr>
        <p:spPr>
          <a:xfrm>
            <a:off x="4818888" y="3621024"/>
            <a:ext cx="274320" cy="237744"/>
          </a:xfrm>
          <a:prstGeom prst="hexagon">
            <a:avLst/>
          </a:prstGeom>
          <a:solidFill>
            <a:srgbClr val="17603F"/>
          </a:solidFill>
          <a:ln/>
        </p:spPr>
      </p:sp>
      <p:sp>
        <p:nvSpPr>
          <p:cNvPr id="33" name="Text 28"/>
          <p:cNvSpPr txBox="1"/>
          <p:nvPr/>
        </p:nvSpPr>
        <p:spPr>
          <a:xfrm>
            <a:off x="4818888" y="3621024"/>
            <a:ext cx="274320" cy="237744"/>
          </a:xfrm>
          <a:prstGeom prst="rect">
            <a:avLst/>
          </a:prstGeom>
          <a:noFill/>
          <a:ln/>
        </p:spPr>
        <p:txBody>
          <a:bodyPr wrap="square" lIns="0" tIns="0" rIns="0" bIns="0" rtlCol="0" anchor="ctr"/>
          <a:lstStyle/>
          <a:p>
            <a:pPr algn="ctr" indent="0" marL="0">
              <a:buNone/>
            </a:pPr>
            <a:r>
              <a:rPr lang="en-US" sz="900" b="1" dirty="0">
                <a:solidFill>
                  <a:srgbClr val="FFFFFF"/>
                </a:solidFill>
              </a:rPr>
              <a:t>5</a:t>
            </a:r>
            <a:endParaRPr lang="en-US" sz="900" dirty="0"/>
          </a:p>
        </p:txBody>
      </p:sp>
      <p:sp>
        <p:nvSpPr>
          <p:cNvPr id="34" name="Text 29"/>
          <p:cNvSpPr txBox="1"/>
          <p:nvPr/>
        </p:nvSpPr>
        <p:spPr>
          <a:xfrm>
            <a:off x="5257800" y="3557016"/>
            <a:ext cx="3429000" cy="365760"/>
          </a:xfrm>
          <a:prstGeom prst="rect">
            <a:avLst/>
          </a:prstGeom>
          <a:noFill/>
          <a:ln/>
        </p:spPr>
        <p:txBody>
          <a:bodyPr wrap="square" lIns="0" tIns="0" rIns="0" bIns="0" rtlCol="0" anchor="ctr"/>
          <a:lstStyle/>
          <a:p>
            <a:pPr indent="0" marL="0">
              <a:buNone/>
            </a:pPr>
            <a:r>
              <a:rPr lang="en-US" sz="1200" dirty="0">
                <a:solidFill>
                  <a:schemeClr val="tx1"/>
                </a:solidFill>
              </a:rPr>
              <a:t>Training and hand-over to the owner</a:t>
            </a:r>
            <a:endParaRPr lang="en-US" sz="1200" dirty="0"/>
          </a:p>
        </p:txBody>
      </p:sp>
      <p:sp>
        <p:nvSpPr>
          <p:cNvPr id="35" name="Shape 30"/>
          <p:cNvSpPr/>
          <p:nvPr/>
        </p:nvSpPr>
        <p:spPr>
          <a:xfrm>
            <a:off x="4818888" y="4133088"/>
            <a:ext cx="274320" cy="237744"/>
          </a:xfrm>
          <a:prstGeom prst="hexagon">
            <a:avLst/>
          </a:prstGeom>
          <a:solidFill>
            <a:srgbClr val="17603F"/>
          </a:solidFill>
          <a:ln/>
        </p:spPr>
      </p:sp>
      <p:sp>
        <p:nvSpPr>
          <p:cNvPr id="36" name="Text 31"/>
          <p:cNvSpPr txBox="1"/>
          <p:nvPr/>
        </p:nvSpPr>
        <p:spPr>
          <a:xfrm>
            <a:off x="4818888" y="4133088"/>
            <a:ext cx="274320" cy="237744"/>
          </a:xfrm>
          <a:prstGeom prst="rect">
            <a:avLst/>
          </a:prstGeom>
          <a:noFill/>
          <a:ln/>
        </p:spPr>
        <p:txBody>
          <a:bodyPr wrap="square" lIns="0" tIns="0" rIns="0" bIns="0" rtlCol="0" anchor="ctr"/>
          <a:lstStyle/>
          <a:p>
            <a:pPr algn="ctr" indent="0" marL="0">
              <a:buNone/>
            </a:pPr>
            <a:r>
              <a:rPr lang="en-US" sz="900" b="1" dirty="0">
                <a:solidFill>
                  <a:srgbClr val="FFFFFF"/>
                </a:solidFill>
              </a:rPr>
              <a:t>6</a:t>
            </a:r>
            <a:endParaRPr lang="en-US" sz="900" dirty="0"/>
          </a:p>
        </p:txBody>
      </p:sp>
      <p:sp>
        <p:nvSpPr>
          <p:cNvPr id="37" name="Text 32"/>
          <p:cNvSpPr txBox="1"/>
          <p:nvPr/>
        </p:nvSpPr>
        <p:spPr>
          <a:xfrm>
            <a:off x="5257800" y="4069080"/>
            <a:ext cx="3429000" cy="365760"/>
          </a:xfrm>
          <a:prstGeom prst="rect">
            <a:avLst/>
          </a:prstGeom>
          <a:noFill/>
          <a:ln/>
        </p:spPr>
        <p:txBody>
          <a:bodyPr wrap="square" lIns="0" tIns="0" rIns="0" bIns="0" rtlCol="0" anchor="ctr"/>
          <a:lstStyle/>
          <a:p>
            <a:pPr indent="0" marL="0">
              <a:buNone/>
            </a:pPr>
            <a:r>
              <a:rPr lang="en-US" sz="1200" dirty="0">
                <a:solidFill>
                  <a:schemeClr val="tx1"/>
                </a:solidFill>
              </a:rPr>
              <a:t>Finalize Chapter 5 and the abstract</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B7280"/>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Hivelet logo" descr="logo.png">    </p:cNvPr>
          <p:cNvPicPr>
            <a:picLocks noChangeAspect="1"/>
          </p:cNvPicPr>
          <p:nvPr/>
        </p:nvPicPr>
        <p:blipFill>
          <a:blip r:embed="rId1"/>
          <a:stretch>
            <a:fillRect/>
          </a:stretch>
        </p:blipFill>
        <p:spPr>
          <a:xfrm>
            <a:off x="548640" y="502920"/>
            <a:ext cx="731520" cy="731520"/>
          </a:xfrm>
          <a:prstGeom prst="rect">
            <a:avLst/>
          </a:prstGeom>
        </p:spPr>
      </p:pic>
      <p:sp>
        <p:nvSpPr>
          <p:cNvPr id="3" name="Text 0"/>
          <p:cNvSpPr/>
          <p:nvPr>
            <p:ph idx="100" type="title" hasCustomPrompt="1"/>
          </p:nvPr>
        </p:nvSpPr>
        <p:spPr>
          <a:xfrm>
            <a:off x="548640" y="1417320"/>
            <a:ext cx="4937760" cy="914400"/>
          </a:xfrm>
          <a:prstGeom prst="rect">
            <a:avLst/>
          </a:prstGeom>
          <a:noFill/>
          <a:ln/>
        </p:spPr>
        <p:txBody>
          <a:bodyPr wrap="square" lIns="0" tIns="0" rIns="0" bIns="0" rtlCol="0" anchor="b"/>
          <a:lstStyle/>
          <a:p>
            <a:pPr algn="l" indent="0" marL="0">
              <a:buNone/>
            </a:pPr>
            <a:r>
              <a:rPr lang="en-US" sz="4800" b="1" dirty="0">
                <a:solidFill>
                  <a:schemeClr val="bg1"/>
                </a:solidFill>
                <a:latin typeface="Cambria" pitchFamily="34" charset="0"/>
                <a:ea typeface="Cambria" pitchFamily="34" charset="-122"/>
                <a:cs typeface="Cambria" pitchFamily="34" charset="-120"/>
              </a:rPr>
              <a:t>Thank you</a:t>
            </a:r>
            <a:endParaRPr lang="en-US" sz="4800" dirty="0"/>
          </a:p>
        </p:txBody>
      </p:sp>
      <p:sp>
        <p:nvSpPr>
          <p:cNvPr id="4" name="Text 0"/>
          <p:cNvSpPr/>
          <p:nvPr>
            <p:ph idx="101" type="body" hasCustomPrompt="1"/>
          </p:nvPr>
        </p:nvSpPr>
        <p:spPr>
          <a:xfrm>
            <a:off x="548640" y="2377440"/>
            <a:ext cx="4754880" cy="1188720"/>
          </a:xfrm>
          <a:prstGeom prst="rect">
            <a:avLst/>
          </a:prstGeom>
          <a:noFill/>
          <a:ln/>
        </p:spPr>
        <p:txBody>
          <a:bodyPr wrap="square" lIns="0" tIns="0" rIns="0" bIns="0" rtlCol="0" anchor="t"/>
          <a:lstStyle/>
          <a:p>
            <a:pPr algn="l" indent="0" marL="0">
              <a:buNone/>
            </a:pPr>
            <a:r>
              <a:rPr lang="en-US" sz="1600" dirty="0">
                <a:solidFill>
                  <a:schemeClr val="bg2"/>
                </a:solidFill>
              </a:rPr>
              <a:t>Questions are welcome. All five of us will answer.</a:t>
            </a:r>
            <a:endParaRPr lang="en-US" sz="1600" dirty="0"/>
          </a:p>
        </p:txBody>
      </p:sp>
      <p:sp>
        <p:nvSpPr>
          <p:cNvPr id="5" name="Text 2"/>
          <p:cNvSpPr txBox="1"/>
          <p:nvPr/>
        </p:nvSpPr>
        <p:spPr>
          <a:xfrm>
            <a:off x="6035040" y="1417320"/>
            <a:ext cx="2743200" cy="2286000"/>
          </a:xfrm>
          <a:prstGeom prst="rect">
            <a:avLst/>
          </a:prstGeom>
          <a:noFill/>
          <a:ln/>
        </p:spPr>
        <p:txBody>
          <a:bodyPr wrap="square" lIns="0" tIns="0" rIns="0" bIns="0" rtlCol="0" anchor="ctr"/>
          <a:lstStyle/>
          <a:p>
            <a:pPr indent="0" marL="0">
              <a:spcAft>
                <a:spcPts val="600"/>
              </a:spcAft>
              <a:buNone/>
            </a:pPr>
            <a:r>
              <a:rPr lang="en-US" sz="1300" dirty="0">
                <a:solidFill>
                  <a:srgbClr val="FFFFFF"/>
                </a:solidFill>
              </a:rPr>
              <a:t>John Lloyd M. Cuario</a:t>
            </a:r>
            <a:endParaRPr lang="en-US" sz="1300" dirty="0"/>
          </a:p>
          <a:p>
            <a:pPr indent="0" marL="0">
              <a:spcAft>
                <a:spcPts val="600"/>
              </a:spcAft>
              <a:buNone/>
            </a:pPr>
            <a:r>
              <a:rPr lang="en-US" sz="1300" dirty="0">
                <a:solidFill>
                  <a:srgbClr val="FFFFFF"/>
                </a:solidFill>
              </a:rPr>
              <a:t>Sean Jerve Ll. Rebancos</a:t>
            </a:r>
            <a:endParaRPr lang="en-US" sz="1300" dirty="0"/>
          </a:p>
          <a:p>
            <a:pPr indent="0" marL="0">
              <a:spcAft>
                <a:spcPts val="600"/>
              </a:spcAft>
              <a:buNone/>
            </a:pPr>
            <a:r>
              <a:rPr lang="en-US" sz="1300" dirty="0">
                <a:solidFill>
                  <a:srgbClr val="FFFFFF"/>
                </a:solidFill>
              </a:rPr>
              <a:t>Victor Noel A. Napay</a:t>
            </a:r>
            <a:endParaRPr lang="en-US" sz="1300" dirty="0"/>
          </a:p>
          <a:p>
            <a:pPr indent="0" marL="0">
              <a:spcAft>
                <a:spcPts val="600"/>
              </a:spcAft>
              <a:buNone/>
            </a:pPr>
            <a:r>
              <a:rPr lang="en-US" sz="1300" dirty="0">
                <a:solidFill>
                  <a:srgbClr val="FFFFFF"/>
                </a:solidFill>
              </a:rPr>
              <a:t>Kiel Hedrix V. Relos</a:t>
            </a:r>
            <a:endParaRPr lang="en-US" sz="1300" dirty="0"/>
          </a:p>
          <a:p>
            <a:pPr indent="0" marL="0">
              <a:spcAft>
                <a:spcPts val="600"/>
              </a:spcAft>
              <a:buNone/>
            </a:pPr>
            <a:r>
              <a:rPr lang="en-US" sz="1300" dirty="0">
                <a:solidFill>
                  <a:srgbClr val="FFFFFF"/>
                </a:solidFill>
              </a:rPr>
              <a:t>Eljohn Paulo C. Loterte</a:t>
            </a:r>
            <a:endParaRPr lang="en-US" sz="1300" dirty="0"/>
          </a:p>
        </p:txBody>
      </p:sp>
      <p:sp>
        <p:nvSpPr>
          <p:cNvPr id="6" name="Text 3"/>
          <p:cNvSpPr txBox="1"/>
          <p:nvPr/>
        </p:nvSpPr>
        <p:spPr>
          <a:xfrm>
            <a:off x="548640" y="4206240"/>
            <a:ext cx="4572000" cy="320040"/>
          </a:xfrm>
          <a:prstGeom prst="rect">
            <a:avLst/>
          </a:prstGeom>
          <a:noFill/>
          <a:ln/>
        </p:spPr>
        <p:txBody>
          <a:bodyPr wrap="square" lIns="0" tIns="0" rIns="0" bIns="0" rtlCol="0" anchor="ctr"/>
          <a:lstStyle/>
          <a:p>
            <a:pPr indent="0" marL="0">
              <a:buNone/>
            </a:pPr>
            <a:r>
              <a:rPr lang="en-US" sz="1200" dirty="0">
                <a:solidFill>
                  <a:srgbClr val="D5EADC"/>
                </a:solidFill>
              </a:rPr>
              <a:t>Hivelet  ·  hivelet.vercel.app</a:t>
            </a:r>
            <a:endParaRPr lang="en-US" sz="1200" dirty="0"/>
          </a:p>
        </p:txBody>
      </p:sp>
    </p:spTree>
  </p:cSld>
  <p:clrMapOvr>
    <a:masterClrMapping/>
  </p:clrMapOvr>
</p:sld>
</file>

<file path=ppt/theme/theme1.xml><?xml version="1.0" encoding="utf-8"?>
<a:theme xmlns:a="http://schemas.openxmlformats.org/drawingml/2006/main" name="Hivelet">
  <a:themeElements>
    <a:clrScheme name="Hivelet">
      <a:dk1>
        <a:srgbClr val="18261E"/>
      </a:dk1>
      <a:lt1>
        <a:srgbClr val="FFFFFF"/>
      </a:lt1>
      <a:dk2>
        <a:srgbClr val="17603F"/>
      </a:dk2>
      <a:lt2>
        <a:srgbClr val="EAF4EE"/>
      </a:lt2>
      <a:accent1>
        <a:srgbClr val="17603F"/>
      </a:accent1>
      <a:accent2>
        <a:srgbClr val="F59E0B"/>
      </a:accent2>
      <a:accent3>
        <a:srgbClr val="2E8B57"/>
      </a:accent3>
      <a:accent4>
        <a:srgbClr val="0C66E4"/>
      </a:accent4>
      <a:accent5>
        <a:srgbClr val="6B7280"/>
      </a:accent5>
      <a:accent6>
        <a:srgbClr val="0E3B27"/>
      </a:accent6>
      <a:hlink>
        <a:srgbClr val="0C66E4"/>
      </a:hlink>
      <a:folHlink>
        <a:srgbClr val="5B21B6"/>
      </a:folHlink>
    </a:clrScheme>
    <a:fontScheme name="Hivele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Hivelet Progress Report</dc:title>
  <dc:subject>PptxGenJS Presentation</dc:subject>
  <dc:creator>Hivelet Team</dc:creator>
  <cp:lastModifiedBy>Hivelet Team</cp:lastModifiedBy>
  <cp:revision>1</cp:revision>
  <dcterms:created xsi:type="dcterms:W3CDTF">2026-10-02T08:16:21Z</dcterms:created>
  <dcterms:modified xsi:type="dcterms:W3CDTF">2026-10-02T08:16:21Z</dcterms:modified>
</cp:coreProperties>
</file>