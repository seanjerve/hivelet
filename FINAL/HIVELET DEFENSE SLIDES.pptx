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Composite mean</c:v>
                </c:pt>
              </c:strCache>
            </c:strRef>
          </c:tx>
          <c:spPr>
            <a:solidFill>
              <a:srgbClr val="17603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Portability</c:v>
                  </c:pt>
                  <c:pt idx="1">
                    <c:v>Functional Suitability</c:v>
                  </c:pt>
                  <c:pt idx="2">
                    <c:v>Security</c:v>
                  </c:pt>
                  <c:pt idx="3">
                    <c:v>Compatibility</c:v>
                  </c:pt>
                  <c:pt idx="4">
                    <c:v>Reliability</c:v>
                  </c:pt>
                  <c:pt idx="5">
                    <c:v>Performance Efficiency</c:v>
                  </c:pt>
                  <c:pt idx="6">
                    <c:v>Usability</c:v>
                  </c:pt>
                  <c:pt idx="7">
                    <c:v>Maintainability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4.89</c:v>
                </c:pt>
                <c:pt idx="1">
                  <c:v>4.86</c:v>
                </c:pt>
                <c:pt idx="2">
                  <c:v>4.7</c:v>
                </c:pt>
                <c:pt idx="3">
                  <c:v>4.67</c:v>
                </c:pt>
                <c:pt idx="4">
                  <c:v>4.62</c:v>
                </c:pt>
                <c:pt idx="5">
                  <c:v>4.42</c:v>
                </c:pt>
                <c:pt idx="6">
                  <c:v>4.12</c:v>
                </c:pt>
                <c:pt idx="7">
                  <c:v>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1"/>
        </c:scaling>
        <c:delete val="0"/>
        <c:axPos val="b"/>
        <c:majorGridlines>
          <c:spPr>
            <a:ln w="12700" cap="flat">
              <a:solidFill>
                <a:srgbClr val="E2E8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client: a 33-unit boarding house in Legazpi City, 32 units occupied, run by the landlady for its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columns of the figure left to right. The point: every path ends in a record kept apart from the others, or in no record at all (Chapter 4, Section 4.1.1).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come from transferring her real workbook into the system (Section 4.1.1). The records were kept exactly as she wrote them; the system reports the anomalies rather than correcting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general objective, then the four specific ones. The conclusions near the end answer each one in the same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study solves one part. Canlas et al. (2026) is the closest in method and respondents; Puspasari et al. (2025) is the clearest example of the gap: only the manager can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Input, process, output, with feedback into the next iteration (Chapter 2, Section 2.3).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Iteration 2 is the honest part of the story: it checked the system and its documents against each other and corrected 22 recorded errors, many written in Iteration 1 with the AI assistant and never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Express is the security boundary: the browser never talks to the database directly. Row-level security is on all 24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six the second objective names (Chapter 4, Sections 4.2.2 to 4.2.7).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public unit catalogue (Figure 4-8). Right: the tenant portal on a phone (Figure 4-11). Sample records; the units and rates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monthly income ledger in her workbook's layout (Figure 4-9). Right: the repair board (Figure 4-10). Sample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weaknesses are named in the paper and recommended for later: the sign-in token is kept in the browser's storage, and the administrator has no second sign-in factor (Section 4.4.4).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layers, on the ISO/IEC/IEEE 29119 levels (Table 4-12). The one failure, a ₱0 shown with the connection cut, passed when re-tested on the owner's laptop on 13 October. The course standard is 90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Load times are from 30 September on real devices (Table 4-10). The load test used simulated users, not people. Saves arriving at the same instant are refused by the database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Observed on their own devices with a fixed help ladder; testers thought aloud (Chapter 3, Section 3.3; Chapter 4, Section 4.3.7).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Composite means (Table 4-17), mean of the group means. Six respondents: the owner, three tenants, a prospective tenant and a technical evaluator. Every characteristic at least High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Usability is the exception: the measures pass, but the owner rated learning without help lower. Maintainability rests on the measurements from the code more than on the one rating (Section 4.4.5).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per objective, in order (Chapter 5, Section 5.2).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Grouped by who acts on them (Chapter 5, Section 5.3).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demo: FINAL/DEMO_SCRIPT.md. Test tenant on unit PH only; reject the GCash payment, never verify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603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Hivelet · Fe Galang Da Silva Boarding House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6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Hivelet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4688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Web-Based Apartment Management System for Fe Galang Da Silva Boarding House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F0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124 Capstone Project 2 · Group 4, BS Information Technology · Bicol University College of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F0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members]   ·   Adviser: [name]   ·   [Defense date]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Hivelet: four areas, four separate records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1325880"/>
            <a:ext cx="51206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and expenses typed into a workbook on a USB flash drive, the only copy</a:t>
            </a:r>
            <a:endParaRPr lang="en-US" sz="17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Invoices written in a paper book; rent collected in cash on site</a:t>
            </a:r>
            <a:endParaRPr lang="en-US" sz="17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requests by message or in person, never recorded</a:t>
            </a:r>
            <a:endParaRPr lang="en-US" sz="17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Inquiries through Facebook, referrals, texts and walk-ins, with no record of which unit</a:t>
            </a:r>
            <a:endParaRPr lang="en-US" sz="1700" dirty="0"/>
          </a:p>
        </p:txBody>
      </p:sp>
      <p:pic>
        <p:nvPicPr>
          <p:cNvPr id="5" name="Image 0" descr="C:\Users\seanjerve\OneDrive\Desktop\hivelet\docs\FINAL MANUSCRIPT\figures\figure-4-current-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71016"/>
            <a:ext cx="5760720" cy="48646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owner's own records showed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731520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2148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rows transferred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566160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1,327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566160" y="2148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 allocations transferred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00800" y="2148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402 of the 937 rows had no anniversary date and no deposit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235440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9235440" y="2148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numbers each used for two payments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was not the lack of a digital tool. It was that nothing connected one record to another.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 of the study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118872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design, develop and evaluate Hivelet, a web-based apartment management system that integrates the boarding house's administrative workflow, communication and operational control.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48640" y="2286000"/>
            <a:ext cx="11094415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the existing practices and set the system requirements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tenant and room management, booking, financial tracking with optional online payment, maintenance ticketing and notifications, role-based access control, and PWA support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test the system for functionality, responsiveness and operational performance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and optimize it with the ISO/IEC 25010 software quality model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related studies did, and what was missing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Magno et al., 2024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 rental records and tasks (Negros)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28016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48056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Pernate et al., 2025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480560" y="192024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and booking boarding house rooms (Ormoc City), ISO/IEC 25010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28016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Mangca, 2023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0" y="192024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Boarding house booking with SMS notifications (Surigao City)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4747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611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Puspasari et al., 2025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31520" y="41148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notifications, but only the manager uses it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297680" y="34747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80560" y="3611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Canlas et al., 2026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480560" y="41148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Dormitory maintenance reporting, Agile, ISO/IEC 25010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046720" y="34747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17603F"/>
          </a:solidFill>
          <a:ln w="12700">
            <a:solidFill>
              <a:srgbClr val="17603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0" y="3611880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gap: one system that integrates records, money, requests and inquiries for a small, cash-based boarding house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Conceptual framework</a:t>
            </a:r>
            <a:endParaRPr lang="en-US" sz="2800" dirty="0"/>
          </a:p>
        </p:txBody>
      </p:sp>
      <p:pic>
        <p:nvPicPr>
          <p:cNvPr id="4" name="Image 0" descr="C:\Users\seanjerve\OneDrive\Desktop\hivelet\docs\FINAL MANUSCRIPT\figures\figure-2-2-conceptual-fram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856" y="1097280"/>
            <a:ext cx="760780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Method: Agile, in three iterations</a:t>
            </a:r>
            <a:endParaRPr lang="en-US" sz="2800" dirty="0"/>
          </a:p>
        </p:txBody>
      </p:sp>
      <p:pic>
        <p:nvPicPr>
          <p:cNvPr id="4" name="Image 0" descr="C:\Users\seanjerve\OneDrive\Desktop\hivelet\docs\FINAL MANUSCRIPT\figures\appendix-c-gantt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95754"/>
            <a:ext cx="6949440" cy="400929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589520" y="1325880"/>
            <a:ext cx="4206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Construction, 24 July to 28 August</a:t>
            </a:r>
            <a:endParaRPr lang="en-US" sz="17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Verification, 12 to 14 September: 22 recorded errors corrected</a:t>
            </a:r>
            <a:endParaRPr lang="en-US" sz="17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Consolidation and testing, 15 September to the defense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7589520" y="457200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iteration ran every phase: requirements, design, development, testing, deployment and review.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2800" dirty="0"/>
          </a:p>
        </p:txBody>
      </p:sp>
      <p:pic>
        <p:nvPicPr>
          <p:cNvPr id="4" name="Image 0" descr="C:\Users\seanjerve\OneDrive\Desktop\hivelet\docs\FINAL MANUSCRIPT\figures\figure-5-system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97864"/>
            <a:ext cx="6583680" cy="48280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315200" y="1325880"/>
            <a:ext cx="43891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3 and TypeScript, a Progressive Web App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API in TypeScript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on Supabase, row-level security on every table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Adyen with GCash for the optional online payment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on Vercel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features, one system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 and rooms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Move-in, move-out, occupants, deposit; every rate change recorded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2801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48056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and inquiries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480560" y="19202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catalogue; an inquiry about a unit, answered in a thread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2801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tracking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0" y="19202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owner's own ledger layout, invoice numbers and Excel workbooks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657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794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GCash payment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31520" y="429768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Adyen; counts only after the owner verifies it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297680" y="3657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80560" y="3794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Repairs and notifications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480560" y="429768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request with photos, followed to completion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046720" y="3657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0" y="3794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and the PWA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229600" y="429768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person sees only their part; installs from the browser, reads offline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visitor and a tenant see</a:t>
            </a:r>
            <a:endParaRPr lang="en-US" sz="2800" dirty="0"/>
          </a:p>
        </p:txBody>
      </p:sp>
      <p:pic>
        <p:nvPicPr>
          <p:cNvPr id="4" name="Image 0" descr="C:\Users\seanjerve\OneDrive\Desktop\hivelet\docs\FINAL MANUSCRIPT\figures\figure-11a-public-unit-catalo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08007"/>
            <a:ext cx="7132320" cy="4699186"/>
          </a:xfrm>
          <a:prstGeom prst="rect">
            <a:avLst/>
          </a:prstGeom>
        </p:spPr>
      </p:pic>
      <p:pic>
        <p:nvPicPr>
          <p:cNvPr id="5" name="Image 1" descr="C:\Users\seanjerve\OneDrive\Desktop\hivelet\docs\FINAL MANUSCRIPT\figures\figure-14-tenant-portal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7364" y="1097280"/>
            <a:ext cx="3593432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owner sees</a:t>
            </a:r>
            <a:endParaRPr lang="en-US" sz="2800" dirty="0"/>
          </a:p>
        </p:txBody>
      </p:sp>
      <p:pic>
        <p:nvPicPr>
          <p:cNvPr id="4" name="Image 0" descr="C:\Users\seanjerve\OneDrive\Desktop\hivelet\docs\FINAL MANUSCRIPT\figures\figure-12-monthly-inc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0098"/>
            <a:ext cx="5577840" cy="3675004"/>
          </a:xfrm>
          <a:prstGeom prst="rect">
            <a:avLst/>
          </a:prstGeom>
        </p:spPr>
      </p:pic>
      <p:pic>
        <p:nvPicPr>
          <p:cNvPr id="5" name="Image 1" descr="C:\Users\seanjerve\OneDrive\Desktop\hivelet\docs\FINAL MANUSCRIPT\figures\figure-13-repairs-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0098"/>
            <a:ext cx="5577840" cy="36750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1325880"/>
            <a:ext cx="1109441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 stored only as bcrypt hashes, each with its own salt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wrong passwords lock the account for 15 minutes; breached passwords are refused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permission matrix; a tenant sees only their own records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on all 24 database tables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owner action in an audit trail the application cannot erase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gateway message checked by its HMAC signature before anything is written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testing: 82 of 83 tests passed (98.8%)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1645920"/>
                <a:gridCol w="2011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Activity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03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 and integration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check suites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Owner's functional walkthrough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Acceptance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tasks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Acceptance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Simultaneous use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levels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 (98.8%)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critical defect. 35 defects found across all activities: 32 resolved, 3 accepted as low risk.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Fast, and safe when the connection is not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73152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3.05 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slowest screen on a phone (the tenant portal's first load)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56616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of 1,085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56616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requests failed with 12 simulated users at once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of 10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0080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addresses opened with no connection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23544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saved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923544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same receipt was sent five times at once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1109441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page stops waiting after 25 seconds and says so; a save after 45 seconds says it cannot tell whether it arrived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figure that cannot load is shown as unavailable, never as ₱0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change on one device appears on another within about 2 seconds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and three tenants used it themselves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73152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of 34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tasks completed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56616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56616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them without help (91%)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0080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time per task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23544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of 25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923544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owner's walkthrough steps passed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tenants needed help: the first sign-in and finding their unit and rent. Chapter 5 recommends showing each new tenant those first.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ISO/IEC 25010 evaluation: 4.53, Very High Quality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110642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and rated evidence agree on seven of eight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1325880"/>
            <a:ext cx="1109441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of the 31 sub-characteristics measured by tests; 25 rated by the survey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Usability (4.12): every task done, but learning without help rated lower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Maintainability (4.00): checks pass on every change, but three database calls in four sit inside the request handlers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14 comments of the technical evaluator were all acted on by 5 October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 optimizations in all, each traced to the finding that caused it (Appendix M)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Conclusions: all four objectives achieved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4630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Analyze the practices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31520" y="1965960"/>
            <a:ext cx="50749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gap in the owner's practices traced to a requirement and a module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172200" y="13258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5080" y="14630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Develop the system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355080" y="1965960"/>
            <a:ext cx="50749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six features built and in use on her real records, in her own layout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48640" y="374904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886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Pilot test it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31520" y="4389120"/>
            <a:ext cx="50749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 of 83 tests passed (98.8%), with no critical defect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172200" y="374904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3886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Evaluate and optimize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355080" y="4389120"/>
            <a:ext cx="50749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 Quality overall (4.53) on ISO/IEC 25010; 51 optimizations made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3566160" cy="4663440"/>
          </a:xfrm>
          <a:prstGeom prst="roundRect">
            <a:avLst>
              <a:gd name="adj" fmla="val 307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731520" y="1965960"/>
            <a:ext cx="32004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system's receipts up to date with her receipt book.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a backup before any change to the records.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297680" y="1325880"/>
            <a:ext cx="3566160" cy="4663440"/>
          </a:xfrm>
          <a:prstGeom prst="roundRect">
            <a:avLst>
              <a:gd name="adj" fmla="val 307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48056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480560" y="1965960"/>
            <a:ext cx="32004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Adyen from test to live, with refunds.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protected sign-in cookie and a second sign-in factor.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browser tests for the 26 walkthrough steps, and faster first loads on phones.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Maintainability (service modules) and Usability (first-use guidance).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046720" y="1325880"/>
            <a:ext cx="3566160" cy="4663440"/>
          </a:xfrm>
          <a:prstGeom prst="roundRect">
            <a:avLst>
              <a:gd name="adj" fmla="val 307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researchers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8229600" y="1965960"/>
            <a:ext cx="32004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a system against its own real data, not only against test records.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over a longer period, with every tenant.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6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2F0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Questions, and a live demonstration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hivelet.vercel.app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Hivelet: capstone defense</dc:title>
  <dc:subject>PptxGenJS Presentation</dc:subject>
  <dc:creator>PptxGenJS</dc:creator>
  <cp:lastModifiedBy>PptxGenJS</cp:lastModifiedBy>
  <cp:revision>1</cp:revision>
  <dcterms:created xsi:type="dcterms:W3CDTF">2026-10-13T08:29:32Z</dcterms:created>
  <dcterms:modified xsi:type="dcterms:W3CDTF">2026-10-13T08:29:32Z</dcterms:modified>
</cp:coreProperties>
</file>