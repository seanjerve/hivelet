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mean</c:v>
                </c:pt>
              </c:strCache>
            </c:strRef>
          </c:tx>
          <c:spPr>
            <a:solidFill>
              <a:srgbClr val="1760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Portability</c:v>
                  </c:pt>
                  <c:pt idx="1">
                    <c:v>Functional Suitability</c:v>
                  </c:pt>
                  <c:pt idx="2">
                    <c:v>Security</c:v>
                  </c:pt>
                  <c:pt idx="3">
                    <c:v>Reliability</c:v>
                  </c:pt>
                  <c:pt idx="4">
                    <c:v>Compatibility</c:v>
                  </c:pt>
                  <c:pt idx="5">
                    <c:v>Performance Efficiency</c:v>
                  </c:pt>
                  <c:pt idx="6">
                    <c:v>Usability</c:v>
                  </c:pt>
                  <c:pt idx="7">
                    <c:v>Maintainability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4.86</c:v>
                </c:pt>
                <c:pt idx="1">
                  <c:v>4.79</c:v>
                </c:pt>
                <c:pt idx="2">
                  <c:v>4.68</c:v>
                </c:pt>
                <c:pt idx="3">
                  <c:v>4.61</c:v>
                </c:pt>
                <c:pt idx="4">
                  <c:v>4.55</c:v>
                </c:pt>
                <c:pt idx="5">
                  <c:v>4.48</c:v>
                </c:pt>
                <c:pt idx="6">
                  <c:v>4.42</c:v>
                </c:pt>
                <c:pt idx="7">
                  <c:v>4.32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12700" cap="flat">
              <a:solidFill>
                <a:srgbClr val="E2E8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client: a 33-unit boarding house in Legazpi City, 32 of them occupied, run by its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columns of the figure left to right. The point: every path ends in a record kept apart from the others, or in no record at all (Chapter 4, Section 4.1.1).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from transferring her real workbook into the system (Section 4.1.1). The records were kept exactly as she wrote them; the system reports the anomalies rather than correcting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general objective, then the four specific ones. The conclusions near the end answer each one in the same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study solves one part. Canlas et al. (2026) is the closest in method and respondents; Puspasari et al. (2025) is the clearest example of the gap: only the manager can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Input, process, output, with feedback into the next iteration (Chapter 2, Section 2.3).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 2 is the honest part of the story: it checked the system and its documents against each other and corrected 22 recorded errors, many written in Iteration 1 with the AI assistant and never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 is the security boundary: the browser never talks to the database directly. Row-level security is on all 24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the second objective names (Chapter 4, Sections 4.2.2 to 4.2.7).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public unit catalogue (Figure 4-8). Right: the tenant portal on a phone (Figure 4-11). Sample records; the units and rates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monthly income ledger in her workbook's layout (Figure 4-9). Right: the repair board (Figure 4-10). Sample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weaknesses are named in the paper and recommended for later: the sign-in token is kept in the browser's storage, and the administrator has no second sign-in factor (Section 4.4.4).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on the ISO/IEC/IEEE 29119 levels (Table 4-12). The one failure, a ₱0 shown with the connection cut, passed when re-tested on the owner's laptop on 13 October. The course standard is 90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times are from 30 September on real devices (Table 4-10). The load test used simulated users, not people. Saves arriving at the same instant are refused by the database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on their own devices with a fixed help ladder; testers thought aloud (Chapter 3, Section 3.3; Chapter 4, Section 4.3.7).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means (Table 4-17), mean of the group means. Ten respondents: the owner, three tenants, a prospective tenant and five technical evaluators. Every characteristic Very High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Usability agrees once the later technical evaluators had rated it. The owner's two 3s still mark where a first-time user needs help (Section 4.4.5).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per objective, in order (Chapter 5, Section 5.2).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by who acts on them (Chapter 5, Section 5.3).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demo: FINAL/DEMO_SCRIPT.md. Test tenant on unit PH only; reject the GCash payment, never verify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0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Hivelet · Fe Galang Da Silva Boarding House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6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Hivelet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Apartment Management System for Fe Galang Da Silva Boarding House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F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124 Capstone Project 2 · Group 4, BS Information Technology · Bicol University College of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F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members]   ·   Adviser: [name]   ·   [Defense 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Hivelet: four areas, four separate records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325880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and expenses typed into a workbook on a USB flash drive, the only copy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written in a paper book; rent collected in cash on site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requests by message or in person, never recorded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Inquiries through Facebook, referrals, texts and walk-ins, with no record of which unit</a:t>
            </a:r>
            <a:endParaRPr lang="en-US" sz="1700" dirty="0"/>
          </a:p>
        </p:txBody>
      </p:sp>
      <p:pic>
        <p:nvPicPr>
          <p:cNvPr id="5" name="Image 0" descr="C:\Users\seanjerve\OneDrive\Desktop\hivelet\docs\FINAL MANUSCRIPT\figures\figure-4-current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71016"/>
            <a:ext cx="5760720" cy="4864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owner's own records showed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937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rows transferred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6616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5661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allocations transferred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402 of the 937 rows had no anniversary date and no deposit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54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23544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numbers each used for two payments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was not the lack of a digital tool. It was that nothing connected one record to another.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study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design, develop and evaluate Hivelet, a web-based apartment management system that integrates the boarding house's administrative workflow, communication and operational control.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the existing practices and set the system requirements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tenant and room management, booking, financial tracking with optional online payment, maintenance ticketing and notifications, role-based access control, and PWA support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 the system for functionality, responsiveness and operational performance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optimize it with the ISO/IEC 25010 software quality model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related studies did, and what was missing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Magno et al., 2024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 rental records and tasks (Negros)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12801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Pernate et al., 2025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8056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booking boarding house rooms (Ormoc City), ISO/IEC 25010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12801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Mangca, 2023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Boarding house booking with SMS notifications (Surigao City)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Puspasari et al., 2025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4114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notifications, but only the manager uses it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97680" y="34747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Canlas et al., 2026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80560" y="41148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Dormitory maintenance reporting, Agile, ISO/IEC 25010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46720" y="34747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7603F"/>
          </a:solidFill>
          <a:ln w="12700">
            <a:solidFill>
              <a:srgbClr val="1760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36118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one system that integrates records, money, requests and inquiries for a small, cash-based boarding house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framework</a:t>
            </a:r>
            <a:endParaRPr lang="en-US" sz="2800" dirty="0"/>
          </a:p>
        </p:txBody>
      </p:sp>
      <p:pic>
        <p:nvPicPr>
          <p:cNvPr id="4" name="Image 0" descr="C:\Users\seanjerve\OneDrive\Desktop\hivelet\docs\FINAL MANUSCRIPT\figures\figure-2-2-conceptual-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1097280"/>
            <a:ext cx="7607808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Agile, in three iterations</a:t>
            </a:r>
            <a:endParaRPr lang="en-US" sz="2800" dirty="0"/>
          </a:p>
        </p:txBody>
      </p:sp>
      <p:pic>
        <p:nvPicPr>
          <p:cNvPr id="4" name="Image 0" descr="C:\Users\seanjerve\OneDrive\Desktop\hivelet\docs\FINAL MANUSCRIPT\figures\appendix-c-gantt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5754"/>
            <a:ext cx="6949440" cy="40092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9520" y="132588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24 July to 28 August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Verification, 12 to 14 September: 22 recorded errors corrected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and testing, 15 September to the defense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589520" y="4572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iteration ran every phase: requirements, design, development, testing, deployment and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2800" dirty="0"/>
          </a:p>
        </p:txBody>
      </p:sp>
      <p:pic>
        <p:nvPicPr>
          <p:cNvPr id="4" name="Image 0" descr="C:\Users\seanjerve\OneDrive\Desktop\hivelet\docs\FINAL MANUSCRIPT\figures\figure-5-syste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7864"/>
            <a:ext cx="6583680" cy="48280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0" y="132588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and TypeScript, a Progressive Web App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 in TypeScript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on Supabase, row-level security on every table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Adyen with GCash for the optional online payment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on Vercel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features, one system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 and rooms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Move-in, move-out, occupants, deposit; every rate change recorded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and inquiries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80560" y="1920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catalogue; an inquiry about a unit, answered in a thread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tracking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owner's own ledger layout, invoice numbers and Excel workbooks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GCash payment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4297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Adyen; counts only after the owner verifies it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and notifications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80560" y="4297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with photos, followed to completion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4672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the PWA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0" y="4297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sees only their part; installs from the browser, reads offline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visitor and a tenant see</a:t>
            </a:r>
            <a:endParaRPr lang="en-US" sz="2800" dirty="0"/>
          </a:p>
        </p:txBody>
      </p:sp>
      <p:pic>
        <p:nvPicPr>
          <p:cNvPr id="4" name="Image 0" descr="C:\Users\seanjerve\OneDrive\Desktop\hivelet\docs\FINAL MANUSCRIPT\figures\figure-11a-public-unit-catalo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8007"/>
            <a:ext cx="7132320" cy="4699186"/>
          </a:xfrm>
          <a:prstGeom prst="rect">
            <a:avLst/>
          </a:prstGeom>
        </p:spPr>
      </p:pic>
      <p:pic>
        <p:nvPicPr>
          <p:cNvPr id="5" name="Image 1" descr="C:\Users\seanjerve\OneDrive\Desktop\hivelet\docs\FINAL MANUSCRIPT\figures\figure-14-tenant-portal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364" y="1097280"/>
            <a:ext cx="3593432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owner sees</a:t>
            </a:r>
            <a:endParaRPr lang="en-US" sz="2800" dirty="0"/>
          </a:p>
        </p:txBody>
      </p:sp>
      <p:pic>
        <p:nvPicPr>
          <p:cNvPr id="4" name="Image 0" descr="C:\Users\seanjerve\OneDrive\Desktop\hivelet\docs\FINAL MANUSCRIPT\figures\figure-12-monthly-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0098"/>
            <a:ext cx="5577840" cy="3675004"/>
          </a:xfrm>
          <a:prstGeom prst="rect">
            <a:avLst/>
          </a:prstGeom>
        </p:spPr>
      </p:pic>
      <p:pic>
        <p:nvPicPr>
          <p:cNvPr id="5" name="Image 1" descr="C:\Users\seanjerve\OneDrive\Desktop\hivelet\docs\FINAL MANUSCRIPT\figures\figure-13-repairs-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0098"/>
            <a:ext cx="5577840" cy="36750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stored only as bcrypt hashes, each with its own salt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wrong passwords lock the account for 15 minutes; breached passwords are refused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permission matrix; a tenant sees only their own records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on all 24 database tables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owner action in an audit trail the application cannot erase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gateway message checked by its HMAC signature before anything is written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testing: 82 of 83 tests passed (98.8%)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164592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and integration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check suites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Owner's functional walkthrough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tasks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Simultaneous use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levels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7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 (98.8%)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critical defect. 35 defects found across all activities: 32 resolved, 3 accepted as low risk.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and safe when the connection is not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3.05 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slowest screen on a phone (the tenant portal's first load)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6616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1,085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56616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failed with 12 simulated users at once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10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opened with no connection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54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saved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2354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same receipt was sent five times at once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page stops waiting after 25 seconds and says so; a save after 45 seconds says it cannot tell whether it arrived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figure that cannot load is shown as unavailable, never as ₱0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on one device appears on another within about 2 seconds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and three tenants used it themselves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of 34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tasks completed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56616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56616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them without help (91%)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per task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54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of 25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2354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steps the owner performed passed the first time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tenants needed help: the first sign-in and finding their unit and rent. Chapter 5 recommends showing each new tenant those first.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 evaluation: 4.59, Very High Quality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and rated evidence agree on all eight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of the 31 sub-characteristics measured by tests; 25 rated by the survey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(4.42): nine tasks in ten done without help; the owner rated learning without help lower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(4.32): checks pass on every change, but three database calls in four sit inside the request handlers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14 comments of 3 October were all acted on by 5 October</a:t>
            </a:r>
            <a:endParaRPr lang="en-US" sz="21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optimizations in all, each traced to the finding that caused it (Appendix M)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Conclusions: all four objectives achieved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Analyze the practices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gap in the owner's practices traced to a requirement and a module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4630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Develop the 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55080" y="196596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features built and in use on her real records, in her own layout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886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Pilot test 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438912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of 83 tests passed (98.8%), with no critical defect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172200" y="3749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886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 and optimize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55080" y="438912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Quality overall (4.59) on ISO/IEC 25010; 51 optimizations made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system's receipts up to date with her receipt book.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backup before any change to the records.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32588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80560" y="196596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Adyen from test to live, with refunds.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protected sign-in cookie and a second sign-in factor.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browser tests for the 26 walkthrough steps, and faster first loads on phones.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Maintainability (service modules) and Usability (first-use guidance).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0" y="132588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2F0E7"/>
          </a:solidFill>
          <a:ln w="12700">
            <a:solidFill>
              <a:srgbClr val="E2F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0" y="196596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system against its own real data, not only against test records.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01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over a longer period, with every tenant.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96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6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F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and a live demonstration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hivelet.vercel.app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Hivelet: capstone defense</dc:title>
  <dc:subject>PptxGenJS Presentation</dc:subject>
  <dc:creator>PptxGenJS</dc:creator>
  <cp:lastModifiedBy>PptxGenJS</cp:lastModifiedBy>
  <cp:revision>1</cp:revision>
  <dcterms:created xsi:type="dcterms:W3CDTF">2026-10-20T06:06:55Z</dcterms:created>
  <dcterms:modified xsi:type="dcterms:W3CDTF">2026-10-20T06:06:55Z</dcterms:modified>
</cp:coreProperties>
</file>